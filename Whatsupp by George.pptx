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71" r:id="rId3"/>
    <p:sldId id="257" r:id="rId4"/>
    <p:sldId id="273" r:id="rId5"/>
    <p:sldId id="275" r:id="rId6"/>
    <p:sldId id="4217" r:id="rId7"/>
    <p:sldId id="258" r:id="rId8"/>
    <p:sldId id="260" r:id="rId9"/>
    <p:sldId id="259" r:id="rId10"/>
    <p:sldId id="261" r:id="rId11"/>
    <p:sldId id="278" r:id="rId12"/>
    <p:sldId id="4216" r:id="rId13"/>
    <p:sldId id="269" r:id="rId14"/>
    <p:sldId id="4218" r:id="rId15"/>
    <p:sldId id="276" r:id="rId16"/>
    <p:sldId id="277" r:id="rId17"/>
    <p:sldId id="4214" r:id="rId18"/>
    <p:sldId id="4215" r:id="rId19"/>
    <p:sldId id="262" r:id="rId20"/>
    <p:sldId id="263" r:id="rId21"/>
    <p:sldId id="264" r:id="rId22"/>
    <p:sldId id="265" r:id="rId23"/>
    <p:sldId id="266" r:id="rId24"/>
    <p:sldId id="267" r:id="rId25"/>
    <p:sldId id="268" r:id="rId26"/>
    <p:sldId id="270"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5B74AB-D396-4D6C-BE49-D10F351CB1A7}" v="4" dt="2026-06-01T22:31:44.1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7"/>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8971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988E3-6D15-2F53-FC89-DBF040383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85988-6EF4-4C40-A230-53B6329EA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76ED8-12FE-16D2-6927-1FCA118CB7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A25DAF-42FC-FD5E-6D6C-B9B8E5167A6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9334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CBFE2-8AFA-9739-6F72-AFE727494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CAA29-DB43-8E6C-AA2F-7E1F78B30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371DD-0D97-5E19-4269-7B063BF82D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C51556-1719-C623-54BD-6B9D74196E6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1283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B937-9FD7-6A18-C4DC-6C5DB1523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F2A5D-AB33-0627-BB33-B5292455C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EE512-7DE5-7B55-2107-4DE251FDCA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07ED8B-4997-74D7-F837-8AB8CC628FD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5692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F9E24-C260-3F64-2938-0AA554572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F035A-27AD-95EA-8160-4739BF19F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9F037-AD13-7306-D42A-1DA4008DB3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590401-CADF-AA67-8E8C-1933F2943F7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4061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F6E7D-21B0-1BAF-6839-2AA8B0160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E852E-38EA-D3EC-4C02-B988C8F71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C3D31-6AAF-23B5-81EB-D7DB82EDA3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CB7E4E-84C3-CBE4-5051-A5E869FCCEC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3870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39D31-77DC-F779-B5C5-2F5B348DF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A79DE-C95E-CBB0-2CF2-FFE857447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CE5F1-5E35-6518-3FD4-E19822011A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EB6402-A62B-A00A-9C9C-F635E25BBB6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1749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66307-39CE-1DD1-952A-B18E3F274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5327A-E8F3-DC16-D76C-CD8146A41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CDC781-D8A5-4A9A-B7FB-618A22D808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7A2882-E27A-7553-C14F-B0BCBA829B6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0770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5943600" y="-1371600"/>
            <a:ext cx="5486400" cy="3657600"/>
          </a:xfrm>
          <a:prstGeom prst="ellipse">
            <a:avLst/>
          </a:prstGeom>
          <a:solidFill>
            <a:srgbClr val="B6F569">
              <a:alpha val="12000"/>
            </a:srgbClr>
          </a:solidFill>
          <a:ln w="12700">
            <a:solidFill>
              <a:srgbClr val="B6F569"/>
            </a:solidFill>
            <a:prstDash val="solid"/>
          </a:ln>
        </p:spPr>
        <p:txBody>
          <a:bodyPr/>
          <a:lstStyle/>
          <a:p>
            <a:endParaRPr lang="en-US"/>
          </a:p>
        </p:txBody>
      </p:sp>
      <p:sp>
        <p:nvSpPr>
          <p:cNvPr id="3" name="Shape 1"/>
          <p:cNvSpPr/>
          <p:nvPr/>
        </p:nvSpPr>
        <p:spPr>
          <a:xfrm>
            <a:off x="-1828800" y="3200400"/>
            <a:ext cx="4572000" cy="3657600"/>
          </a:xfrm>
          <a:prstGeom prst="ellipse">
            <a:avLst/>
          </a:prstGeom>
          <a:solidFill>
            <a:srgbClr val="67E8F9">
              <a:alpha val="8000"/>
            </a:srgbClr>
          </a:solidFill>
          <a:ln w="12700">
            <a:solidFill>
              <a:srgbClr val="67E8F9"/>
            </a:solidFill>
            <a:prstDash val="solid"/>
          </a:ln>
        </p:spPr>
        <p:txBody>
          <a:bodyPr/>
          <a:lstStyle/>
          <a:p>
            <a:endParaRPr lang="en-US"/>
          </a:p>
        </p:txBody>
      </p:sp>
      <p:sp>
        <p:nvSpPr>
          <p:cNvPr id="6" name="Text 4"/>
          <p:cNvSpPr/>
          <p:nvPr/>
        </p:nvSpPr>
        <p:spPr>
          <a:xfrm>
            <a:off x="777240" y="356616"/>
            <a:ext cx="4572000" cy="310896"/>
          </a:xfrm>
          <a:prstGeom prst="rect">
            <a:avLst/>
          </a:prstGeom>
          <a:noFill/>
          <a:ln/>
        </p:spPr>
        <p:txBody>
          <a:bodyPr wrap="square" lIns="0" tIns="0" rIns="0" bIns="0" rtlCol="0" anchor="ctr"/>
          <a:lstStyle/>
          <a:p>
            <a:pPr marL="0" indent="0">
              <a:buNone/>
            </a:pPr>
            <a:r>
              <a:rPr lang="en-US" sz="1300" b="1" kern="0" spc="800" dirty="0">
                <a:solidFill>
                  <a:srgbClr val="F4F7FB"/>
                </a:solidFill>
                <a:latin typeface="Helvetica Neue" pitchFamily="34" charset="0"/>
                <a:ea typeface="Helvetica Neue" pitchFamily="34" charset="-122"/>
                <a:cs typeface="Helvetica Neue" pitchFamily="34" charset="-120"/>
              </a:rPr>
              <a:t>WHATSUPP?</a:t>
            </a:r>
            <a:endParaRPr lang="en-US" sz="1300" dirty="0"/>
          </a:p>
        </p:txBody>
      </p:sp>
      <p:sp>
        <p:nvSpPr>
          <p:cNvPr id="7" name="Shape 5"/>
          <p:cNvSpPr/>
          <p:nvPr/>
        </p:nvSpPr>
        <p:spPr>
          <a:xfrm>
            <a:off x="411480" y="1508760"/>
            <a:ext cx="3959352" cy="274320"/>
          </a:xfrm>
          <a:prstGeom prst="rect">
            <a:avLst/>
          </a:prstGeom>
          <a:solidFill>
            <a:srgbClr val="2A3441"/>
          </a:solidFill>
          <a:ln w="12700">
            <a:solidFill>
              <a:srgbClr val="2A3441"/>
            </a:solidFill>
            <a:prstDash val="solid"/>
          </a:ln>
        </p:spPr>
        <p:txBody>
          <a:bodyPr/>
          <a:lstStyle/>
          <a:p>
            <a:endParaRPr lang="en-US"/>
          </a:p>
        </p:txBody>
      </p:sp>
      <p:sp>
        <p:nvSpPr>
          <p:cNvPr id="8" name="Text 6"/>
          <p:cNvSpPr/>
          <p:nvPr/>
        </p:nvSpPr>
        <p:spPr>
          <a:xfrm>
            <a:off x="411479" y="1300000"/>
            <a:ext cx="5202667"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INVESTOR PREVIEW · CONFIDENTIAL</a:t>
            </a:r>
            <a:endParaRPr lang="en-US" sz="900" dirty="0"/>
          </a:p>
        </p:txBody>
      </p:sp>
      <p:sp>
        <p:nvSpPr>
          <p:cNvPr id="9" name="Text 7"/>
          <p:cNvSpPr/>
          <p:nvPr/>
        </p:nvSpPr>
        <p:spPr>
          <a:xfrm>
            <a:off x="411480" y="1600000"/>
            <a:ext cx="8229600" cy="1900000"/>
          </a:xfrm>
          <a:prstGeom prst="rect">
            <a:avLst/>
          </a:prstGeom>
          <a:noFill/>
          <a:ln/>
        </p:spPr>
        <p:txBody>
          <a:bodyPr wrap="square" lIns="0" tIns="0" rIns="0" bIns="0" rtlCol="0" anchor="ctr"/>
          <a:lstStyle/>
          <a:p>
            <a:pPr marL="0" indent="0">
              <a:buNone/>
            </a:pPr>
            <a:r>
              <a:rPr lang="en-US" sz="3600" b="1" dirty="0">
                <a:solidFill>
                  <a:srgbClr val="F4F7FB"/>
                </a:solidFill>
                <a:latin typeface="Helvetica Neue" pitchFamily="34" charset="0"/>
                <a:ea typeface="Helvetica Neue" pitchFamily="34" charset="-122"/>
                <a:cs typeface="Helvetica Neue" pitchFamily="34" charset="-120"/>
              </a:rPr>
              <a:t>Intel on sports supplements?</a:t>
            </a:r>
          </a:p>
          <a:p>
            <a:pPr marL="0" indent="0">
              <a:buNone/>
            </a:pPr>
            <a:r>
              <a:rPr lang="en-US" sz="3600" b="1" dirty="0">
                <a:solidFill>
                  <a:srgbClr val="F4F7FB"/>
                </a:solidFill>
                <a:latin typeface="Helvetica Neue" pitchFamily="34" charset="0"/>
                <a:ea typeface="Helvetica Neue" pitchFamily="34" charset="-122"/>
                <a:cs typeface="Helvetica Neue" pitchFamily="34" charset="-120"/>
              </a:rPr>
              <a:t>You deserve better.</a:t>
            </a:r>
            <a:endParaRPr lang="en-US" sz="5000" dirty="0"/>
          </a:p>
        </p:txBody>
      </p:sp>
      <p:sp>
        <p:nvSpPr>
          <p:cNvPr id="10" name="Text 8"/>
          <p:cNvSpPr/>
          <p:nvPr/>
        </p:nvSpPr>
        <p:spPr>
          <a:xfrm>
            <a:off x="411480" y="3520440"/>
            <a:ext cx="6949440" cy="777240"/>
          </a:xfrm>
          <a:prstGeom prst="rect">
            <a:avLst/>
          </a:prstGeom>
          <a:noFill/>
          <a:ln/>
        </p:spPr>
        <p:txBody>
          <a:bodyPr wrap="square" lIns="0" tIns="0" rIns="0" bIns="0" rtlCol="0" anchor="ctr"/>
          <a:lstStyle/>
          <a:p>
            <a:pPr marL="0" indent="0">
              <a:buNone/>
            </a:pPr>
            <a:r>
              <a:rPr lang="en-US" sz="1500" dirty="0">
                <a:solidFill>
                  <a:srgbClr val="C8D1DD"/>
                </a:solidFill>
                <a:latin typeface="Calibri" pitchFamily="34" charset="0"/>
                <a:ea typeface="Calibri" pitchFamily="34" charset="-122"/>
                <a:cs typeface="Calibri" pitchFamily="34" charset="-120"/>
              </a:rPr>
              <a:t>George doesn’t just answer supplement questions — he solves them. Powered by the scientists who write the research, George gives every athlete personalised, expert-level guidance that no LLM can match. Sign up today.</a:t>
            </a:r>
            <a:endParaRPr lang="en-US" sz="1500" dirty="0"/>
          </a:p>
        </p:txBody>
      </p:sp>
      <p:sp>
        <p:nvSpPr>
          <p:cNvPr id="11" name="Shape 9"/>
          <p:cNvSpPr/>
          <p:nvPr/>
        </p:nvSpPr>
        <p:spPr>
          <a:xfrm>
            <a:off x="411480" y="4480560"/>
            <a:ext cx="5120640" cy="36576"/>
          </a:xfrm>
          <a:prstGeom prst="rect">
            <a:avLst/>
          </a:prstGeom>
          <a:solidFill>
            <a:srgbClr val="B6F569"/>
          </a:solidFill>
          <a:ln w="12700">
            <a:solidFill>
              <a:srgbClr val="B6F569"/>
            </a:solidFill>
            <a:prstDash val="solid"/>
          </a:ln>
        </p:spPr>
        <p:txBody>
          <a:bodyPr/>
          <a:lstStyle/>
          <a:p>
            <a:endParaRPr lang="en-US"/>
          </a:p>
        </p:txBody>
      </p:sp>
      <p:sp>
        <p:nvSpPr>
          <p:cNvPr id="12" name="Text 10"/>
          <p:cNvSpPr/>
          <p:nvPr/>
        </p:nvSpPr>
        <p:spPr>
          <a:xfrm>
            <a:off x="411480" y="4572000"/>
            <a:ext cx="8686800" cy="274320"/>
          </a:xfrm>
          <a:prstGeom prst="rect">
            <a:avLst/>
          </a:prstGeom>
          <a:noFill/>
          <a:ln/>
        </p:spPr>
        <p:txBody>
          <a:bodyPr wrap="square" lIns="0" tIns="0" rIns="0" bIns="0" rtlCol="0" anchor="ctr"/>
          <a:lstStyle/>
          <a:p>
            <a:pPr marL="0" indent="0">
              <a:buNone/>
            </a:pPr>
            <a:r>
              <a:rPr lang="en-US" sz="900" b="1" kern="0" spc="600" dirty="0">
                <a:solidFill>
                  <a:srgbClr val="5C6675"/>
                </a:solidFill>
                <a:latin typeface="Helvetica Neue" pitchFamily="34" charset="0"/>
                <a:ea typeface="Helvetica Neue" pitchFamily="34" charset="-122"/>
              </a:rPr>
              <a:t>WHATSUPP BY GEORGE</a:t>
            </a:r>
            <a:endParaRPr lang="en-US" sz="900" dirty="0"/>
          </a:p>
        </p:txBody>
      </p:sp>
      <p:pic>
        <p:nvPicPr>
          <p:cNvPr id="13" name="Google Shape;195;g1ed472a56f4_0_178">
            <a:extLst>
              <a:ext uri="{FF2B5EF4-FFF2-40B4-BE49-F238E27FC236}">
                <a16:creationId xmlns:a16="http://schemas.microsoft.com/office/drawing/2014/main" id="{4A933F5A-7EF9-E08E-783A-F264593FB253}"/>
              </a:ext>
            </a:extLst>
          </p:cNvPr>
          <p:cNvPicPr preferRelativeResize="0"/>
          <p:nvPr/>
        </p:nvPicPr>
        <p:blipFill>
          <a:blip r:embed="rId3">
            <a:alphaModFix/>
          </a:blip>
          <a:stretch>
            <a:fillRect/>
          </a:stretch>
        </p:blipFill>
        <p:spPr>
          <a:xfrm>
            <a:off x="-17107" y="-7454"/>
            <a:ext cx="794347" cy="2808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a:extLst>
            <a:ext uri="{FF2B5EF4-FFF2-40B4-BE49-F238E27FC236}">
              <a16:creationId xmlns:a16="http://schemas.microsoft.com/office/drawing/2014/main" id="{09A7BE71-7D57-AD42-E4FA-2696D4633B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9423BC-B52C-74FA-8CDD-959892E0419D}"/>
              </a:ext>
            </a:extLst>
          </p:cNvPr>
          <p:cNvSpPr/>
          <p:nvPr/>
        </p:nvSpPr>
        <p:spPr>
          <a:xfrm>
            <a:off x="411480" y="411480"/>
            <a:ext cx="1581912" cy="274320"/>
          </a:xfrm>
          <a:prstGeom prst="rect">
            <a:avLst/>
          </a:prstGeom>
          <a:solidFill>
            <a:srgbClr val="2A3441"/>
          </a:solidFill>
          <a:ln w="12700">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BFEC2B6-B966-E4DD-B0A0-1F26C87C94F5}"/>
              </a:ext>
            </a:extLst>
          </p:cNvPr>
          <p:cNvSpPr/>
          <p:nvPr/>
        </p:nvSpPr>
        <p:spPr>
          <a:xfrm>
            <a:off x="0" y="411480"/>
            <a:ext cx="8651132" cy="182880"/>
          </a:xfrm>
          <a:prstGeom prst="rect">
            <a:avLst/>
          </a:prstGeom>
          <a:noFill/>
          <a:ln/>
        </p:spPr>
        <p:txBody>
          <a:bodyPr wrap="square" lIns="0" tIns="0" rIns="0" bIns="0" rtlCol="0" anchor="ctr"/>
          <a:lstStyle/>
          <a:p>
            <a:pPr lvl="0" algn="ctr"/>
            <a:r>
              <a:rPr kumimoji="0" lang="en-US" sz="900" b="1" i="0" u="none" strike="noStrike" kern="0" cap="all" spc="600" normalizeH="0" baseline="0" noProof="0" dirty="0">
                <a:ln>
                  <a:noFill/>
                </a:ln>
                <a:solidFill>
                  <a:srgbClr val="B6F569"/>
                </a:solidFill>
                <a:effectLst/>
                <a:uLnTx/>
                <a:uFillTx/>
                <a:latin typeface="Helvetica Neue" pitchFamily="34" charset="0"/>
                <a:ea typeface="Helvetica Neue" pitchFamily="34" charset="-122"/>
                <a:cs typeface="Helvetica Neue" pitchFamily="34" charset="-120"/>
              </a:rPr>
              <a:t>THE 3AM </a:t>
            </a:r>
            <a:r>
              <a:rPr lang="en-US" sz="900" b="1" kern="0" cap="all" spc="600" dirty="0">
                <a:solidFill>
                  <a:srgbClr val="B6F569"/>
                </a:solidFill>
                <a:latin typeface="Helvetica Neue" pitchFamily="34" charset="0"/>
                <a:ea typeface="Helvetica Neue" pitchFamily="34" charset="-122"/>
                <a:cs typeface="Helvetica Neue" pitchFamily="34" charset="-120"/>
              </a:rPr>
              <a:t>CALL </a:t>
            </a:r>
            <a:r>
              <a:rPr lang="en-AU" sz="900" b="1" kern="0" cap="all" spc="600" dirty="0">
                <a:solidFill>
                  <a:srgbClr val="B6F569"/>
                </a:solidFill>
                <a:latin typeface="Helvetica Neue" pitchFamily="34" charset="0"/>
                <a:ea typeface="Helvetica Neue" pitchFamily="34" charset="-122"/>
                <a:sym typeface="Arial"/>
              </a:rPr>
              <a:t>from Budapest World Athletics Championships</a:t>
            </a:r>
            <a:r>
              <a:rPr lang="en-US" sz="900" b="1" kern="0" cap="all" spc="600" dirty="0">
                <a:solidFill>
                  <a:srgbClr val="B6F569"/>
                </a:solidFill>
                <a:latin typeface="Helvetica Neue" pitchFamily="34" charset="0"/>
                <a:ea typeface="Helvetica Neue" pitchFamily="34" charset="-122"/>
              </a:rPr>
              <a:t> </a:t>
            </a:r>
          </a:p>
        </p:txBody>
      </p:sp>
      <p:sp>
        <p:nvSpPr>
          <p:cNvPr id="4" name="Text 2">
            <a:extLst>
              <a:ext uri="{FF2B5EF4-FFF2-40B4-BE49-F238E27FC236}">
                <a16:creationId xmlns:a16="http://schemas.microsoft.com/office/drawing/2014/main" id="{C0AA536E-746F-85BD-3508-67C16D179C10}"/>
              </a:ext>
            </a:extLst>
          </p:cNvPr>
          <p:cNvSpPr/>
          <p:nvPr/>
        </p:nvSpPr>
        <p:spPr>
          <a:xfrm>
            <a:off x="411480" y="822960"/>
            <a:ext cx="6339516"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a:extLst>
              <a:ext uri="{FF2B5EF4-FFF2-40B4-BE49-F238E27FC236}">
                <a16:creationId xmlns:a16="http://schemas.microsoft.com/office/drawing/2014/main" id="{B6654622-129A-F70F-B6C3-680C2A2A9241}"/>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a:extLst>
              <a:ext uri="{FF2B5EF4-FFF2-40B4-BE49-F238E27FC236}">
                <a16:creationId xmlns:a16="http://schemas.microsoft.com/office/drawing/2014/main" id="{53B45432-CF83-0482-4A92-59E5857CB99A}"/>
              </a:ext>
            </a:extLst>
          </p:cNvPr>
          <p:cNvSpPr/>
          <p:nvPr/>
        </p:nvSpPr>
        <p:spPr>
          <a:xfrm>
            <a:off x="8503920" y="4846320"/>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02AD690F-36AA-E93B-B7DD-8D273E37034F}"/>
              </a:ext>
            </a:extLst>
          </p:cNvPr>
          <p:cNvSpPr txBox="1"/>
          <p:nvPr/>
        </p:nvSpPr>
        <p:spPr>
          <a:xfrm>
            <a:off x="1037617" y="1001684"/>
            <a:ext cx="6245157" cy="2585323"/>
          </a:xfrm>
          <a:prstGeom prst="rect">
            <a:avLst/>
          </a:prstGeom>
          <a:noFill/>
        </p:spPr>
        <p:txBody>
          <a:bodyPr wrap="square">
            <a:spAutoFit/>
          </a:bodyPr>
          <a:lstStyle/>
          <a:p>
            <a:pPr defTabSz="342900">
              <a:buClr>
                <a:srgbClr val="000000"/>
              </a:buClr>
              <a:defRPr/>
            </a:pPr>
            <a:r>
              <a:rPr lang="en-AU" kern="0" dirty="0">
                <a:solidFill>
                  <a:schemeClr val="bg1"/>
                </a:solidFill>
                <a:latin typeface="Helvetica Neue"/>
                <a:ea typeface="Calibri" panose="020F0502020204030204" pitchFamily="34" charset="0"/>
                <a:cs typeface="Calibri" panose="020F0502020204030204" pitchFamily="34" charset="0"/>
                <a:sym typeface="Arial"/>
              </a:rPr>
              <a:t>“I’m on the starting line of the 20 km road race.  An electrical storm just hit and they’ve postponed the event for 2 hours</a:t>
            </a:r>
          </a:p>
          <a:p>
            <a:pPr defTabSz="342900">
              <a:buClr>
                <a:srgbClr val="000000"/>
              </a:buClr>
              <a:defRPr/>
            </a:pPr>
            <a:endParaRPr lang="en-AU" kern="0" dirty="0">
              <a:solidFill>
                <a:schemeClr val="bg1"/>
              </a:solidFill>
              <a:latin typeface="Helvetica Neue"/>
              <a:ea typeface="Calibri" panose="020F0502020204030204" pitchFamily="34" charset="0"/>
              <a:cs typeface="Calibri" panose="020F0502020204030204" pitchFamily="34" charset="0"/>
              <a:sym typeface="Arial"/>
            </a:endParaRPr>
          </a:p>
          <a:p>
            <a:pPr defTabSz="342900">
              <a:buClr>
                <a:srgbClr val="000000"/>
              </a:buClr>
              <a:defRPr/>
            </a:pPr>
            <a:r>
              <a:rPr lang="en-AU" kern="0" dirty="0">
                <a:solidFill>
                  <a:schemeClr val="bg1"/>
                </a:solidFill>
                <a:latin typeface="Helvetica Neue"/>
                <a:ea typeface="Calibri" panose="020F0502020204030204" pitchFamily="34" charset="0"/>
                <a:cs typeface="Calibri" panose="020F0502020204030204" pitchFamily="34" charset="0"/>
                <a:sym typeface="Arial"/>
              </a:rPr>
              <a:t>I’ve already eaten my pre-race carbs, hyperhydrated with sodium, and taken my practised doses of caffeine and bicarbonate supplements.</a:t>
            </a:r>
          </a:p>
          <a:p>
            <a:pPr defTabSz="342900">
              <a:buClr>
                <a:srgbClr val="000000"/>
              </a:buClr>
              <a:defRPr/>
            </a:pPr>
            <a:endParaRPr lang="en-AU" kern="0" dirty="0">
              <a:solidFill>
                <a:schemeClr val="bg1"/>
              </a:solidFill>
              <a:latin typeface="Helvetica Neue"/>
              <a:ea typeface="Calibri" panose="020F0502020204030204" pitchFamily="34" charset="0"/>
              <a:cs typeface="Calibri" panose="020F0502020204030204" pitchFamily="34" charset="0"/>
              <a:sym typeface="Arial"/>
            </a:endParaRPr>
          </a:p>
          <a:p>
            <a:pPr defTabSz="342900">
              <a:buClr>
                <a:srgbClr val="000000"/>
              </a:buClr>
              <a:defRPr/>
            </a:pPr>
            <a:r>
              <a:rPr lang="en-AU" kern="0" dirty="0">
                <a:solidFill>
                  <a:schemeClr val="bg1"/>
                </a:solidFill>
                <a:latin typeface="Helvetica Neue"/>
                <a:ea typeface="Calibri" panose="020F0502020204030204" pitchFamily="34" charset="0"/>
                <a:cs typeface="Calibri" panose="020F0502020204030204" pitchFamily="34" charset="0"/>
                <a:sym typeface="Arial"/>
              </a:rPr>
              <a:t>Now what do I do?”</a:t>
            </a:r>
          </a:p>
        </p:txBody>
      </p:sp>
      <p:sp>
        <p:nvSpPr>
          <p:cNvPr id="27" name="TextBox 26">
            <a:extLst>
              <a:ext uri="{FF2B5EF4-FFF2-40B4-BE49-F238E27FC236}">
                <a16:creationId xmlns:a16="http://schemas.microsoft.com/office/drawing/2014/main" id="{789AE6E7-4B57-A339-D4FE-78FA91B14CC5}"/>
              </a:ext>
            </a:extLst>
          </p:cNvPr>
          <p:cNvSpPr txBox="1"/>
          <p:nvPr/>
        </p:nvSpPr>
        <p:spPr>
          <a:xfrm>
            <a:off x="6343113" y="3604957"/>
            <a:ext cx="2661306" cy="1223412"/>
          </a:xfrm>
          <a:prstGeom prst="rect">
            <a:avLst/>
          </a:prstGeom>
          <a:noFill/>
        </p:spPr>
        <p:txBody>
          <a:bodyPr wrap="none" rtlCol="0">
            <a:spAutoFit/>
          </a:bodyPr>
          <a:lstStyle/>
          <a:p>
            <a:pPr defTabSz="342900">
              <a:buClr>
                <a:srgbClr val="000000"/>
              </a:buClr>
              <a:defRPr/>
            </a:pPr>
            <a:r>
              <a:rPr lang="en-AU" sz="1000" b="1" kern="0" cap="small" dirty="0">
                <a:solidFill>
                  <a:schemeClr val="bg1"/>
                </a:solidFill>
                <a:latin typeface="Helvetica Neue"/>
                <a:ea typeface="Helvetica Neue"/>
                <a:cs typeface="Poppins" panose="00000500000000000000" pitchFamily="2" charset="0"/>
                <a:sym typeface="Arial"/>
              </a:rPr>
              <a:t>Peaks and half-life of supplements?</a:t>
            </a:r>
          </a:p>
          <a:p>
            <a:pPr defTabSz="342900">
              <a:buClr>
                <a:srgbClr val="000000"/>
              </a:buClr>
              <a:defRPr/>
            </a:pPr>
            <a:endParaRPr lang="en-AU" sz="1000" b="1" kern="0" cap="small" dirty="0">
              <a:solidFill>
                <a:schemeClr val="bg1"/>
              </a:solidFill>
              <a:latin typeface="Helvetica Neue"/>
              <a:ea typeface="Helvetica Neue"/>
              <a:cs typeface="Poppins" panose="00000500000000000000" pitchFamily="2" charset="0"/>
              <a:sym typeface="Arial"/>
            </a:endParaRPr>
          </a:p>
          <a:p>
            <a:pPr defTabSz="342900">
              <a:buClr>
                <a:srgbClr val="000000"/>
              </a:buClr>
              <a:defRPr/>
            </a:pPr>
            <a:r>
              <a:rPr lang="en-AU" sz="1000" b="1" kern="0" cap="small" dirty="0">
                <a:solidFill>
                  <a:schemeClr val="bg1"/>
                </a:solidFill>
                <a:latin typeface="Helvetica Neue"/>
                <a:ea typeface="Helvetica Neue"/>
                <a:cs typeface="Poppins" panose="00000500000000000000" pitchFamily="2" charset="0"/>
                <a:sym typeface="Arial"/>
              </a:rPr>
              <a:t>Top up doses?</a:t>
            </a:r>
          </a:p>
          <a:p>
            <a:pPr defTabSz="342900">
              <a:buClr>
                <a:srgbClr val="000000"/>
              </a:buClr>
              <a:defRPr/>
            </a:pPr>
            <a:endParaRPr lang="en-AU" sz="1000" b="1" kern="0" cap="small" dirty="0">
              <a:solidFill>
                <a:schemeClr val="bg1"/>
              </a:solidFill>
              <a:latin typeface="Helvetica Neue"/>
              <a:ea typeface="Helvetica Neue"/>
              <a:cs typeface="Poppins" panose="00000500000000000000" pitchFamily="2" charset="0"/>
              <a:sym typeface="Arial"/>
            </a:endParaRPr>
          </a:p>
          <a:p>
            <a:pPr defTabSz="342900">
              <a:buClr>
                <a:srgbClr val="000000"/>
              </a:buClr>
              <a:defRPr/>
            </a:pPr>
            <a:r>
              <a:rPr lang="en-AU" sz="1000" b="1" kern="0" cap="small" dirty="0">
                <a:solidFill>
                  <a:schemeClr val="bg1"/>
                </a:solidFill>
                <a:latin typeface="Helvetica Neue"/>
                <a:ea typeface="Helvetica Neue"/>
                <a:cs typeface="Poppins" panose="00000500000000000000" pitchFamily="2" charset="0"/>
                <a:sym typeface="Arial"/>
              </a:rPr>
              <a:t>Gut issues with total doses?</a:t>
            </a:r>
          </a:p>
          <a:p>
            <a:pPr defTabSz="342900">
              <a:buClr>
                <a:srgbClr val="000000"/>
              </a:buClr>
              <a:defRPr/>
            </a:pPr>
            <a:endParaRPr lang="en-AU" sz="1000" b="1" kern="0" cap="small" dirty="0">
              <a:solidFill>
                <a:schemeClr val="bg1"/>
              </a:solidFill>
              <a:latin typeface="Helvetica Neue"/>
              <a:ea typeface="Helvetica Neue"/>
              <a:cs typeface="Poppins" panose="00000500000000000000" pitchFamily="2" charset="0"/>
              <a:sym typeface="Arial"/>
            </a:endParaRPr>
          </a:p>
          <a:p>
            <a:pPr defTabSz="342900">
              <a:buClr>
                <a:srgbClr val="000000"/>
              </a:buClr>
              <a:defRPr/>
            </a:pPr>
            <a:r>
              <a:rPr lang="en-AU" sz="1000" b="1" kern="0" cap="small" dirty="0">
                <a:solidFill>
                  <a:schemeClr val="bg1"/>
                </a:solidFill>
                <a:latin typeface="Helvetica Neue"/>
                <a:ea typeface="Helvetica Neue"/>
                <a:cs typeface="Poppins" panose="00000500000000000000" pitchFamily="2" charset="0"/>
                <a:sym typeface="Arial"/>
              </a:rPr>
              <a:t>Interactions between all the products</a:t>
            </a:r>
            <a:r>
              <a:rPr lang="en-AU" sz="1350" b="1" kern="0" dirty="0">
                <a:solidFill>
                  <a:schemeClr val="bg1"/>
                </a:solidFill>
                <a:latin typeface="Poppins" panose="00000500000000000000" pitchFamily="2" charset="0"/>
                <a:cs typeface="Poppins" panose="00000500000000000000" pitchFamily="2" charset="0"/>
                <a:sym typeface="Arial"/>
              </a:rPr>
              <a:t>?</a:t>
            </a:r>
          </a:p>
        </p:txBody>
      </p:sp>
      <p:pic>
        <p:nvPicPr>
          <p:cNvPr id="28" name="Google Shape;192;g1ed472a56f4_0_178" descr="White 3d Human - Many Questions Stock Illustration - Illustration of  answer, character: 36673489">
            <a:extLst>
              <a:ext uri="{FF2B5EF4-FFF2-40B4-BE49-F238E27FC236}">
                <a16:creationId xmlns:a16="http://schemas.microsoft.com/office/drawing/2014/main" id="{9E42D46E-4998-9C44-FD2B-F5CA021F03A5}"/>
              </a:ext>
            </a:extLst>
          </p:cNvPr>
          <p:cNvPicPr preferRelativeResize="0"/>
          <p:nvPr/>
        </p:nvPicPr>
        <p:blipFill rotWithShape="1">
          <a:blip r:embed="rId3">
            <a:alphaModFix/>
          </a:blip>
          <a:srcRect b="13711"/>
          <a:stretch/>
        </p:blipFill>
        <p:spPr>
          <a:xfrm>
            <a:off x="4742211" y="3587007"/>
            <a:ext cx="1550121" cy="1291146"/>
          </a:xfrm>
          <a:prstGeom prst="rect">
            <a:avLst/>
          </a:prstGeom>
          <a:noFill/>
          <a:ln>
            <a:noFill/>
          </a:ln>
        </p:spPr>
      </p:pic>
    </p:spTree>
    <p:extLst>
      <p:ext uri="{BB962C8B-B14F-4D97-AF65-F5344CB8AC3E}">
        <p14:creationId xmlns:p14="http://schemas.microsoft.com/office/powerpoint/2010/main" val="238981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1581912"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182880" y="400204"/>
            <a:ext cx="2630035"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THE OPPORTUNITY</a:t>
            </a:r>
            <a:endParaRPr lang="en-US" sz="900" dirty="0"/>
          </a:p>
        </p:txBody>
      </p:sp>
      <p:sp>
        <p:nvSpPr>
          <p:cNvPr id="5" name="Shape 3"/>
          <p:cNvSpPr/>
          <p:nvPr/>
        </p:nvSpPr>
        <p:spPr>
          <a:xfrm>
            <a:off x="411480" y="1874520"/>
            <a:ext cx="2743200" cy="1783080"/>
          </a:xfrm>
          <a:prstGeom prst="rect">
            <a:avLst/>
          </a:prstGeom>
          <a:solidFill>
            <a:srgbClr val="161D27"/>
          </a:solidFill>
          <a:ln w="9525">
            <a:solidFill>
              <a:srgbClr val="2A3441"/>
            </a:solidFill>
            <a:prstDash val="solid"/>
          </a:ln>
        </p:spPr>
        <p:txBody>
          <a:bodyPr/>
          <a:lstStyle/>
          <a:p>
            <a:endParaRPr lang="en-US" dirty="0"/>
          </a:p>
        </p:txBody>
      </p:sp>
      <p:sp>
        <p:nvSpPr>
          <p:cNvPr id="6" name="Text 4"/>
          <p:cNvSpPr/>
          <p:nvPr/>
        </p:nvSpPr>
        <p:spPr>
          <a:xfrm>
            <a:off x="640080" y="2057400"/>
            <a:ext cx="2286000" cy="777240"/>
          </a:xfrm>
          <a:prstGeom prst="rect">
            <a:avLst/>
          </a:prstGeom>
          <a:noFill/>
          <a:ln/>
        </p:spPr>
        <p:txBody>
          <a:bodyPr wrap="square" lIns="0" tIns="0" rIns="0" bIns="0" rtlCol="0" anchor="ctr"/>
          <a:lstStyle/>
          <a:p>
            <a:pPr marL="0" indent="0">
              <a:buNone/>
            </a:pPr>
            <a:r>
              <a:rPr lang="en-US" sz="4400" b="1" dirty="0">
                <a:solidFill>
                  <a:srgbClr val="B6F569"/>
                </a:solidFill>
                <a:latin typeface="Helvetica Neue" pitchFamily="34" charset="0"/>
                <a:ea typeface="Helvetica Neue" pitchFamily="34" charset="-122"/>
                <a:cs typeface="Helvetica Neue" pitchFamily="34" charset="-120"/>
              </a:rPr>
              <a:t>$80B</a:t>
            </a:r>
            <a:endParaRPr lang="en-US" sz="4400" dirty="0"/>
          </a:p>
        </p:txBody>
      </p:sp>
      <p:sp>
        <p:nvSpPr>
          <p:cNvPr id="7" name="Text 5"/>
          <p:cNvSpPr/>
          <p:nvPr/>
        </p:nvSpPr>
        <p:spPr>
          <a:xfrm>
            <a:off x="640080" y="2880360"/>
            <a:ext cx="2286000" cy="50292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Projected global sports nutrition market 2032 </a:t>
            </a:r>
            <a:endParaRPr lang="en-US" sz="1300" dirty="0"/>
          </a:p>
        </p:txBody>
      </p:sp>
      <p:sp>
        <p:nvSpPr>
          <p:cNvPr id="8" name="Text 6"/>
          <p:cNvSpPr/>
          <p:nvPr/>
        </p:nvSpPr>
        <p:spPr>
          <a:xfrm>
            <a:off x="594361" y="3480427"/>
            <a:ext cx="2286000" cy="201168"/>
          </a:xfrm>
          <a:prstGeom prst="rect">
            <a:avLst/>
          </a:prstGeom>
          <a:noFill/>
          <a:ln/>
        </p:spPr>
        <p:txBody>
          <a:bodyPr wrap="square" lIns="0" tIns="0" rIns="0" bIns="0" rtlCol="0" anchor="ctr"/>
          <a:lstStyle/>
          <a:p>
            <a:r>
              <a:rPr lang="en-US" sz="900" i="1" dirty="0" err="1">
                <a:solidFill>
                  <a:srgbClr val="5C6675"/>
                </a:solidFill>
                <a:latin typeface="Calibri" pitchFamily="34" charset="0"/>
                <a:ea typeface="Calibri" pitchFamily="34" charset="-122"/>
                <a:cs typeface="Calibri" pitchFamily="34" charset="-120"/>
                <a:sym typeface="Gill Sans"/>
              </a:rPr>
              <a:t>runsignup</a:t>
            </a:r>
            <a:r>
              <a:rPr lang="en-US" sz="900" i="1" dirty="0">
                <a:solidFill>
                  <a:srgbClr val="5C6675"/>
                </a:solidFill>
                <a:latin typeface="Calibri" pitchFamily="34" charset="0"/>
                <a:ea typeface="Calibri" pitchFamily="34" charset="-122"/>
                <a:cs typeface="Calibri" pitchFamily="34" charset="-120"/>
                <a:sym typeface="Gill Sans"/>
              </a:rPr>
              <a:t> annual trends report January 2023 </a:t>
            </a:r>
            <a:r>
              <a:rPr lang="en-US" sz="900" i="1" dirty="0">
                <a:solidFill>
                  <a:schemeClr val="dk1"/>
                </a:solidFill>
                <a:latin typeface="Gill Sans"/>
                <a:ea typeface="Gill Sans"/>
                <a:cs typeface="Gill Sans"/>
                <a:sym typeface="Gill Sans"/>
              </a:rPr>
              <a:t>2023</a:t>
            </a:r>
            <a:endParaRPr lang="en-US" sz="900" dirty="0"/>
          </a:p>
        </p:txBody>
      </p:sp>
      <p:sp>
        <p:nvSpPr>
          <p:cNvPr id="9" name="Shape 7"/>
          <p:cNvSpPr/>
          <p:nvPr/>
        </p:nvSpPr>
        <p:spPr>
          <a:xfrm>
            <a:off x="3337560" y="1874520"/>
            <a:ext cx="2743200" cy="1783080"/>
          </a:xfrm>
          <a:prstGeom prst="rect">
            <a:avLst/>
          </a:prstGeom>
          <a:solidFill>
            <a:srgbClr val="161D27"/>
          </a:solidFill>
          <a:ln w="9525">
            <a:solidFill>
              <a:srgbClr val="2A3441"/>
            </a:solidFill>
            <a:prstDash val="solid"/>
          </a:ln>
        </p:spPr>
        <p:txBody>
          <a:bodyPr/>
          <a:lstStyle/>
          <a:p>
            <a:endParaRPr lang="en-US"/>
          </a:p>
        </p:txBody>
      </p:sp>
      <p:sp>
        <p:nvSpPr>
          <p:cNvPr id="10" name="Text 8"/>
          <p:cNvSpPr/>
          <p:nvPr/>
        </p:nvSpPr>
        <p:spPr>
          <a:xfrm>
            <a:off x="3566160" y="2057400"/>
            <a:ext cx="2286000" cy="777240"/>
          </a:xfrm>
          <a:prstGeom prst="rect">
            <a:avLst/>
          </a:prstGeom>
          <a:noFill/>
          <a:ln/>
        </p:spPr>
        <p:txBody>
          <a:bodyPr wrap="square" lIns="0" tIns="0" rIns="0" bIns="0" rtlCol="0" anchor="ctr"/>
          <a:lstStyle/>
          <a:p>
            <a:pPr marL="0" indent="0">
              <a:buNone/>
            </a:pPr>
            <a:r>
              <a:rPr lang="en-US" sz="4400" b="1" dirty="0">
                <a:solidFill>
                  <a:srgbClr val="B6F569"/>
                </a:solidFill>
                <a:latin typeface="Helvetica Neue" pitchFamily="34" charset="0"/>
                <a:ea typeface="Helvetica Neue" pitchFamily="34" charset="-122"/>
                <a:cs typeface="Helvetica Neue" pitchFamily="34" charset="-120"/>
              </a:rPr>
              <a:t>80-90%</a:t>
            </a:r>
            <a:endParaRPr lang="en-US" sz="4400" dirty="0"/>
          </a:p>
        </p:txBody>
      </p:sp>
      <p:sp>
        <p:nvSpPr>
          <p:cNvPr id="11" name="Text 9"/>
          <p:cNvSpPr/>
          <p:nvPr/>
        </p:nvSpPr>
        <p:spPr>
          <a:xfrm>
            <a:off x="3566160" y="2880360"/>
            <a:ext cx="2413108" cy="50292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Athletes use sports foods/ performance supplements</a:t>
            </a:r>
            <a:endParaRPr lang="en-US" sz="1300" dirty="0"/>
          </a:p>
        </p:txBody>
      </p:sp>
      <p:sp>
        <p:nvSpPr>
          <p:cNvPr id="12" name="Text 10"/>
          <p:cNvSpPr/>
          <p:nvPr/>
        </p:nvSpPr>
        <p:spPr>
          <a:xfrm>
            <a:off x="3566160" y="3383280"/>
            <a:ext cx="2286000" cy="201168"/>
          </a:xfrm>
          <a:prstGeom prst="rect">
            <a:avLst/>
          </a:prstGeom>
          <a:noFill/>
          <a:ln/>
        </p:spPr>
        <p:txBody>
          <a:bodyPr wrap="square" lIns="0" tIns="0" rIns="0" bIns="0" rtlCol="0" anchor="ctr"/>
          <a:lstStyle/>
          <a:p>
            <a:pPr marL="0" indent="0">
              <a:buNone/>
            </a:pPr>
            <a:endParaRPr lang="en-US" sz="900" dirty="0"/>
          </a:p>
        </p:txBody>
      </p:sp>
      <p:sp>
        <p:nvSpPr>
          <p:cNvPr id="13" name="Shape 11"/>
          <p:cNvSpPr/>
          <p:nvPr/>
        </p:nvSpPr>
        <p:spPr>
          <a:xfrm>
            <a:off x="6263640" y="1874520"/>
            <a:ext cx="2743200" cy="1783080"/>
          </a:xfrm>
          <a:prstGeom prst="rect">
            <a:avLst/>
          </a:prstGeom>
          <a:solidFill>
            <a:srgbClr val="161D27"/>
          </a:solidFill>
          <a:ln w="9525">
            <a:solidFill>
              <a:srgbClr val="2A3441"/>
            </a:solidFill>
            <a:prstDash val="solid"/>
          </a:ln>
        </p:spPr>
        <p:txBody>
          <a:bodyPr/>
          <a:lstStyle/>
          <a:p>
            <a:endParaRPr lang="en-US"/>
          </a:p>
        </p:txBody>
      </p:sp>
      <p:sp>
        <p:nvSpPr>
          <p:cNvPr id="14" name="Text 12"/>
          <p:cNvSpPr/>
          <p:nvPr/>
        </p:nvSpPr>
        <p:spPr>
          <a:xfrm>
            <a:off x="6492240" y="2057400"/>
            <a:ext cx="2286000" cy="777240"/>
          </a:xfrm>
          <a:prstGeom prst="rect">
            <a:avLst/>
          </a:prstGeom>
          <a:noFill/>
          <a:ln/>
        </p:spPr>
        <p:txBody>
          <a:bodyPr wrap="square" lIns="0" tIns="0" rIns="0" bIns="0" rtlCol="0" anchor="ctr"/>
          <a:lstStyle/>
          <a:p>
            <a:pPr marL="0" indent="0">
              <a:buNone/>
            </a:pPr>
            <a:r>
              <a:rPr lang="en-US" sz="4400" b="1" dirty="0">
                <a:solidFill>
                  <a:srgbClr val="B6F569"/>
                </a:solidFill>
                <a:latin typeface="Helvetica Neue" pitchFamily="34" charset="0"/>
                <a:ea typeface="Helvetica Neue" pitchFamily="34" charset="-122"/>
                <a:cs typeface="Helvetica Neue" pitchFamily="34" charset="-120"/>
              </a:rPr>
              <a:t>40-70%</a:t>
            </a:r>
            <a:endParaRPr lang="en-US" sz="4400" dirty="0"/>
          </a:p>
        </p:txBody>
      </p:sp>
      <p:sp>
        <p:nvSpPr>
          <p:cNvPr id="15" name="Text 13"/>
          <p:cNvSpPr/>
          <p:nvPr/>
        </p:nvSpPr>
        <p:spPr>
          <a:xfrm>
            <a:off x="6492240" y="2880360"/>
            <a:ext cx="2286000" cy="50292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Athletes consult the internet for supplement advice</a:t>
            </a:r>
            <a:endParaRPr lang="en-US" sz="1300" dirty="0"/>
          </a:p>
        </p:txBody>
      </p:sp>
      <p:sp>
        <p:nvSpPr>
          <p:cNvPr id="16" name="Text 14"/>
          <p:cNvSpPr/>
          <p:nvPr/>
        </p:nvSpPr>
        <p:spPr>
          <a:xfrm>
            <a:off x="6492240" y="3416201"/>
            <a:ext cx="2286000" cy="201168"/>
          </a:xfrm>
          <a:prstGeom prst="rect">
            <a:avLst/>
          </a:prstGeom>
          <a:noFill/>
          <a:ln/>
        </p:spPr>
        <p:txBody>
          <a:bodyPr wrap="square" lIns="0" tIns="0" rIns="0" bIns="0" rtlCol="0" anchor="ctr"/>
          <a:lstStyle/>
          <a:p>
            <a:pPr marL="0" indent="0">
              <a:buNone/>
            </a:pPr>
            <a:r>
              <a:rPr lang="en-US" sz="900" i="1" dirty="0" err="1">
                <a:solidFill>
                  <a:srgbClr val="5C6675"/>
                </a:solidFill>
                <a:latin typeface="Calibri" pitchFamily="34" charset="0"/>
                <a:ea typeface="Calibri" pitchFamily="34" charset="-122"/>
                <a:cs typeface="Calibri" pitchFamily="34" charset="-120"/>
              </a:rPr>
              <a:t>Broniecka</a:t>
            </a:r>
            <a:r>
              <a:rPr lang="en-US" sz="900" i="1" dirty="0">
                <a:solidFill>
                  <a:srgbClr val="5C6675"/>
                </a:solidFill>
                <a:latin typeface="Calibri" pitchFamily="34" charset="0"/>
                <a:ea typeface="Calibri" pitchFamily="34" charset="-122"/>
                <a:cs typeface="Calibri" pitchFamily="34" charset="-120"/>
              </a:rPr>
              <a:t> et all., 2025</a:t>
            </a:r>
            <a:endParaRPr lang="en-US" sz="900" dirty="0"/>
          </a:p>
        </p:txBody>
      </p:sp>
      <p:sp>
        <p:nvSpPr>
          <p:cNvPr id="17" name="Text 15"/>
          <p:cNvSpPr/>
          <p:nvPr/>
        </p:nvSpPr>
        <p:spPr>
          <a:xfrm>
            <a:off x="411480" y="4120072"/>
            <a:ext cx="5762341" cy="653096"/>
          </a:xfrm>
          <a:prstGeom prst="rect">
            <a:avLst/>
          </a:prstGeom>
          <a:noFill/>
          <a:ln/>
        </p:spPr>
        <p:txBody>
          <a:bodyPr wrap="square" lIns="0" tIns="0" rIns="0" bIns="0" rtlCol="0" anchor="ctr"/>
          <a:lstStyle/>
          <a:p>
            <a:pPr marL="0" indent="0">
              <a:buNone/>
            </a:pPr>
            <a:r>
              <a:rPr lang="en-US" sz="1400" i="1" dirty="0">
                <a:solidFill>
                  <a:srgbClr val="C8D1DD"/>
                </a:solidFill>
                <a:latin typeface="Calibri" pitchFamily="34" charset="0"/>
                <a:ea typeface="Calibri" pitchFamily="34" charset="-122"/>
                <a:cs typeface="Calibri" pitchFamily="34" charset="-120"/>
              </a:rPr>
              <a:t>Year on year increases in sports participation and performance nutrition interest demands a credible information source</a:t>
            </a:r>
            <a:endParaRPr lang="en-US" sz="1400" dirty="0"/>
          </a:p>
        </p:txBody>
      </p:sp>
      <p:sp>
        <p:nvSpPr>
          <p:cNvPr id="19" name="Text 17"/>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2</a:t>
            </a:r>
            <a:endParaRPr lang="en-US" sz="900" dirty="0"/>
          </a:p>
        </p:txBody>
      </p:sp>
      <p:sp>
        <p:nvSpPr>
          <p:cNvPr id="20" name="Text 16">
            <a:extLst>
              <a:ext uri="{FF2B5EF4-FFF2-40B4-BE49-F238E27FC236}">
                <a16:creationId xmlns:a16="http://schemas.microsoft.com/office/drawing/2014/main" id="{2359A591-369B-2835-3870-460F37F04F59}"/>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7">
            <a:extLst>
              <a:ext uri="{FF2B5EF4-FFF2-40B4-BE49-F238E27FC236}">
                <a16:creationId xmlns:a16="http://schemas.microsoft.com/office/drawing/2014/main" id="{3B794831-908C-DDF3-316D-04B216D6600A}"/>
              </a:ext>
            </a:extLst>
          </p:cNvPr>
          <p:cNvSpPr/>
          <p:nvPr/>
        </p:nvSpPr>
        <p:spPr>
          <a:xfrm>
            <a:off x="365760" y="287251"/>
            <a:ext cx="8229600" cy="1900000"/>
          </a:xfrm>
          <a:prstGeom prst="rect">
            <a:avLst/>
          </a:prstGeom>
          <a:noFill/>
          <a:ln/>
        </p:spPr>
        <p:txBody>
          <a:bodyPr wrap="square" lIns="0" tIns="0" rIns="0" bIns="0" rtlCol="0" anchor="ctr"/>
          <a:lstStyle/>
          <a:p>
            <a:pPr marL="0" indent="0">
              <a:buNone/>
            </a:pPr>
            <a:r>
              <a:rPr lang="en-US" sz="3600" b="1" dirty="0">
                <a:solidFill>
                  <a:srgbClr val="F4F7FB"/>
                </a:solidFill>
                <a:latin typeface="Helvetica Neue" pitchFamily="34" charset="0"/>
                <a:ea typeface="Helvetica Neue" pitchFamily="34" charset="-122"/>
                <a:cs typeface="Helvetica Neue" pitchFamily="34" charset="-120"/>
              </a:rPr>
              <a:t>Meeting athletes where they’re at</a:t>
            </a:r>
            <a:endParaRPr lang="en-US" sz="5000" dirty="0"/>
          </a:p>
        </p:txBody>
      </p:sp>
      <p:sp>
        <p:nvSpPr>
          <p:cNvPr id="4" name="Text 14">
            <a:extLst>
              <a:ext uri="{FF2B5EF4-FFF2-40B4-BE49-F238E27FC236}">
                <a16:creationId xmlns:a16="http://schemas.microsoft.com/office/drawing/2014/main" id="{4CE1B427-3422-A2E4-B8B8-9AA1D78FE10F}"/>
              </a:ext>
            </a:extLst>
          </p:cNvPr>
          <p:cNvSpPr/>
          <p:nvPr/>
        </p:nvSpPr>
        <p:spPr>
          <a:xfrm>
            <a:off x="3566160" y="3436953"/>
            <a:ext cx="2286000" cy="201168"/>
          </a:xfrm>
          <a:prstGeom prst="rect">
            <a:avLst/>
          </a:prstGeom>
          <a:noFill/>
          <a:ln/>
        </p:spPr>
        <p:txBody>
          <a:bodyPr wrap="square" lIns="0" tIns="0" rIns="0" bIns="0" rtlCol="0" anchor="ctr"/>
          <a:lstStyle/>
          <a:p>
            <a:pPr marL="0" indent="0">
              <a:buNone/>
            </a:pPr>
            <a:r>
              <a:rPr lang="en-US" sz="900" i="1" dirty="0">
                <a:solidFill>
                  <a:srgbClr val="5C6675"/>
                </a:solidFill>
                <a:latin typeface="Calibri" pitchFamily="34" charset="0"/>
                <a:ea typeface="Calibri" pitchFamily="34" charset="-122"/>
                <a:cs typeface="Calibri" pitchFamily="34" charset="-120"/>
              </a:rPr>
              <a:t>Garthe and Maughan, 2018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a:extLst>
            <a:ext uri="{FF2B5EF4-FFF2-40B4-BE49-F238E27FC236}">
              <a16:creationId xmlns:a16="http://schemas.microsoft.com/office/drawing/2014/main" id="{F347E95D-5173-1D8E-1BEB-8741BB5C1C6E}"/>
            </a:ext>
          </a:extLst>
        </p:cNvPr>
        <p:cNvGrpSpPr/>
        <p:nvPr/>
      </p:nvGrpSpPr>
      <p:grpSpPr>
        <a:xfrm>
          <a:off x="0" y="0"/>
          <a:ext cx="0" cy="0"/>
          <a:chOff x="0" y="0"/>
          <a:chExt cx="0" cy="0"/>
        </a:xfrm>
      </p:grpSpPr>
      <p:sp>
        <p:nvSpPr>
          <p:cNvPr id="32" name="Shape 14">
            <a:extLst>
              <a:ext uri="{FF2B5EF4-FFF2-40B4-BE49-F238E27FC236}">
                <a16:creationId xmlns:a16="http://schemas.microsoft.com/office/drawing/2014/main" id="{422B16E3-4888-8204-7478-D8F23724007F}"/>
              </a:ext>
            </a:extLst>
          </p:cNvPr>
          <p:cNvSpPr/>
          <p:nvPr/>
        </p:nvSpPr>
        <p:spPr>
          <a:xfrm>
            <a:off x="6875831" y="2214630"/>
            <a:ext cx="2146244" cy="2467986"/>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Shape 0">
            <a:extLst>
              <a:ext uri="{FF2B5EF4-FFF2-40B4-BE49-F238E27FC236}">
                <a16:creationId xmlns:a16="http://schemas.microsoft.com/office/drawing/2014/main" id="{03A93431-F9A4-6488-4B0C-390C81AAF8C8}"/>
              </a:ext>
            </a:extLst>
          </p:cNvPr>
          <p:cNvSpPr/>
          <p:nvPr/>
        </p:nvSpPr>
        <p:spPr>
          <a:xfrm>
            <a:off x="142217" y="418372"/>
            <a:ext cx="2532888" cy="274320"/>
          </a:xfrm>
          <a:prstGeom prst="rect">
            <a:avLst/>
          </a:prstGeom>
          <a:solidFill>
            <a:srgbClr val="2A3441"/>
          </a:solidFill>
          <a:ln w="12700">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88860CB7-51C6-3024-EF82-437B09AA846A}"/>
              </a:ext>
            </a:extLst>
          </p:cNvPr>
          <p:cNvSpPr/>
          <p:nvPr/>
        </p:nvSpPr>
        <p:spPr>
          <a:xfrm>
            <a:off x="216926" y="809732"/>
            <a:ext cx="82296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rPr>
              <a:t>Everybody wants something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5C6D7058-DD00-F415-123D-7639645C6BCE}"/>
              </a:ext>
            </a:extLst>
          </p:cNvPr>
          <p:cNvSpPr/>
          <p:nvPr/>
        </p:nvSpPr>
        <p:spPr>
          <a:xfrm>
            <a:off x="45397" y="2068830"/>
            <a:ext cx="2039892" cy="2656298"/>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C2B078FF-5757-2F1A-9379-C20EE7C9BA91}"/>
              </a:ext>
            </a:extLst>
          </p:cNvPr>
          <p:cNvSpPr/>
          <p:nvPr/>
        </p:nvSpPr>
        <p:spPr>
          <a:xfrm>
            <a:off x="158561" y="2121442"/>
            <a:ext cx="1989742" cy="56165"/>
          </a:xfrm>
          <a:prstGeom prst="rect">
            <a:avLst/>
          </a:prstGeom>
          <a:solidFill>
            <a:srgbClr val="B6F569"/>
          </a:solidFill>
          <a:ln w="12700">
            <a:solidFill>
              <a:srgbClr val="B6F5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07EBE07F-A02F-2148-6298-D736AB6701CD}"/>
              </a:ext>
            </a:extLst>
          </p:cNvPr>
          <p:cNvSpPr/>
          <p:nvPr/>
        </p:nvSpPr>
        <p:spPr>
          <a:xfrm>
            <a:off x="276913" y="2286001"/>
            <a:ext cx="23774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0" spc="600" dirty="0">
                <a:solidFill>
                  <a:srgbClr val="B6F569"/>
                </a:solidFill>
                <a:latin typeface="Helvetica Neue" pitchFamily="34" charset="0"/>
                <a:ea typeface="Helvetica Neue" pitchFamily="34" charset="-122"/>
                <a:cs typeface="Helvetica Neue" pitchFamily="34" charset="-120"/>
              </a:rPr>
              <a:t>SUPPLEMENT INDUSTRY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5B16BFB6-FBEA-A4DA-F224-19918D57A606}"/>
              </a:ext>
            </a:extLst>
          </p:cNvPr>
          <p:cNvSpPr/>
          <p:nvPr/>
        </p:nvSpPr>
        <p:spPr>
          <a:xfrm>
            <a:off x="220820" y="2688889"/>
            <a:ext cx="1853769" cy="34289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F4F7FB"/>
                </a:solidFill>
                <a:latin typeface="Helvetica Neue" pitchFamily="34" charset="0"/>
                <a:ea typeface="Helvetica Neue" pitchFamily="34" charset="-122"/>
                <a:cs typeface="Helvetica Neue" pitchFamily="34" charset="-120"/>
              </a:rPr>
              <a:t>C</a:t>
            </a:r>
            <a:r>
              <a:rPr kumimoji="0" lang="en-US" sz="1300" b="1" i="0" u="none" strike="noStrike" kern="1200" cap="none" spc="0" normalizeH="0" baseline="0" noProof="0" dirty="0" err="1">
                <a:ln>
                  <a:noFill/>
                </a:ln>
                <a:solidFill>
                  <a:srgbClr val="F4F7FB"/>
                </a:solidFill>
                <a:effectLst/>
                <a:uLnTx/>
                <a:uFillTx/>
                <a:latin typeface="Helvetica Neue" pitchFamily="34" charset="0"/>
                <a:ea typeface="Helvetica Neue" pitchFamily="34" charset="-122"/>
                <a:cs typeface="Helvetica Neue" pitchFamily="34" charset="-120"/>
              </a:rPr>
              <a:t>redibility</a:t>
            </a:r>
            <a:r>
              <a:rPr kumimoji="0" lang="en-US" sz="13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rPr>
              <a:t> that drives our bottom line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F1111672-4226-029F-2A9B-F76712D66297}"/>
              </a:ext>
            </a:extLst>
          </p:cNvPr>
          <p:cNvSpPr/>
          <p:nvPr/>
        </p:nvSpPr>
        <p:spPr>
          <a:xfrm>
            <a:off x="220819" y="3256379"/>
            <a:ext cx="1933103"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8B96A6"/>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We want to be First to market with credible products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We want access to research opportunities that show our products work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CDB9DE05-A3F3-3478-B6B1-7677CF418B34}"/>
              </a:ext>
            </a:extLst>
          </p:cNvPr>
          <p:cNvSpPr/>
          <p:nvPr/>
        </p:nvSpPr>
        <p:spPr>
          <a:xfrm>
            <a:off x="2268169" y="2119982"/>
            <a:ext cx="2188940" cy="2605146"/>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1C16F579-FAE5-0A45-4FB8-AB04AF6D1E3E}"/>
              </a:ext>
            </a:extLst>
          </p:cNvPr>
          <p:cNvSpPr/>
          <p:nvPr/>
        </p:nvSpPr>
        <p:spPr>
          <a:xfrm>
            <a:off x="2268168" y="2119983"/>
            <a:ext cx="2180617" cy="54864"/>
          </a:xfrm>
          <a:prstGeom prst="rect">
            <a:avLst/>
          </a:prstGeom>
          <a:solidFill>
            <a:srgbClr val="67E8F9"/>
          </a:solidFill>
          <a:ln w="12700">
            <a:solidFill>
              <a:srgbClr val="67E8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BA1BF362-543E-1DC4-23D8-0BDEEA5B8E95}"/>
              </a:ext>
            </a:extLst>
          </p:cNvPr>
          <p:cNvSpPr/>
          <p:nvPr/>
        </p:nvSpPr>
        <p:spPr>
          <a:xfrm>
            <a:off x="2451047" y="2257142"/>
            <a:ext cx="1997737" cy="276913"/>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0" spc="600" dirty="0">
                <a:solidFill>
                  <a:srgbClr val="67E8F9"/>
                </a:solidFill>
                <a:latin typeface="Helvetica Neue" pitchFamily="34" charset="0"/>
                <a:ea typeface="Helvetica Neue" pitchFamily="34" charset="-122"/>
              </a:rPr>
              <a:t>SPORTING ORGANISATIONS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83E8B239-56C9-C9CE-959E-59C1D4DCFF7D}"/>
              </a:ext>
            </a:extLst>
          </p:cNvPr>
          <p:cNvSpPr/>
          <p:nvPr/>
        </p:nvSpPr>
        <p:spPr>
          <a:xfrm>
            <a:off x="2444562" y="2525131"/>
            <a:ext cx="1889868"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rPr>
              <a:t>Reassurance that our </a:t>
            </a:r>
            <a:r>
              <a:rPr lang="en-US" sz="1300" b="1" dirty="0">
                <a:solidFill>
                  <a:srgbClr val="F4F7FB"/>
                </a:solidFill>
                <a:latin typeface="Helvetica Neue" pitchFamily="34" charset="0"/>
                <a:ea typeface="Helvetica Neue" pitchFamily="34" charset="-122"/>
                <a:cs typeface="Helvetica Neue" pitchFamily="34" charset="-120"/>
              </a:rPr>
              <a:t>new position on supplements is correct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6A813D18-5F7D-307E-F420-B31DB265DC20}"/>
              </a:ext>
            </a:extLst>
          </p:cNvPr>
          <p:cNvSpPr/>
          <p:nvPr/>
        </p:nvSpPr>
        <p:spPr>
          <a:xfrm>
            <a:off x="2461747" y="3498634"/>
            <a:ext cx="1889868"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We’ve finally agreed that sports foods/supplements have value, but we need to be sure that products are safe, effective and free from banned substances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B9DEEFF2-0B40-F6EC-8BF2-1258E4B3B919}"/>
              </a:ext>
            </a:extLst>
          </p:cNvPr>
          <p:cNvSpPr/>
          <p:nvPr/>
        </p:nvSpPr>
        <p:spPr>
          <a:xfrm>
            <a:off x="4585298" y="2257142"/>
            <a:ext cx="2146244" cy="2467986"/>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61D9E8BB-2810-1162-D600-981837559E07}"/>
              </a:ext>
            </a:extLst>
          </p:cNvPr>
          <p:cNvSpPr/>
          <p:nvPr/>
        </p:nvSpPr>
        <p:spPr>
          <a:xfrm>
            <a:off x="4604428" y="2120828"/>
            <a:ext cx="2127114" cy="54864"/>
          </a:xfrm>
          <a:prstGeom prst="rect">
            <a:avLst/>
          </a:prstGeom>
          <a:solidFill>
            <a:srgbClr val="FCD34D"/>
          </a:solidFill>
          <a:ln w="12700">
            <a:solidFill>
              <a:srgbClr val="FCD34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a:extLst>
              <a:ext uri="{FF2B5EF4-FFF2-40B4-BE49-F238E27FC236}">
                <a16:creationId xmlns:a16="http://schemas.microsoft.com/office/drawing/2014/main" id="{872D13DB-4485-A3B2-EAD9-EF3B5DC8D7DF}"/>
              </a:ext>
            </a:extLst>
          </p:cNvPr>
          <p:cNvSpPr/>
          <p:nvPr/>
        </p:nvSpPr>
        <p:spPr>
          <a:xfrm>
            <a:off x="4750397" y="2257987"/>
            <a:ext cx="1981145" cy="430901"/>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600" normalizeH="0" baseline="0" noProof="0" dirty="0">
                <a:ln>
                  <a:noFill/>
                </a:ln>
                <a:solidFill>
                  <a:srgbClr val="FCD34D"/>
                </a:solidFill>
                <a:effectLst/>
                <a:uLnTx/>
                <a:uFillTx/>
                <a:latin typeface="Helvetica Neue" pitchFamily="34" charset="0"/>
                <a:ea typeface="Helvetica Neue" pitchFamily="34" charset="-122"/>
                <a:cs typeface="Helvetica Neue" pitchFamily="34" charset="-120"/>
              </a:rPr>
              <a:t>SPORTS SCIENTISTS/ PRACTITIONERS   </a:t>
            </a:r>
          </a:p>
        </p:txBody>
      </p:sp>
      <p:sp>
        <p:nvSpPr>
          <p:cNvPr id="19" name="Text 17">
            <a:extLst>
              <a:ext uri="{FF2B5EF4-FFF2-40B4-BE49-F238E27FC236}">
                <a16:creationId xmlns:a16="http://schemas.microsoft.com/office/drawing/2014/main" id="{D509BFD5-E975-A930-9164-4D3E233886F1}"/>
              </a:ext>
            </a:extLst>
          </p:cNvPr>
          <p:cNvSpPr/>
          <p:nvPr/>
        </p:nvSpPr>
        <p:spPr>
          <a:xfrm>
            <a:off x="4773366" y="2650526"/>
            <a:ext cx="1843499"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F4F7FB"/>
                </a:solidFill>
                <a:latin typeface="Helvetica Neue" pitchFamily="34" charset="0"/>
                <a:ea typeface="Helvetica Neue" pitchFamily="34" charset="-122"/>
                <a:cs typeface="Helvetica Neue" pitchFamily="34" charset="-120"/>
              </a:rPr>
              <a:t>Staying relevant and staying abreast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07032630-5123-F4DC-F4F3-75E3A9C00F18}"/>
              </a:ext>
            </a:extLst>
          </p:cNvPr>
          <p:cNvSpPr/>
          <p:nvPr/>
        </p:nvSpPr>
        <p:spPr>
          <a:xfrm>
            <a:off x="4759854" y="3060003"/>
            <a:ext cx="1843499"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8B96A6"/>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8B96A6"/>
                </a:solidFill>
                <a:latin typeface="Calibri" pitchFamily="34" charset="0"/>
                <a:ea typeface="Calibri" pitchFamily="34" charset="-122"/>
                <a:cs typeface="Calibri" pitchFamily="34" charset="-120"/>
              </a:rPr>
              <a:t>We need to be in this space  but we just don’t have the time 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stay on top of the scientific literature on sports supplements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a:extLst>
              <a:ext uri="{FF2B5EF4-FFF2-40B4-BE49-F238E27FC236}">
                <a16:creationId xmlns:a16="http://schemas.microsoft.com/office/drawing/2014/main" id="{6FB68201-420D-75AB-7E89-AD07D4B6DE61}"/>
              </a:ext>
            </a:extLst>
          </p:cNvPr>
          <p:cNvSpPr/>
          <p:nvPr/>
        </p:nvSpPr>
        <p:spPr>
          <a:xfrm>
            <a:off x="6941983" y="4282638"/>
            <a:ext cx="283615"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0">
            <a:extLst>
              <a:ext uri="{FF2B5EF4-FFF2-40B4-BE49-F238E27FC236}">
                <a16:creationId xmlns:a16="http://schemas.microsoft.com/office/drawing/2014/main" id="{B905FBC4-EB19-08C2-1AC7-8FB7FD0176DD}"/>
              </a:ext>
            </a:extLst>
          </p:cNvPr>
          <p:cNvSpPr/>
          <p:nvPr/>
        </p:nvSpPr>
        <p:spPr>
          <a:xfrm>
            <a:off x="388781" y="411480"/>
            <a:ext cx="2286324" cy="274320"/>
          </a:xfrm>
          <a:prstGeom prst="rect">
            <a:avLst/>
          </a:prstGeom>
          <a:solidFill>
            <a:srgbClr val="2A3441"/>
          </a:solidFill>
          <a:ln w="12700">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1">
            <a:extLst>
              <a:ext uri="{FF2B5EF4-FFF2-40B4-BE49-F238E27FC236}">
                <a16:creationId xmlns:a16="http://schemas.microsoft.com/office/drawing/2014/main" id="{2D2B0EDA-4D7A-3543-FF79-D30F9BD43838}"/>
              </a:ext>
            </a:extLst>
          </p:cNvPr>
          <p:cNvSpPr/>
          <p:nvPr/>
        </p:nvSpPr>
        <p:spPr>
          <a:xfrm>
            <a:off x="103761" y="411480"/>
            <a:ext cx="2630035"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600" normalizeH="0" baseline="0" noProof="0" dirty="0">
                <a:ln>
                  <a:noFill/>
                </a:ln>
                <a:solidFill>
                  <a:srgbClr val="B6F569"/>
                </a:solidFill>
                <a:effectLst/>
                <a:uLnTx/>
                <a:uFillTx/>
                <a:latin typeface="Helvetica Neue" pitchFamily="34" charset="0"/>
                <a:ea typeface="Helvetica Neue" pitchFamily="34" charset="-122"/>
                <a:cs typeface="Helvetica Neue" pitchFamily="34" charset="-120"/>
              </a:rPr>
              <a:t>THE </a:t>
            </a:r>
            <a:r>
              <a:rPr lang="en-US" sz="900" b="1" kern="0" spc="600" dirty="0">
                <a:solidFill>
                  <a:srgbClr val="B6F569"/>
                </a:solidFill>
                <a:latin typeface="Helvetica Neue" pitchFamily="34" charset="0"/>
                <a:ea typeface="Helvetica Neue" pitchFamily="34" charset="-122"/>
                <a:cs typeface="Helvetica Neue" pitchFamily="34" charset="-120"/>
              </a:rPr>
              <a:t>ECOSYSTEM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15">
            <a:extLst>
              <a:ext uri="{FF2B5EF4-FFF2-40B4-BE49-F238E27FC236}">
                <a16:creationId xmlns:a16="http://schemas.microsoft.com/office/drawing/2014/main" id="{E5D5A7FB-3933-220A-AF1E-C21DF642D843}"/>
              </a:ext>
            </a:extLst>
          </p:cNvPr>
          <p:cNvSpPr/>
          <p:nvPr/>
        </p:nvSpPr>
        <p:spPr>
          <a:xfrm>
            <a:off x="6914422" y="2122743"/>
            <a:ext cx="2127114" cy="54864"/>
          </a:xfrm>
          <a:prstGeom prst="rect">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16">
            <a:extLst>
              <a:ext uri="{FF2B5EF4-FFF2-40B4-BE49-F238E27FC236}">
                <a16:creationId xmlns:a16="http://schemas.microsoft.com/office/drawing/2014/main" id="{4E5F1EBF-83E4-D357-BEB8-5E7C94B8B300}"/>
              </a:ext>
            </a:extLst>
          </p:cNvPr>
          <p:cNvSpPr/>
          <p:nvPr/>
        </p:nvSpPr>
        <p:spPr>
          <a:xfrm>
            <a:off x="7097302" y="2294268"/>
            <a:ext cx="1843499"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0" spc="600" dirty="0">
                <a:solidFill>
                  <a:srgbClr val="FF0000"/>
                </a:solidFill>
                <a:latin typeface="Helvetica Neue" pitchFamily="34" charset="0"/>
                <a:ea typeface="Helvetica Neue" pitchFamily="34" charset="-122"/>
                <a:cs typeface="Helvetica Neue" pitchFamily="34" charset="-120"/>
              </a:rPr>
              <a:t>ATHLETES AND COACHES</a:t>
            </a:r>
            <a:endParaRPr kumimoji="0" lang="en-US" sz="9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9" name="Text 17">
            <a:extLst>
              <a:ext uri="{FF2B5EF4-FFF2-40B4-BE49-F238E27FC236}">
                <a16:creationId xmlns:a16="http://schemas.microsoft.com/office/drawing/2014/main" id="{2D7CDD19-0607-5B31-7A9E-A8A199226977}"/>
              </a:ext>
            </a:extLst>
          </p:cNvPr>
          <p:cNvSpPr/>
          <p:nvPr/>
        </p:nvSpPr>
        <p:spPr>
          <a:xfrm>
            <a:off x="7083790" y="2573371"/>
            <a:ext cx="1843499"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F4F7FB"/>
                </a:solidFill>
                <a:effectLst/>
                <a:uLnTx/>
                <a:uFillTx/>
                <a:latin typeface="Helvetica Neue" pitchFamily="34" charset="0"/>
                <a:ea typeface="Helvetica Neue" pitchFamily="34" charset="-122"/>
                <a:cs typeface="Helvetica Neue" pitchFamily="34" charset="-120"/>
              </a:rPr>
              <a:t>Personalised</a:t>
            </a:r>
            <a:r>
              <a:rPr kumimoji="0" lang="en-US" sz="13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rPr>
              <a:t> advice that works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18">
            <a:extLst>
              <a:ext uri="{FF2B5EF4-FFF2-40B4-BE49-F238E27FC236}">
                <a16:creationId xmlns:a16="http://schemas.microsoft.com/office/drawing/2014/main" id="{A21124E9-099E-EAAB-F283-A7093A41ED22}"/>
              </a:ext>
            </a:extLst>
          </p:cNvPr>
          <p:cNvSpPr/>
          <p:nvPr/>
        </p:nvSpPr>
        <p:spPr>
          <a:xfrm>
            <a:off x="7083790" y="3609300"/>
            <a:ext cx="1843499"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Even if it’s marginal gains, it matters for our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8B96A6"/>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We need advice that </a:t>
            </a:r>
            <a:r>
              <a:rPr kumimoji="0" lang="en-US" sz="1050" b="0" i="0" u="none" strike="noStrike" kern="1200" cap="none" spc="0" normalizeH="0" baseline="0" noProof="0" dirty="0" err="1">
                <a:ln>
                  <a:noFill/>
                </a:ln>
                <a:solidFill>
                  <a:srgbClr val="8B96A6"/>
                </a:solidFill>
                <a:effectLst/>
                <a:uLnTx/>
                <a:uFillTx/>
                <a:latin typeface="Calibri" pitchFamily="34" charset="0"/>
                <a:ea typeface="Calibri" pitchFamily="34" charset="-122"/>
                <a:cs typeface="Calibri" pitchFamily="34" charset="-120"/>
              </a:rPr>
              <a:t>recognises</a:t>
            </a: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 the nuance and context of what makes us special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8B96A6"/>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We need help to </a:t>
            </a:r>
            <a:r>
              <a:rPr kumimoji="0" lang="en-US" sz="1050" b="0" i="0" u="none" strike="noStrike" kern="1200" cap="none" spc="0" normalizeH="0" baseline="0" noProof="0" dirty="0" err="1">
                <a:ln>
                  <a:noFill/>
                </a:ln>
                <a:solidFill>
                  <a:srgbClr val="8B96A6"/>
                </a:solidFill>
                <a:effectLst/>
                <a:uLnTx/>
                <a:uFillTx/>
                <a:latin typeface="Calibri" pitchFamily="34" charset="0"/>
                <a:ea typeface="Calibri" pitchFamily="34" charset="-122"/>
                <a:cs typeface="Calibri" pitchFamily="34" charset="-120"/>
              </a:rPr>
              <a:t>recognise</a:t>
            </a:r>
            <a:r>
              <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 what works </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18">
            <a:extLst>
              <a:ext uri="{FF2B5EF4-FFF2-40B4-BE49-F238E27FC236}">
                <a16:creationId xmlns:a16="http://schemas.microsoft.com/office/drawing/2014/main" id="{C9EF842B-FA56-00CE-1BF0-6FF402BAF0E1}"/>
              </a:ext>
            </a:extLst>
          </p:cNvPr>
          <p:cNvSpPr/>
          <p:nvPr/>
        </p:nvSpPr>
        <p:spPr>
          <a:xfrm>
            <a:off x="4746342" y="3837243"/>
            <a:ext cx="1843499"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8B96A6"/>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8B96A6"/>
                </a:solidFill>
                <a:latin typeface="Calibri" pitchFamily="34" charset="0"/>
                <a:ea typeface="Calibri" pitchFamily="34" charset="-122"/>
                <a:cs typeface="Calibri" pitchFamily="34" charset="-120"/>
              </a:rPr>
              <a:t>Many studies are poorly done – we need ways to do them better and to connect with colleagues who are experts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16">
            <a:extLst>
              <a:ext uri="{FF2B5EF4-FFF2-40B4-BE49-F238E27FC236}">
                <a16:creationId xmlns:a16="http://schemas.microsoft.com/office/drawing/2014/main" id="{E948EEF9-99F1-8BB4-2CE4-4B0576EC0A88}"/>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2652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a:extLst>
            <a:ext uri="{FF2B5EF4-FFF2-40B4-BE49-F238E27FC236}">
              <a16:creationId xmlns:a16="http://schemas.microsoft.com/office/drawing/2014/main" id="{0951B1D8-C1FF-C144-8177-BD5EBFD298FD}"/>
            </a:ext>
          </a:extLst>
        </p:cNvPr>
        <p:cNvGrpSpPr/>
        <p:nvPr/>
      </p:nvGrpSpPr>
      <p:grpSpPr>
        <a:xfrm>
          <a:off x="0" y="0"/>
          <a:ext cx="0" cy="0"/>
          <a:chOff x="0" y="0"/>
          <a:chExt cx="0" cy="0"/>
        </a:xfrm>
      </p:grpSpPr>
      <p:sp>
        <p:nvSpPr>
          <p:cNvPr id="22" name="Google Shape;252;g2a58a5063d5_0_7">
            <a:extLst>
              <a:ext uri="{FF2B5EF4-FFF2-40B4-BE49-F238E27FC236}">
                <a16:creationId xmlns:a16="http://schemas.microsoft.com/office/drawing/2014/main" id="{CCC21702-4850-D46F-44D3-41DA54ED9969}"/>
              </a:ext>
            </a:extLst>
          </p:cNvPr>
          <p:cNvSpPr/>
          <p:nvPr/>
        </p:nvSpPr>
        <p:spPr>
          <a:xfrm>
            <a:off x="4436535" y="740625"/>
            <a:ext cx="204754" cy="4690773"/>
          </a:xfrm>
          <a:prstGeom prst="upDownArrow">
            <a:avLst>
              <a:gd name="adj1" fmla="val 50000"/>
              <a:gd name="adj2" fmla="val 50000"/>
            </a:avLst>
          </a:prstGeom>
          <a:solidFill>
            <a:srgbClr val="66FF33"/>
          </a:solidFill>
          <a:ln>
            <a:noFill/>
          </a:ln>
        </p:spPr>
        <p:txBody>
          <a:bodyPr spcFirstLastPara="1" wrap="square" lIns="34284" tIns="34284" rIns="34284" bIns="34284" anchor="ctr" anchorCtr="0">
            <a:noAutofit/>
          </a:bodyPr>
          <a:lstStyle/>
          <a:p>
            <a:pPr algn="ctr" defTabSz="342900">
              <a:buClr>
                <a:srgbClr val="000000"/>
              </a:buClr>
            </a:pPr>
            <a:endParaRPr sz="525" kern="0">
              <a:solidFill>
                <a:srgbClr val="000000"/>
              </a:solidFill>
              <a:latin typeface="Gill Sans"/>
              <a:ea typeface="Gill Sans"/>
              <a:cs typeface="Gill Sans"/>
              <a:sym typeface="Gill Sans"/>
            </a:endParaRPr>
          </a:p>
        </p:txBody>
      </p:sp>
      <p:sp>
        <p:nvSpPr>
          <p:cNvPr id="25" name="Google Shape;253;g2a58a5063d5_0_7">
            <a:extLst>
              <a:ext uri="{FF2B5EF4-FFF2-40B4-BE49-F238E27FC236}">
                <a16:creationId xmlns:a16="http://schemas.microsoft.com/office/drawing/2014/main" id="{0E52243B-4AF2-24BE-9832-8758444019BF}"/>
              </a:ext>
            </a:extLst>
          </p:cNvPr>
          <p:cNvSpPr/>
          <p:nvPr/>
        </p:nvSpPr>
        <p:spPr>
          <a:xfrm rot="5400000">
            <a:off x="4272061" y="-1664618"/>
            <a:ext cx="208691" cy="9385337"/>
          </a:xfrm>
          <a:prstGeom prst="upDownArrow">
            <a:avLst>
              <a:gd name="adj1" fmla="val 50000"/>
              <a:gd name="adj2" fmla="val 50000"/>
            </a:avLst>
          </a:prstGeom>
          <a:solidFill>
            <a:srgbClr val="66FF33"/>
          </a:solidFill>
          <a:ln>
            <a:noFill/>
          </a:ln>
        </p:spPr>
        <p:txBody>
          <a:bodyPr spcFirstLastPara="1" wrap="square" lIns="34284" tIns="34284" rIns="34284" bIns="34284" anchor="ctr" anchorCtr="0">
            <a:noAutofit/>
          </a:bodyPr>
          <a:lstStyle/>
          <a:p>
            <a:pPr algn="ctr" defTabSz="342900">
              <a:buClr>
                <a:srgbClr val="000000"/>
              </a:buClr>
            </a:pPr>
            <a:endParaRPr sz="525" kern="0">
              <a:solidFill>
                <a:srgbClr val="000000"/>
              </a:solidFill>
              <a:latin typeface="Gill Sans"/>
              <a:ea typeface="Gill Sans"/>
              <a:cs typeface="Gill Sans"/>
              <a:sym typeface="Gill Sans"/>
            </a:endParaRPr>
          </a:p>
        </p:txBody>
      </p:sp>
      <p:sp>
        <p:nvSpPr>
          <p:cNvPr id="26" name="Google Shape;254;g2a58a5063d5_0_7">
            <a:extLst>
              <a:ext uri="{FF2B5EF4-FFF2-40B4-BE49-F238E27FC236}">
                <a16:creationId xmlns:a16="http://schemas.microsoft.com/office/drawing/2014/main" id="{B630B701-CB2B-8091-4053-B91076E72C3D}"/>
              </a:ext>
            </a:extLst>
          </p:cNvPr>
          <p:cNvSpPr/>
          <p:nvPr/>
        </p:nvSpPr>
        <p:spPr>
          <a:xfrm>
            <a:off x="3941649" y="2117009"/>
            <a:ext cx="1159283" cy="1205343"/>
          </a:xfrm>
          <a:custGeom>
            <a:avLst/>
            <a:gdLst/>
            <a:ahLst/>
            <a:cxnLst/>
            <a:rect l="l" t="t" r="r" b="b"/>
            <a:pathLst>
              <a:path w="4952" h="4953" extrusionOk="0">
                <a:moveTo>
                  <a:pt x="4951" y="2476"/>
                </a:moveTo>
                <a:lnTo>
                  <a:pt x="4951" y="2476"/>
                </a:lnTo>
                <a:cubicBezTo>
                  <a:pt x="4951" y="3843"/>
                  <a:pt x="3844" y="4952"/>
                  <a:pt x="2476" y="4952"/>
                </a:cubicBezTo>
                <a:lnTo>
                  <a:pt x="2476" y="4952"/>
                </a:lnTo>
                <a:cubicBezTo>
                  <a:pt x="1108" y="4952"/>
                  <a:pt x="0" y="3843"/>
                  <a:pt x="0" y="2476"/>
                </a:cubicBezTo>
                <a:lnTo>
                  <a:pt x="0" y="2476"/>
                </a:lnTo>
                <a:cubicBezTo>
                  <a:pt x="0" y="1109"/>
                  <a:pt x="1108" y="0"/>
                  <a:pt x="2476" y="0"/>
                </a:cubicBezTo>
                <a:lnTo>
                  <a:pt x="2476" y="0"/>
                </a:lnTo>
                <a:cubicBezTo>
                  <a:pt x="3844" y="0"/>
                  <a:pt x="4951" y="1109"/>
                  <a:pt x="4951" y="2476"/>
                </a:cubicBezTo>
              </a:path>
            </a:pathLst>
          </a:custGeom>
          <a:solidFill>
            <a:schemeClr val="tx1"/>
          </a:solidFill>
          <a:ln>
            <a:noFill/>
          </a:ln>
        </p:spPr>
        <p:txBody>
          <a:bodyPr spcFirstLastPara="1" wrap="square" lIns="34284" tIns="17138" rIns="34284" bIns="17138" anchor="ctr" anchorCtr="0">
            <a:noAutofit/>
          </a:bodyPr>
          <a:lstStyle/>
          <a:p>
            <a:pPr defTabSz="342900">
              <a:buClr>
                <a:srgbClr val="000000"/>
              </a:buClr>
            </a:pPr>
            <a:endParaRPr sz="2449" kern="0">
              <a:solidFill>
                <a:srgbClr val="000000"/>
              </a:solidFill>
              <a:latin typeface="Lato Light"/>
              <a:ea typeface="Lato Light"/>
              <a:cs typeface="Lato Light"/>
              <a:sym typeface="Lato Light"/>
            </a:endParaRPr>
          </a:p>
        </p:txBody>
      </p:sp>
      <p:sp>
        <p:nvSpPr>
          <p:cNvPr id="27" name="Google Shape;255;g2a58a5063d5_0_7">
            <a:extLst>
              <a:ext uri="{FF2B5EF4-FFF2-40B4-BE49-F238E27FC236}">
                <a16:creationId xmlns:a16="http://schemas.microsoft.com/office/drawing/2014/main" id="{A9A8437D-661B-4B7A-7532-EF124B8E7A44}"/>
              </a:ext>
            </a:extLst>
          </p:cNvPr>
          <p:cNvSpPr txBox="1"/>
          <p:nvPr/>
        </p:nvSpPr>
        <p:spPr>
          <a:xfrm>
            <a:off x="8200678" y="2283106"/>
            <a:ext cx="842475" cy="573309"/>
          </a:xfrm>
          <a:prstGeom prst="rect">
            <a:avLst/>
          </a:prstGeom>
          <a:noFill/>
          <a:ln>
            <a:noFill/>
          </a:ln>
        </p:spPr>
        <p:txBody>
          <a:bodyPr spcFirstLastPara="1" wrap="square" lIns="34284" tIns="34284" rIns="34284" bIns="34284" anchor="t" anchorCtr="0">
            <a:noAutofit/>
          </a:bodyPr>
          <a:lstStyle/>
          <a:p>
            <a:pPr defTabSz="342900">
              <a:buClr>
                <a:srgbClr val="000000"/>
              </a:buClr>
            </a:pPr>
            <a:r>
              <a:rPr lang="en-US" sz="1050" b="1" kern="0" dirty="0">
                <a:solidFill>
                  <a:srgbClr val="00B0F0"/>
                </a:solidFill>
                <a:latin typeface="Poppins" panose="00000500000000000000" pitchFamily="2" charset="0"/>
                <a:ea typeface="Gill Sans"/>
                <a:cs typeface="Poppins" panose="00000500000000000000" pitchFamily="2" charset="0"/>
                <a:sym typeface="Gill Sans"/>
              </a:rPr>
              <a:t>Number of Athletes Reached</a:t>
            </a:r>
            <a:endParaRPr sz="1050" b="1" kern="0" dirty="0">
              <a:solidFill>
                <a:srgbClr val="00B0F0"/>
              </a:solidFill>
              <a:latin typeface="Poppins" panose="00000500000000000000" pitchFamily="2" charset="0"/>
              <a:ea typeface="Gill Sans"/>
              <a:cs typeface="Poppins" panose="00000500000000000000" pitchFamily="2" charset="0"/>
              <a:sym typeface="Gill Sans"/>
            </a:endParaRPr>
          </a:p>
        </p:txBody>
      </p:sp>
      <p:sp>
        <p:nvSpPr>
          <p:cNvPr id="28" name="Google Shape;256;g2a58a5063d5_0_7">
            <a:extLst>
              <a:ext uri="{FF2B5EF4-FFF2-40B4-BE49-F238E27FC236}">
                <a16:creationId xmlns:a16="http://schemas.microsoft.com/office/drawing/2014/main" id="{EEDFCC40-4303-80EA-57D6-A0DC64AC1AD8}"/>
              </a:ext>
            </a:extLst>
          </p:cNvPr>
          <p:cNvSpPr/>
          <p:nvPr/>
        </p:nvSpPr>
        <p:spPr>
          <a:xfrm>
            <a:off x="3945268" y="2168495"/>
            <a:ext cx="1236241" cy="1205343"/>
          </a:xfrm>
          <a:custGeom>
            <a:avLst/>
            <a:gdLst/>
            <a:ahLst/>
            <a:cxnLst/>
            <a:rect l="l" t="t" r="r" b="b"/>
            <a:pathLst>
              <a:path w="4953" h="4953" extrusionOk="0">
                <a:moveTo>
                  <a:pt x="4952" y="2477"/>
                </a:moveTo>
                <a:lnTo>
                  <a:pt x="4952" y="2477"/>
                </a:lnTo>
                <a:cubicBezTo>
                  <a:pt x="4952" y="3845"/>
                  <a:pt x="3844" y="4952"/>
                  <a:pt x="2477" y="4952"/>
                </a:cubicBezTo>
                <a:lnTo>
                  <a:pt x="2477" y="4952"/>
                </a:lnTo>
                <a:cubicBezTo>
                  <a:pt x="1109" y="4952"/>
                  <a:pt x="0" y="3845"/>
                  <a:pt x="0" y="2477"/>
                </a:cubicBezTo>
                <a:lnTo>
                  <a:pt x="0" y="2477"/>
                </a:lnTo>
                <a:cubicBezTo>
                  <a:pt x="0" y="1109"/>
                  <a:pt x="1109" y="0"/>
                  <a:pt x="2477" y="0"/>
                </a:cubicBezTo>
                <a:lnTo>
                  <a:pt x="2477" y="0"/>
                </a:lnTo>
                <a:cubicBezTo>
                  <a:pt x="3844" y="0"/>
                  <a:pt x="4952" y="1109"/>
                  <a:pt x="4952" y="2477"/>
                </a:cubicBezTo>
              </a:path>
            </a:pathLst>
          </a:custGeom>
          <a:noFill/>
          <a:ln>
            <a:noFill/>
          </a:ln>
        </p:spPr>
        <p:txBody>
          <a:bodyPr spcFirstLastPara="1" wrap="square" lIns="34284" tIns="17138" rIns="34284" bIns="17138" anchor="ctr" anchorCtr="0">
            <a:noAutofit/>
          </a:bodyPr>
          <a:lstStyle/>
          <a:p>
            <a:pPr defTabSz="342900">
              <a:buClr>
                <a:srgbClr val="000000"/>
              </a:buClr>
            </a:pPr>
            <a:endParaRPr sz="2449" kern="0">
              <a:solidFill>
                <a:srgbClr val="000000"/>
              </a:solidFill>
              <a:latin typeface="Lato Light"/>
              <a:ea typeface="Lato Light"/>
              <a:cs typeface="Lato Light"/>
              <a:sym typeface="Lato Light"/>
            </a:endParaRPr>
          </a:p>
        </p:txBody>
      </p:sp>
      <p:sp>
        <p:nvSpPr>
          <p:cNvPr id="30" name="Google Shape;260;g2a58a5063d5_0_7">
            <a:extLst>
              <a:ext uri="{FF2B5EF4-FFF2-40B4-BE49-F238E27FC236}">
                <a16:creationId xmlns:a16="http://schemas.microsoft.com/office/drawing/2014/main" id="{C53CDC69-8A3C-9614-43D9-BB60E89CC3CB}"/>
              </a:ext>
            </a:extLst>
          </p:cNvPr>
          <p:cNvSpPr/>
          <p:nvPr/>
        </p:nvSpPr>
        <p:spPr>
          <a:xfrm>
            <a:off x="3905868" y="2097329"/>
            <a:ext cx="1275641" cy="1276504"/>
          </a:xfrm>
          <a:custGeom>
            <a:avLst/>
            <a:gdLst/>
            <a:ahLst/>
            <a:cxnLst/>
            <a:rect l="l" t="t" r="r" b="b"/>
            <a:pathLst>
              <a:path w="4953" h="4953" extrusionOk="0">
                <a:moveTo>
                  <a:pt x="2477" y="0"/>
                </a:moveTo>
                <a:lnTo>
                  <a:pt x="2477" y="0"/>
                </a:lnTo>
                <a:cubicBezTo>
                  <a:pt x="1109" y="0"/>
                  <a:pt x="0" y="1109"/>
                  <a:pt x="0" y="2477"/>
                </a:cubicBezTo>
                <a:lnTo>
                  <a:pt x="0" y="2477"/>
                </a:lnTo>
                <a:cubicBezTo>
                  <a:pt x="0" y="3845"/>
                  <a:pt x="1109" y="4952"/>
                  <a:pt x="2477" y="4952"/>
                </a:cubicBezTo>
                <a:lnTo>
                  <a:pt x="2477" y="4952"/>
                </a:lnTo>
                <a:cubicBezTo>
                  <a:pt x="3844" y="4952"/>
                  <a:pt x="4952" y="3845"/>
                  <a:pt x="4952" y="2477"/>
                </a:cubicBezTo>
                <a:lnTo>
                  <a:pt x="4952" y="2477"/>
                </a:lnTo>
                <a:cubicBezTo>
                  <a:pt x="4952" y="1109"/>
                  <a:pt x="3844" y="0"/>
                  <a:pt x="2477" y="0"/>
                </a:cubicBezTo>
                <a:close/>
                <a:moveTo>
                  <a:pt x="2477" y="453"/>
                </a:moveTo>
                <a:lnTo>
                  <a:pt x="2477" y="453"/>
                </a:lnTo>
                <a:cubicBezTo>
                  <a:pt x="3592" y="453"/>
                  <a:pt x="4500" y="1361"/>
                  <a:pt x="4500" y="2477"/>
                </a:cubicBezTo>
                <a:lnTo>
                  <a:pt x="4500" y="2477"/>
                </a:lnTo>
                <a:cubicBezTo>
                  <a:pt x="4500" y="3593"/>
                  <a:pt x="3592" y="4500"/>
                  <a:pt x="2477" y="4500"/>
                </a:cubicBezTo>
                <a:lnTo>
                  <a:pt x="2477" y="4500"/>
                </a:lnTo>
                <a:cubicBezTo>
                  <a:pt x="1360" y="4500"/>
                  <a:pt x="452" y="3593"/>
                  <a:pt x="452" y="2477"/>
                </a:cubicBezTo>
                <a:lnTo>
                  <a:pt x="452" y="2477"/>
                </a:lnTo>
                <a:cubicBezTo>
                  <a:pt x="452" y="1361"/>
                  <a:pt x="1360" y="453"/>
                  <a:pt x="2477" y="453"/>
                </a:cubicBezTo>
                <a:close/>
              </a:path>
            </a:pathLst>
          </a:custGeom>
          <a:solidFill>
            <a:srgbClr val="92D050"/>
          </a:solidFill>
          <a:ln>
            <a:solidFill>
              <a:schemeClr val="accent6">
                <a:lumMod val="60000"/>
                <a:lumOff val="40000"/>
              </a:schemeClr>
            </a:solidFill>
          </a:ln>
        </p:spPr>
        <p:txBody>
          <a:bodyPr spcFirstLastPara="1" wrap="square" lIns="34284" tIns="17138" rIns="34284" bIns="17138" anchor="ctr" anchorCtr="0">
            <a:noAutofit/>
          </a:bodyPr>
          <a:lstStyle/>
          <a:p>
            <a:pPr defTabSz="342900">
              <a:buClr>
                <a:srgbClr val="000000"/>
              </a:buClr>
            </a:pPr>
            <a:endParaRPr sz="2449" kern="0" dirty="0">
              <a:solidFill>
                <a:srgbClr val="000000"/>
              </a:solidFill>
              <a:latin typeface="Lato Light"/>
              <a:ea typeface="Lato Light"/>
              <a:cs typeface="Lato Light"/>
              <a:sym typeface="Lato Light"/>
            </a:endParaRPr>
          </a:p>
        </p:txBody>
      </p:sp>
      <p:sp>
        <p:nvSpPr>
          <p:cNvPr id="31" name="Google Shape;261;g2a58a5063d5_0_7">
            <a:extLst>
              <a:ext uri="{FF2B5EF4-FFF2-40B4-BE49-F238E27FC236}">
                <a16:creationId xmlns:a16="http://schemas.microsoft.com/office/drawing/2014/main" id="{2B9926A2-105C-52CC-7951-AE97EB2259A9}"/>
              </a:ext>
            </a:extLst>
          </p:cNvPr>
          <p:cNvSpPr txBox="1"/>
          <p:nvPr/>
        </p:nvSpPr>
        <p:spPr>
          <a:xfrm>
            <a:off x="3718733" y="2329129"/>
            <a:ext cx="1601325" cy="680942"/>
          </a:xfrm>
          <a:prstGeom prst="rect">
            <a:avLst/>
          </a:prstGeom>
          <a:grpFill/>
          <a:ln>
            <a:noFill/>
          </a:ln>
        </p:spPr>
        <p:txBody>
          <a:bodyPr spcFirstLastPara="1" wrap="square" lIns="34284" tIns="17138" rIns="34284" bIns="17138" anchor="t" anchorCtr="0">
            <a:spAutoFit/>
          </a:bodyPr>
          <a:lstStyle>
            <a:lvl1pPr algn="ctr" defTabSz="342900">
              <a:buClr>
                <a:srgbClr val="000000"/>
              </a:buClr>
              <a:buSzPts val="2800"/>
              <a:defRPr sz="1050" b="1" kern="0" cap="all">
                <a:solidFill>
                  <a:schemeClr val="accent6">
                    <a:lumMod val="60000"/>
                    <a:lumOff val="40000"/>
                  </a:schemeClr>
                </a:solidFill>
                <a:latin typeface="Poppins"/>
                <a:cs typeface="Poppins"/>
              </a:defRPr>
            </a:lvl1pPr>
          </a:lstStyle>
          <a:p>
            <a:r>
              <a:rPr lang="en-US" dirty="0">
                <a:sym typeface="Poppins"/>
              </a:rPr>
              <a:t>OTHER </a:t>
            </a:r>
          </a:p>
          <a:p>
            <a:r>
              <a:rPr lang="en-US" dirty="0">
                <a:sym typeface="Poppins"/>
              </a:rPr>
              <a:t>ATHLETES </a:t>
            </a:r>
            <a:endParaRPr dirty="0">
              <a:sym typeface="Arial"/>
            </a:endParaRPr>
          </a:p>
          <a:p>
            <a:r>
              <a:rPr lang="en-US" dirty="0">
                <a:sym typeface="Poppins"/>
              </a:rPr>
              <a:t>AND </a:t>
            </a:r>
          </a:p>
          <a:p>
            <a:r>
              <a:rPr lang="en-US" dirty="0">
                <a:sym typeface="Poppins"/>
              </a:rPr>
              <a:t>COACHES</a:t>
            </a:r>
            <a:endParaRPr dirty="0">
              <a:sym typeface="Arial"/>
            </a:endParaRPr>
          </a:p>
        </p:txBody>
      </p:sp>
      <p:sp>
        <p:nvSpPr>
          <p:cNvPr id="45" name="Google Shape;282;g2a58a5063d5_0_7">
            <a:extLst>
              <a:ext uri="{FF2B5EF4-FFF2-40B4-BE49-F238E27FC236}">
                <a16:creationId xmlns:a16="http://schemas.microsoft.com/office/drawing/2014/main" id="{0FF5AA88-4847-D78F-880E-18B57818C245}"/>
              </a:ext>
            </a:extLst>
          </p:cNvPr>
          <p:cNvSpPr/>
          <p:nvPr/>
        </p:nvSpPr>
        <p:spPr>
          <a:xfrm>
            <a:off x="7183433" y="3683115"/>
            <a:ext cx="1275641" cy="1276504"/>
          </a:xfrm>
          <a:custGeom>
            <a:avLst/>
            <a:gdLst/>
            <a:ahLst/>
            <a:cxnLst/>
            <a:rect l="l" t="t" r="r" b="b"/>
            <a:pathLst>
              <a:path w="4953" h="4953" extrusionOk="0">
                <a:moveTo>
                  <a:pt x="2477" y="0"/>
                </a:moveTo>
                <a:lnTo>
                  <a:pt x="2477" y="0"/>
                </a:lnTo>
                <a:cubicBezTo>
                  <a:pt x="1109" y="0"/>
                  <a:pt x="0" y="1109"/>
                  <a:pt x="0" y="2477"/>
                </a:cubicBezTo>
                <a:lnTo>
                  <a:pt x="0" y="2477"/>
                </a:lnTo>
                <a:cubicBezTo>
                  <a:pt x="0" y="3845"/>
                  <a:pt x="1109" y="4952"/>
                  <a:pt x="2477" y="4952"/>
                </a:cubicBezTo>
                <a:lnTo>
                  <a:pt x="2477" y="4952"/>
                </a:lnTo>
                <a:cubicBezTo>
                  <a:pt x="3844" y="4952"/>
                  <a:pt x="4952" y="3845"/>
                  <a:pt x="4952" y="2477"/>
                </a:cubicBezTo>
                <a:lnTo>
                  <a:pt x="4952" y="2477"/>
                </a:lnTo>
                <a:cubicBezTo>
                  <a:pt x="4952" y="1109"/>
                  <a:pt x="3844" y="0"/>
                  <a:pt x="2477" y="0"/>
                </a:cubicBezTo>
                <a:close/>
                <a:moveTo>
                  <a:pt x="2477" y="453"/>
                </a:moveTo>
                <a:lnTo>
                  <a:pt x="2477" y="453"/>
                </a:lnTo>
                <a:cubicBezTo>
                  <a:pt x="3592" y="453"/>
                  <a:pt x="4500" y="1361"/>
                  <a:pt x="4500" y="2477"/>
                </a:cubicBezTo>
                <a:lnTo>
                  <a:pt x="4500" y="2477"/>
                </a:lnTo>
                <a:cubicBezTo>
                  <a:pt x="4500" y="3593"/>
                  <a:pt x="3592" y="4500"/>
                  <a:pt x="2477" y="4500"/>
                </a:cubicBezTo>
                <a:lnTo>
                  <a:pt x="2477" y="4500"/>
                </a:lnTo>
                <a:cubicBezTo>
                  <a:pt x="1360" y="4500"/>
                  <a:pt x="452" y="3593"/>
                  <a:pt x="452" y="2477"/>
                </a:cubicBezTo>
                <a:lnTo>
                  <a:pt x="452" y="2477"/>
                </a:lnTo>
                <a:cubicBezTo>
                  <a:pt x="452" y="1361"/>
                  <a:pt x="1360" y="453"/>
                  <a:pt x="2477" y="453"/>
                </a:cubicBezTo>
                <a:close/>
              </a:path>
            </a:pathLst>
          </a:custGeom>
          <a:solidFill>
            <a:srgbClr val="92D050"/>
          </a:solidFill>
          <a:ln>
            <a:solidFill>
              <a:schemeClr val="accent6">
                <a:lumMod val="60000"/>
                <a:lumOff val="40000"/>
              </a:schemeClr>
            </a:solidFill>
          </a:ln>
        </p:spPr>
        <p:txBody>
          <a:bodyPr spcFirstLastPara="1" wrap="square" lIns="34284" tIns="17138" rIns="34284" bIns="17138" anchor="ctr" anchorCtr="0">
            <a:noAutofit/>
          </a:bodyPr>
          <a:lstStyle/>
          <a:p>
            <a:pPr defTabSz="342900">
              <a:buClr>
                <a:srgbClr val="000000"/>
              </a:buClr>
            </a:pPr>
            <a:endParaRPr sz="2449" kern="0">
              <a:solidFill>
                <a:srgbClr val="000000"/>
              </a:solidFill>
              <a:latin typeface="Lato Light"/>
              <a:ea typeface="Lato Light"/>
              <a:cs typeface="Lato Light"/>
              <a:sym typeface="Lato Light"/>
            </a:endParaRPr>
          </a:p>
        </p:txBody>
      </p:sp>
      <p:sp>
        <p:nvSpPr>
          <p:cNvPr id="46" name="Google Shape;283;g2a58a5063d5_0_7">
            <a:extLst>
              <a:ext uri="{FF2B5EF4-FFF2-40B4-BE49-F238E27FC236}">
                <a16:creationId xmlns:a16="http://schemas.microsoft.com/office/drawing/2014/main" id="{93407826-C898-774D-B8ED-FA5EC144D5CB}"/>
              </a:ext>
            </a:extLst>
          </p:cNvPr>
          <p:cNvSpPr txBox="1"/>
          <p:nvPr/>
        </p:nvSpPr>
        <p:spPr>
          <a:xfrm>
            <a:off x="7020591" y="4127392"/>
            <a:ext cx="1601325" cy="357776"/>
          </a:xfrm>
          <a:prstGeom prst="rect">
            <a:avLst/>
          </a:prstGeom>
          <a:noFill/>
          <a:ln>
            <a:noFill/>
          </a:ln>
        </p:spPr>
        <p:txBody>
          <a:bodyPr spcFirstLastPara="1" wrap="square" lIns="34284" tIns="17138" rIns="34284" bIns="17138" anchor="b" anchorCtr="0">
            <a:spAutoFit/>
          </a:bodyPr>
          <a:lstStyle>
            <a:defPPr marR="0" lvl="0" algn="l" rtl="0">
              <a:lnSpc>
                <a:spcPct val="100000"/>
              </a:lnSpc>
              <a:spcBef>
                <a:spcPts val="0"/>
              </a:spcBef>
              <a:spcAft>
                <a:spcPts val="0"/>
              </a:spcAft>
            </a:defPPr>
            <a:lvl1pPr marL="0" indent="0" algn="ctr">
              <a:buClr>
                <a:schemeClr val="dk2"/>
              </a:buClr>
              <a:buSzPts val="2800"/>
              <a:buNone/>
              <a:defRPr sz="1800" b="1">
                <a:solidFill>
                  <a:schemeClr val="dk2"/>
                </a:solidFill>
                <a:latin typeface="Poppins"/>
                <a:ea typeface="Poppins"/>
                <a:cs typeface="Poppins"/>
              </a:defRPr>
            </a:lvl1pPr>
          </a:lstStyle>
          <a:p>
            <a:pPr defTabSz="342900">
              <a:buClr>
                <a:srgbClr val="454545"/>
              </a:buClr>
            </a:pPr>
            <a:r>
              <a:rPr lang="en-US" sz="1050" kern="0" cap="all" dirty="0">
                <a:solidFill>
                  <a:schemeClr val="accent6">
                    <a:lumMod val="60000"/>
                    <a:lumOff val="40000"/>
                  </a:schemeClr>
                </a:solidFill>
                <a:sym typeface="Poppins"/>
              </a:rPr>
              <a:t>Social Media </a:t>
            </a:r>
            <a:endParaRPr sz="1050" kern="0" cap="all" dirty="0">
              <a:solidFill>
                <a:schemeClr val="accent6">
                  <a:lumMod val="60000"/>
                  <a:lumOff val="40000"/>
                </a:schemeClr>
              </a:solidFill>
              <a:sym typeface="Poppins"/>
            </a:endParaRPr>
          </a:p>
          <a:p>
            <a:pPr defTabSz="342900">
              <a:buClr>
                <a:srgbClr val="454545"/>
              </a:buClr>
            </a:pPr>
            <a:r>
              <a:rPr lang="en-US" sz="1050" kern="0" cap="all" dirty="0">
                <a:solidFill>
                  <a:schemeClr val="accent6">
                    <a:lumMod val="60000"/>
                    <a:lumOff val="40000"/>
                  </a:schemeClr>
                </a:solidFill>
                <a:sym typeface="Poppins"/>
              </a:rPr>
              <a:t>Influencers</a:t>
            </a:r>
            <a:endParaRPr sz="1050" kern="0" cap="all" dirty="0">
              <a:solidFill>
                <a:schemeClr val="accent6">
                  <a:lumMod val="60000"/>
                  <a:lumOff val="40000"/>
                </a:schemeClr>
              </a:solidFill>
              <a:sym typeface="Arial"/>
            </a:endParaRPr>
          </a:p>
        </p:txBody>
      </p:sp>
      <p:sp>
        <p:nvSpPr>
          <p:cNvPr id="47" name="Google Shape;284;g2a58a5063d5_0_7">
            <a:extLst>
              <a:ext uri="{FF2B5EF4-FFF2-40B4-BE49-F238E27FC236}">
                <a16:creationId xmlns:a16="http://schemas.microsoft.com/office/drawing/2014/main" id="{3970DF55-A8DB-814E-4323-C98B2A7A616F}"/>
              </a:ext>
            </a:extLst>
          </p:cNvPr>
          <p:cNvSpPr txBox="1"/>
          <p:nvPr/>
        </p:nvSpPr>
        <p:spPr>
          <a:xfrm>
            <a:off x="7077169" y="3116960"/>
            <a:ext cx="1672157" cy="842524"/>
          </a:xfrm>
          <a:prstGeom prst="rect">
            <a:avLst/>
          </a:prstGeom>
          <a:noFill/>
          <a:ln>
            <a:noFill/>
          </a:ln>
        </p:spPr>
        <p:txBody>
          <a:bodyPr spcFirstLastPara="1" wrap="square" lIns="34284" tIns="34284" rIns="34284" bIns="34284" anchor="t" anchorCtr="0">
            <a:noAutofit/>
          </a:bodyPr>
          <a:lstStyle>
            <a:defPPr marR="0" lvl="0" algn="l" rtl="0">
              <a:lnSpc>
                <a:spcPct val="100000"/>
              </a:lnSpc>
              <a:spcBef>
                <a:spcPts val="0"/>
              </a:spcBef>
              <a:spcAft>
                <a:spcPts val="0"/>
              </a:spcAft>
              <a:defRPr/>
            </a:defPPr>
            <a:lvl1pPr defTabSz="342900">
              <a:buClr>
                <a:srgbClr val="000000"/>
              </a:buClr>
              <a:defRPr sz="1050" b="1" kern="0">
                <a:solidFill>
                  <a:schemeClr val="bg1"/>
                </a:solidFill>
                <a:latin typeface="Poppins" panose="00000500000000000000" pitchFamily="2" charset="0"/>
                <a:ea typeface="Gill Sans"/>
                <a:cs typeface="Poppins" panose="00000500000000000000" pitchFamily="2" charset="0"/>
              </a:defRPr>
            </a:lvl1pPr>
          </a:lstStyle>
          <a:p>
            <a:r>
              <a:rPr lang="en-US" sz="1000" dirty="0">
                <a:sym typeface="Poppins"/>
              </a:rPr>
              <a:t>Often misinformation,</a:t>
            </a:r>
            <a:endParaRPr sz="1000" dirty="0">
              <a:sym typeface="Poppins"/>
            </a:endParaRPr>
          </a:p>
          <a:p>
            <a:r>
              <a:rPr lang="en-US" sz="1000" dirty="0">
                <a:sym typeface="Poppins"/>
              </a:rPr>
              <a:t>Spreads dangerously quickly</a:t>
            </a:r>
            <a:endParaRPr sz="1000" dirty="0">
              <a:sym typeface="Poppins"/>
            </a:endParaRPr>
          </a:p>
        </p:txBody>
      </p:sp>
      <p:sp>
        <p:nvSpPr>
          <p:cNvPr id="48" name="Google Shape;285;g2a58a5063d5_0_7">
            <a:extLst>
              <a:ext uri="{FF2B5EF4-FFF2-40B4-BE49-F238E27FC236}">
                <a16:creationId xmlns:a16="http://schemas.microsoft.com/office/drawing/2014/main" id="{FBC2B45B-3F53-311F-D897-F480B67D4BCC}"/>
              </a:ext>
            </a:extLst>
          </p:cNvPr>
          <p:cNvSpPr txBox="1"/>
          <p:nvPr/>
        </p:nvSpPr>
        <p:spPr>
          <a:xfrm>
            <a:off x="4633989" y="668984"/>
            <a:ext cx="950043" cy="361013"/>
          </a:xfrm>
          <a:prstGeom prst="rect">
            <a:avLst/>
          </a:prstGeom>
          <a:noFill/>
          <a:ln>
            <a:noFill/>
          </a:ln>
        </p:spPr>
        <p:txBody>
          <a:bodyPr spcFirstLastPara="1" wrap="square" lIns="34284" tIns="34284" rIns="34284" bIns="34284" anchor="t" anchorCtr="0">
            <a:noAutofit/>
          </a:bodyPr>
          <a:lstStyle>
            <a:defPPr marR="0" lvl="0" algn="l" rtl="0">
              <a:lnSpc>
                <a:spcPct val="100000"/>
              </a:lnSpc>
              <a:spcBef>
                <a:spcPts val="0"/>
              </a:spcBef>
              <a:spcAft>
                <a:spcPts val="0"/>
              </a:spcAft>
            </a:defPPr>
            <a:lvl1pPr defTabSz="342900">
              <a:buClr>
                <a:srgbClr val="000000"/>
              </a:buClr>
              <a:defRPr sz="1050" b="1" kern="0">
                <a:solidFill>
                  <a:schemeClr val="bg1"/>
                </a:solidFill>
                <a:latin typeface="Poppins" panose="00000500000000000000" pitchFamily="2" charset="0"/>
                <a:ea typeface="Gill Sans"/>
                <a:cs typeface="Poppins" panose="00000500000000000000" pitchFamily="2" charset="0"/>
              </a:defRPr>
            </a:lvl1pPr>
          </a:lstStyle>
          <a:p>
            <a:r>
              <a:rPr lang="en-US" dirty="0">
                <a:solidFill>
                  <a:srgbClr val="00B0F0"/>
                </a:solidFill>
                <a:sym typeface="Gill Sans"/>
              </a:rPr>
              <a:t>Information </a:t>
            </a:r>
            <a:endParaRPr dirty="0">
              <a:solidFill>
                <a:srgbClr val="00B0F0"/>
              </a:solidFill>
              <a:sym typeface="Gill Sans"/>
            </a:endParaRPr>
          </a:p>
          <a:p>
            <a:r>
              <a:rPr lang="en-US" dirty="0">
                <a:solidFill>
                  <a:srgbClr val="00B0F0"/>
                </a:solidFill>
                <a:sym typeface="Gill Sans"/>
              </a:rPr>
              <a:t>Quality</a:t>
            </a:r>
            <a:endParaRPr dirty="0">
              <a:solidFill>
                <a:srgbClr val="00B0F0"/>
              </a:solidFill>
              <a:sym typeface="Gill Sans"/>
            </a:endParaRPr>
          </a:p>
        </p:txBody>
      </p:sp>
      <p:grpSp>
        <p:nvGrpSpPr>
          <p:cNvPr id="49" name="Google Shape;286;g2a58a5063d5_0_7">
            <a:extLst>
              <a:ext uri="{FF2B5EF4-FFF2-40B4-BE49-F238E27FC236}">
                <a16:creationId xmlns:a16="http://schemas.microsoft.com/office/drawing/2014/main" id="{00986213-7A17-7410-3C1B-D761F1B013BF}"/>
              </a:ext>
            </a:extLst>
          </p:cNvPr>
          <p:cNvGrpSpPr/>
          <p:nvPr/>
        </p:nvGrpSpPr>
        <p:grpSpPr>
          <a:xfrm>
            <a:off x="148614" y="748940"/>
            <a:ext cx="3108575" cy="1986801"/>
            <a:chOff x="6830718" y="1524041"/>
            <a:chExt cx="7387543" cy="4964032"/>
          </a:xfrm>
          <a:solidFill>
            <a:srgbClr val="66FF33"/>
          </a:solidFill>
        </p:grpSpPr>
        <p:sp>
          <p:nvSpPr>
            <p:cNvPr id="50" name="Google Shape;287;g2a58a5063d5_0_7">
              <a:extLst>
                <a:ext uri="{FF2B5EF4-FFF2-40B4-BE49-F238E27FC236}">
                  <a16:creationId xmlns:a16="http://schemas.microsoft.com/office/drawing/2014/main" id="{47BEF6FE-6ADE-FCA7-DD3B-BBC3594A2672}"/>
                </a:ext>
              </a:extLst>
            </p:cNvPr>
            <p:cNvSpPr/>
            <p:nvPr/>
          </p:nvSpPr>
          <p:spPr>
            <a:xfrm>
              <a:off x="10118850" y="2838250"/>
              <a:ext cx="3091420" cy="2875204"/>
            </a:xfrm>
            <a:custGeom>
              <a:avLst/>
              <a:gdLst/>
              <a:ahLst/>
              <a:cxnLst/>
              <a:rect l="l" t="t" r="r" b="b"/>
              <a:pathLst>
                <a:path w="4954" h="4953" extrusionOk="0">
                  <a:moveTo>
                    <a:pt x="4953" y="2476"/>
                  </a:moveTo>
                  <a:lnTo>
                    <a:pt x="4953" y="2476"/>
                  </a:lnTo>
                  <a:cubicBezTo>
                    <a:pt x="4953" y="3843"/>
                    <a:pt x="3844" y="4952"/>
                    <a:pt x="2477" y="4952"/>
                  </a:cubicBezTo>
                  <a:lnTo>
                    <a:pt x="2477" y="4952"/>
                  </a:lnTo>
                  <a:cubicBezTo>
                    <a:pt x="1109" y="4952"/>
                    <a:pt x="0" y="3843"/>
                    <a:pt x="0" y="2476"/>
                  </a:cubicBezTo>
                  <a:lnTo>
                    <a:pt x="0" y="2476"/>
                  </a:lnTo>
                  <a:cubicBezTo>
                    <a:pt x="0" y="1109"/>
                    <a:pt x="1109" y="0"/>
                    <a:pt x="2477" y="0"/>
                  </a:cubicBezTo>
                  <a:lnTo>
                    <a:pt x="2477" y="0"/>
                  </a:lnTo>
                  <a:cubicBezTo>
                    <a:pt x="3844" y="0"/>
                    <a:pt x="4953" y="1109"/>
                    <a:pt x="4953" y="2476"/>
                  </a:cubicBezTo>
                </a:path>
              </a:pathLst>
            </a:custGeom>
            <a:noFill/>
            <a:ln>
              <a:noFill/>
            </a:ln>
          </p:spPr>
          <p:txBody>
            <a:bodyPr spcFirstLastPara="1" wrap="square" lIns="34284" tIns="34284" rIns="34284" bIns="34284" anchor="t" anchorCtr="0">
              <a:noAutofit/>
            </a:bodyPr>
            <a:lstStyle/>
            <a:p>
              <a:pPr defTabSz="342900">
                <a:buClr>
                  <a:srgbClr val="000000"/>
                </a:buClr>
              </a:pPr>
              <a:endParaRPr sz="1050" b="1" kern="0">
                <a:solidFill>
                  <a:schemeClr val="bg1"/>
                </a:solidFill>
                <a:latin typeface="Poppins" panose="00000500000000000000" pitchFamily="2" charset="0"/>
                <a:cs typeface="Poppins" panose="00000500000000000000" pitchFamily="2" charset="0"/>
                <a:sym typeface="Lato Light"/>
              </a:endParaRPr>
            </a:p>
          </p:txBody>
        </p:sp>
        <p:grpSp>
          <p:nvGrpSpPr>
            <p:cNvPr id="51" name="Google Shape;288;g2a58a5063d5_0_7">
              <a:extLst>
                <a:ext uri="{FF2B5EF4-FFF2-40B4-BE49-F238E27FC236}">
                  <a16:creationId xmlns:a16="http://schemas.microsoft.com/office/drawing/2014/main" id="{B7775D0B-4012-EA52-A090-E419B8679209}"/>
                </a:ext>
              </a:extLst>
            </p:cNvPr>
            <p:cNvGrpSpPr/>
            <p:nvPr/>
          </p:nvGrpSpPr>
          <p:grpSpPr>
            <a:xfrm>
              <a:off x="6830718" y="1524041"/>
              <a:ext cx="7387543" cy="4964032"/>
              <a:chOff x="8945893" y="949491"/>
              <a:chExt cx="7387543" cy="4964032"/>
            </a:xfrm>
            <a:grpFill/>
          </p:grpSpPr>
          <p:sp>
            <p:nvSpPr>
              <p:cNvPr id="53" name="Google Shape;289;g2a58a5063d5_0_7">
                <a:extLst>
                  <a:ext uri="{FF2B5EF4-FFF2-40B4-BE49-F238E27FC236}">
                    <a16:creationId xmlns:a16="http://schemas.microsoft.com/office/drawing/2014/main" id="{0091B829-9076-5AB2-F156-8AE8B0FFDFE2}"/>
                  </a:ext>
                </a:extLst>
              </p:cNvPr>
              <p:cNvSpPr/>
              <p:nvPr/>
            </p:nvSpPr>
            <p:spPr>
              <a:xfrm>
                <a:off x="12118975" y="2180689"/>
                <a:ext cx="3331062" cy="3072321"/>
              </a:xfrm>
              <a:custGeom>
                <a:avLst/>
                <a:gdLst/>
                <a:ahLst/>
                <a:cxnLst/>
                <a:rect l="l" t="t" r="r" b="b"/>
                <a:pathLst>
                  <a:path w="4952" h="4953" extrusionOk="0">
                    <a:moveTo>
                      <a:pt x="4951" y="2477"/>
                    </a:moveTo>
                    <a:lnTo>
                      <a:pt x="4951" y="2477"/>
                    </a:lnTo>
                    <a:cubicBezTo>
                      <a:pt x="4951" y="3845"/>
                      <a:pt x="3843" y="4952"/>
                      <a:pt x="2475" y="4952"/>
                    </a:cubicBezTo>
                    <a:lnTo>
                      <a:pt x="2475" y="4952"/>
                    </a:lnTo>
                    <a:cubicBezTo>
                      <a:pt x="1108" y="4952"/>
                      <a:pt x="0" y="3845"/>
                      <a:pt x="0" y="2477"/>
                    </a:cubicBezTo>
                    <a:lnTo>
                      <a:pt x="0" y="2477"/>
                    </a:lnTo>
                    <a:cubicBezTo>
                      <a:pt x="0" y="1109"/>
                      <a:pt x="1108" y="0"/>
                      <a:pt x="2475" y="0"/>
                    </a:cubicBezTo>
                    <a:lnTo>
                      <a:pt x="2475" y="0"/>
                    </a:lnTo>
                    <a:cubicBezTo>
                      <a:pt x="3843" y="0"/>
                      <a:pt x="4951" y="1109"/>
                      <a:pt x="4951" y="2477"/>
                    </a:cubicBezTo>
                  </a:path>
                </a:pathLst>
              </a:custGeom>
              <a:noFill/>
              <a:ln>
                <a:noFill/>
              </a:ln>
            </p:spPr>
            <p:txBody>
              <a:bodyPr spcFirstLastPara="1" wrap="square" lIns="34284" tIns="34284" rIns="34284" bIns="34284" anchor="t" anchorCtr="0">
                <a:noAutofit/>
              </a:bodyPr>
              <a:lstStyle/>
              <a:p>
                <a:pPr defTabSz="342900">
                  <a:buClr>
                    <a:srgbClr val="000000"/>
                  </a:buClr>
                </a:pPr>
                <a:endParaRPr sz="1050" b="1" kern="0">
                  <a:solidFill>
                    <a:schemeClr val="bg1"/>
                  </a:solidFill>
                  <a:latin typeface="Poppins" panose="00000500000000000000" pitchFamily="2" charset="0"/>
                  <a:cs typeface="Poppins" panose="00000500000000000000" pitchFamily="2" charset="0"/>
                  <a:sym typeface="Lato Light"/>
                </a:endParaRPr>
              </a:p>
            </p:txBody>
          </p:sp>
          <p:sp>
            <p:nvSpPr>
              <p:cNvPr id="54" name="Google Shape;290;g2a58a5063d5_0_7">
                <a:extLst>
                  <a:ext uri="{FF2B5EF4-FFF2-40B4-BE49-F238E27FC236}">
                    <a16:creationId xmlns:a16="http://schemas.microsoft.com/office/drawing/2014/main" id="{D807D36D-E17B-45F9-19E3-D4051F481B9F}"/>
                  </a:ext>
                </a:extLst>
              </p:cNvPr>
              <p:cNvSpPr txBox="1"/>
              <p:nvPr/>
            </p:nvSpPr>
            <p:spPr>
              <a:xfrm>
                <a:off x="13143230" y="3189980"/>
                <a:ext cx="2993491" cy="488298"/>
              </a:xfrm>
              <a:prstGeom prst="rect">
                <a:avLst/>
              </a:prstGeom>
              <a:noFill/>
              <a:ln>
                <a:noFill/>
              </a:ln>
            </p:spPr>
            <p:txBody>
              <a:bodyPr spcFirstLastPara="1" wrap="square" lIns="34284" tIns="34284" rIns="34284" bIns="34284" anchor="t" anchorCtr="0">
                <a:noAutofit/>
              </a:bodyPr>
              <a:lstStyle>
                <a:lvl1pPr defTabSz="342900">
                  <a:buClr>
                    <a:srgbClr val="000000"/>
                  </a:buClr>
                  <a:defRPr sz="1050" b="1" kern="0">
                    <a:solidFill>
                      <a:schemeClr val="bg1"/>
                    </a:solidFill>
                    <a:latin typeface="Poppins" panose="00000500000000000000" pitchFamily="2" charset="0"/>
                    <a:ea typeface="Gill Sans"/>
                    <a:cs typeface="Poppins" panose="00000500000000000000" pitchFamily="2" charset="0"/>
                  </a:defRPr>
                </a:lvl1pPr>
              </a:lstStyle>
              <a:p>
                <a:r>
                  <a:rPr lang="en-US" cap="all" dirty="0">
                    <a:solidFill>
                      <a:schemeClr val="accent6">
                        <a:lumMod val="60000"/>
                        <a:lumOff val="40000"/>
                      </a:schemeClr>
                    </a:solidFill>
                    <a:latin typeface="Poppins"/>
                    <a:cs typeface="Poppins"/>
                    <a:sym typeface="Poppins"/>
                  </a:rPr>
                  <a:t>SCIENTISTS</a:t>
                </a:r>
                <a:r>
                  <a:rPr lang="en-US" dirty="0">
                    <a:solidFill>
                      <a:schemeClr val="accent6">
                        <a:lumMod val="60000"/>
                        <a:lumOff val="40000"/>
                      </a:schemeClr>
                    </a:solidFill>
                    <a:sym typeface="Poppins"/>
                  </a:rPr>
                  <a:t>,</a:t>
                </a:r>
                <a:endParaRPr dirty="0">
                  <a:solidFill>
                    <a:schemeClr val="accent6">
                      <a:lumMod val="60000"/>
                      <a:lumOff val="40000"/>
                    </a:schemeClr>
                  </a:solidFill>
                  <a:sym typeface="Arial"/>
                </a:endParaRPr>
              </a:p>
              <a:p>
                <a:r>
                  <a:rPr lang="en-US" dirty="0">
                    <a:solidFill>
                      <a:schemeClr val="accent6">
                        <a:lumMod val="60000"/>
                        <a:lumOff val="40000"/>
                      </a:schemeClr>
                    </a:solidFill>
                    <a:sym typeface="Poppins"/>
                  </a:rPr>
                  <a:t>DOCTORS, DIETITIANS</a:t>
                </a:r>
                <a:endParaRPr dirty="0">
                  <a:solidFill>
                    <a:schemeClr val="accent6">
                      <a:lumMod val="60000"/>
                      <a:lumOff val="40000"/>
                    </a:schemeClr>
                  </a:solidFill>
                  <a:sym typeface="Arial"/>
                </a:endParaRPr>
              </a:p>
            </p:txBody>
          </p:sp>
          <p:sp>
            <p:nvSpPr>
              <p:cNvPr id="55" name="Google Shape;292;g2a58a5063d5_0_7">
                <a:extLst>
                  <a:ext uri="{FF2B5EF4-FFF2-40B4-BE49-F238E27FC236}">
                    <a16:creationId xmlns:a16="http://schemas.microsoft.com/office/drawing/2014/main" id="{0AB220ED-9E99-0339-7432-F1F664DFA849}"/>
                  </a:ext>
                </a:extLst>
              </p:cNvPr>
              <p:cNvSpPr/>
              <p:nvPr/>
            </p:nvSpPr>
            <p:spPr>
              <a:xfrm>
                <a:off x="8945893" y="2852952"/>
                <a:ext cx="3317641" cy="3060571"/>
              </a:xfrm>
              <a:custGeom>
                <a:avLst/>
                <a:gdLst/>
                <a:ahLst/>
                <a:cxnLst/>
                <a:rect l="l" t="t" r="r" b="b"/>
                <a:pathLst>
                  <a:path w="4952" h="4953" extrusionOk="0">
                    <a:moveTo>
                      <a:pt x="2475" y="0"/>
                    </a:moveTo>
                    <a:lnTo>
                      <a:pt x="2475" y="0"/>
                    </a:lnTo>
                    <a:cubicBezTo>
                      <a:pt x="1108" y="0"/>
                      <a:pt x="0" y="1109"/>
                      <a:pt x="0" y="2477"/>
                    </a:cubicBezTo>
                    <a:lnTo>
                      <a:pt x="0" y="2477"/>
                    </a:lnTo>
                    <a:cubicBezTo>
                      <a:pt x="0" y="3845"/>
                      <a:pt x="1108" y="4952"/>
                      <a:pt x="2475" y="4952"/>
                    </a:cubicBezTo>
                    <a:lnTo>
                      <a:pt x="2475" y="4952"/>
                    </a:lnTo>
                    <a:cubicBezTo>
                      <a:pt x="3843" y="4952"/>
                      <a:pt x="4951" y="3845"/>
                      <a:pt x="4951" y="2477"/>
                    </a:cubicBezTo>
                    <a:lnTo>
                      <a:pt x="4951" y="2477"/>
                    </a:lnTo>
                    <a:cubicBezTo>
                      <a:pt x="4951" y="1109"/>
                      <a:pt x="3843" y="0"/>
                      <a:pt x="2475" y="0"/>
                    </a:cubicBezTo>
                    <a:close/>
                    <a:moveTo>
                      <a:pt x="2475" y="453"/>
                    </a:moveTo>
                    <a:lnTo>
                      <a:pt x="2475" y="453"/>
                    </a:lnTo>
                    <a:cubicBezTo>
                      <a:pt x="3591" y="453"/>
                      <a:pt x="4499" y="1361"/>
                      <a:pt x="4499" y="2477"/>
                    </a:cubicBezTo>
                    <a:lnTo>
                      <a:pt x="4499" y="2477"/>
                    </a:lnTo>
                    <a:cubicBezTo>
                      <a:pt x="4499" y="3593"/>
                      <a:pt x="3591" y="4500"/>
                      <a:pt x="2475" y="4500"/>
                    </a:cubicBezTo>
                    <a:lnTo>
                      <a:pt x="2475" y="4500"/>
                    </a:lnTo>
                    <a:cubicBezTo>
                      <a:pt x="1359" y="4500"/>
                      <a:pt x="452" y="3593"/>
                      <a:pt x="452" y="2477"/>
                    </a:cubicBezTo>
                    <a:lnTo>
                      <a:pt x="452" y="2477"/>
                    </a:lnTo>
                    <a:cubicBezTo>
                      <a:pt x="452" y="1361"/>
                      <a:pt x="1359" y="453"/>
                      <a:pt x="2475" y="453"/>
                    </a:cubicBezTo>
                    <a:close/>
                  </a:path>
                </a:pathLst>
              </a:custGeom>
              <a:noFill/>
              <a:ln>
                <a:noFill/>
              </a:ln>
            </p:spPr>
            <p:txBody>
              <a:bodyPr spcFirstLastPara="1" wrap="square" lIns="34284" tIns="34284" rIns="34284" bIns="34284" anchor="t" anchorCtr="0">
                <a:noAutofit/>
              </a:bodyPr>
              <a:lstStyle/>
              <a:p>
                <a:pPr defTabSz="342900">
                  <a:buClr>
                    <a:srgbClr val="000000"/>
                  </a:buClr>
                </a:pPr>
                <a:endParaRPr sz="1050" b="1" kern="0" dirty="0">
                  <a:solidFill>
                    <a:schemeClr val="bg1"/>
                  </a:solidFill>
                  <a:latin typeface="Poppins" panose="00000500000000000000" pitchFamily="2" charset="0"/>
                  <a:cs typeface="Poppins" panose="00000500000000000000" pitchFamily="2" charset="0"/>
                  <a:sym typeface="Lato Light"/>
                </a:endParaRPr>
              </a:p>
            </p:txBody>
          </p:sp>
          <p:sp>
            <p:nvSpPr>
              <p:cNvPr id="56" name="Google Shape;293;g2a58a5063d5_0_7">
                <a:extLst>
                  <a:ext uri="{FF2B5EF4-FFF2-40B4-BE49-F238E27FC236}">
                    <a16:creationId xmlns:a16="http://schemas.microsoft.com/office/drawing/2014/main" id="{25BBE0C0-DF51-3D9C-67D0-20381691C728}"/>
                  </a:ext>
                </a:extLst>
              </p:cNvPr>
              <p:cNvSpPr txBox="1"/>
              <p:nvPr/>
            </p:nvSpPr>
            <p:spPr>
              <a:xfrm>
                <a:off x="11907935" y="949491"/>
                <a:ext cx="4425501" cy="404523"/>
              </a:xfrm>
              <a:prstGeom prst="rect">
                <a:avLst/>
              </a:prstGeom>
              <a:noFill/>
              <a:ln>
                <a:noFill/>
              </a:ln>
            </p:spPr>
            <p:txBody>
              <a:bodyPr spcFirstLastPara="1" wrap="square" lIns="34284" tIns="34284" rIns="34284" bIns="34284" anchor="t" anchorCtr="0">
                <a:noAutofit/>
              </a:bodyPr>
              <a:lstStyle>
                <a:lvl1pPr defTabSz="342900">
                  <a:buClr>
                    <a:srgbClr val="000000"/>
                  </a:buClr>
                  <a:defRPr sz="1050" b="1" kern="0">
                    <a:solidFill>
                      <a:schemeClr val="bg1"/>
                    </a:solidFill>
                    <a:latin typeface="Poppins" panose="00000500000000000000" pitchFamily="2" charset="0"/>
                    <a:ea typeface="Gill Sans"/>
                    <a:cs typeface="Poppins" panose="00000500000000000000" pitchFamily="2" charset="0"/>
                  </a:defRPr>
                </a:lvl1pPr>
              </a:lstStyle>
              <a:p>
                <a:r>
                  <a:rPr lang="en-US" sz="1000" dirty="0">
                    <a:sym typeface="Poppins"/>
                  </a:rPr>
                  <a:t>Usually cautious,</a:t>
                </a:r>
                <a:endParaRPr sz="1000" dirty="0">
                  <a:sym typeface="Arial"/>
                </a:endParaRPr>
              </a:p>
              <a:p>
                <a:r>
                  <a:rPr lang="en-US" sz="1000" dirty="0">
                    <a:sym typeface="Poppins"/>
                  </a:rPr>
                  <a:t>focused on evidence base</a:t>
                </a:r>
                <a:endParaRPr sz="1000" dirty="0">
                  <a:sym typeface="Arial"/>
                </a:endParaRPr>
              </a:p>
            </p:txBody>
          </p:sp>
        </p:grpSp>
        <p:sp>
          <p:nvSpPr>
            <p:cNvPr id="52" name="Google Shape;294;g2a58a5063d5_0_7">
              <a:extLst>
                <a:ext uri="{FF2B5EF4-FFF2-40B4-BE49-F238E27FC236}">
                  <a16:creationId xmlns:a16="http://schemas.microsoft.com/office/drawing/2014/main" id="{1F4070E6-BD0C-243C-424A-DDC59EE05F6E}"/>
                </a:ext>
              </a:extLst>
            </p:cNvPr>
            <p:cNvSpPr/>
            <p:nvPr/>
          </p:nvSpPr>
          <p:spPr>
            <a:xfrm>
              <a:off x="10038200" y="2838250"/>
              <a:ext cx="3296655" cy="3072296"/>
            </a:xfrm>
            <a:custGeom>
              <a:avLst/>
              <a:gdLst/>
              <a:ahLst/>
              <a:cxnLst/>
              <a:rect l="l" t="t" r="r" b="b"/>
              <a:pathLst>
                <a:path w="4953" h="4953" extrusionOk="0">
                  <a:moveTo>
                    <a:pt x="4952" y="2477"/>
                  </a:moveTo>
                  <a:lnTo>
                    <a:pt x="4952" y="2477"/>
                  </a:lnTo>
                  <a:cubicBezTo>
                    <a:pt x="4952" y="3845"/>
                    <a:pt x="3844" y="4952"/>
                    <a:pt x="2477" y="4952"/>
                  </a:cubicBezTo>
                  <a:lnTo>
                    <a:pt x="2477" y="4952"/>
                  </a:lnTo>
                  <a:cubicBezTo>
                    <a:pt x="1109" y="4952"/>
                    <a:pt x="0" y="3845"/>
                    <a:pt x="0" y="2477"/>
                  </a:cubicBezTo>
                  <a:lnTo>
                    <a:pt x="0" y="2477"/>
                  </a:lnTo>
                  <a:cubicBezTo>
                    <a:pt x="0" y="1109"/>
                    <a:pt x="1109" y="0"/>
                    <a:pt x="2477" y="0"/>
                  </a:cubicBezTo>
                  <a:lnTo>
                    <a:pt x="2477" y="0"/>
                  </a:lnTo>
                  <a:cubicBezTo>
                    <a:pt x="3844" y="0"/>
                    <a:pt x="4952" y="1109"/>
                    <a:pt x="4952" y="2477"/>
                  </a:cubicBezTo>
                </a:path>
              </a:pathLst>
            </a:custGeom>
            <a:noFill/>
            <a:ln>
              <a:noFill/>
            </a:ln>
          </p:spPr>
          <p:txBody>
            <a:bodyPr spcFirstLastPara="1" wrap="square" lIns="34284" tIns="34284" rIns="34284" bIns="34284" anchor="t" anchorCtr="0">
              <a:noAutofit/>
            </a:bodyPr>
            <a:lstStyle/>
            <a:p>
              <a:pPr defTabSz="342900">
                <a:buClr>
                  <a:srgbClr val="000000"/>
                </a:buClr>
              </a:pPr>
              <a:endParaRPr sz="1050" b="1" kern="0">
                <a:solidFill>
                  <a:schemeClr val="bg1"/>
                </a:solidFill>
                <a:latin typeface="Poppins" panose="00000500000000000000" pitchFamily="2" charset="0"/>
                <a:cs typeface="Poppins" panose="00000500000000000000" pitchFamily="2" charset="0"/>
                <a:sym typeface="Lato Light"/>
              </a:endParaRPr>
            </a:p>
          </p:txBody>
        </p:sp>
      </p:grpSp>
      <p:sp>
        <p:nvSpPr>
          <p:cNvPr id="32" name="Google Shape;262;g2a58a5063d5_0_7">
            <a:extLst>
              <a:ext uri="{FF2B5EF4-FFF2-40B4-BE49-F238E27FC236}">
                <a16:creationId xmlns:a16="http://schemas.microsoft.com/office/drawing/2014/main" id="{FF4765D7-C830-F418-8CA3-C92805BC2B7B}"/>
              </a:ext>
            </a:extLst>
          </p:cNvPr>
          <p:cNvSpPr txBox="1"/>
          <p:nvPr/>
        </p:nvSpPr>
        <p:spPr>
          <a:xfrm>
            <a:off x="4101610" y="1418114"/>
            <a:ext cx="884138" cy="496276"/>
          </a:xfrm>
          <a:prstGeom prst="rect">
            <a:avLst/>
          </a:prstGeom>
          <a:solidFill>
            <a:schemeClr val="tx1"/>
          </a:solidFill>
          <a:ln>
            <a:noFill/>
          </a:ln>
        </p:spPr>
        <p:txBody>
          <a:bodyPr spcFirstLastPara="1" wrap="square" lIns="34284" tIns="17138" rIns="34284" bIns="17138" anchor="b" anchorCtr="0">
            <a:spAutoFit/>
          </a:bodyPr>
          <a:lstStyle/>
          <a:p>
            <a:pPr algn="ctr" defTabSz="342900">
              <a:buClr>
                <a:srgbClr val="454545"/>
              </a:buClr>
              <a:buSzPts val="2800"/>
            </a:pPr>
            <a:r>
              <a:rPr lang="en-US" sz="1000" b="1" kern="0" dirty="0">
                <a:solidFill>
                  <a:srgbClr val="FFFFFF"/>
                </a:solidFill>
                <a:latin typeface="Poppins"/>
                <a:ea typeface="Poppins"/>
                <a:cs typeface="Poppins"/>
                <a:sym typeface="Poppins"/>
              </a:rPr>
              <a:t>Well-meaning </a:t>
            </a:r>
            <a:endParaRPr sz="1000" kern="0" dirty="0">
              <a:solidFill>
                <a:srgbClr val="FFFFFF"/>
              </a:solidFill>
              <a:latin typeface="Arial"/>
              <a:cs typeface="Arial"/>
              <a:sym typeface="Arial"/>
            </a:endParaRPr>
          </a:p>
          <a:p>
            <a:pPr algn="ctr" defTabSz="342900">
              <a:buClr>
                <a:srgbClr val="454545"/>
              </a:buClr>
              <a:buSzPts val="2800"/>
            </a:pPr>
            <a:r>
              <a:rPr lang="en-US" sz="1000" b="1" kern="0" dirty="0">
                <a:solidFill>
                  <a:srgbClr val="FFFFFF"/>
                </a:solidFill>
                <a:latin typeface="Poppins"/>
                <a:ea typeface="Poppins"/>
                <a:cs typeface="Poppins"/>
                <a:sym typeface="Poppins"/>
              </a:rPr>
              <a:t>anecdata</a:t>
            </a:r>
            <a:endParaRPr sz="1000" kern="0" dirty="0">
              <a:solidFill>
                <a:srgbClr val="FFFFFF"/>
              </a:solidFill>
              <a:latin typeface="Arial"/>
              <a:cs typeface="Arial"/>
              <a:sym typeface="Arial"/>
            </a:endParaRPr>
          </a:p>
        </p:txBody>
      </p:sp>
      <p:sp>
        <p:nvSpPr>
          <p:cNvPr id="62" name="Google Shape;282;g2a58a5063d5_0_7">
            <a:extLst>
              <a:ext uri="{FF2B5EF4-FFF2-40B4-BE49-F238E27FC236}">
                <a16:creationId xmlns:a16="http://schemas.microsoft.com/office/drawing/2014/main" id="{182FD045-768B-4B81-D8DB-3DD4B1473F33}"/>
              </a:ext>
            </a:extLst>
          </p:cNvPr>
          <p:cNvSpPr/>
          <p:nvPr/>
        </p:nvSpPr>
        <p:spPr>
          <a:xfrm>
            <a:off x="1703533" y="1293257"/>
            <a:ext cx="1275641" cy="1276504"/>
          </a:xfrm>
          <a:custGeom>
            <a:avLst/>
            <a:gdLst/>
            <a:ahLst/>
            <a:cxnLst/>
            <a:rect l="l" t="t" r="r" b="b"/>
            <a:pathLst>
              <a:path w="4953" h="4953" extrusionOk="0">
                <a:moveTo>
                  <a:pt x="2477" y="0"/>
                </a:moveTo>
                <a:lnTo>
                  <a:pt x="2477" y="0"/>
                </a:lnTo>
                <a:cubicBezTo>
                  <a:pt x="1109" y="0"/>
                  <a:pt x="0" y="1109"/>
                  <a:pt x="0" y="2477"/>
                </a:cubicBezTo>
                <a:lnTo>
                  <a:pt x="0" y="2477"/>
                </a:lnTo>
                <a:cubicBezTo>
                  <a:pt x="0" y="3845"/>
                  <a:pt x="1109" y="4952"/>
                  <a:pt x="2477" y="4952"/>
                </a:cubicBezTo>
                <a:lnTo>
                  <a:pt x="2477" y="4952"/>
                </a:lnTo>
                <a:cubicBezTo>
                  <a:pt x="3844" y="4952"/>
                  <a:pt x="4952" y="3845"/>
                  <a:pt x="4952" y="2477"/>
                </a:cubicBezTo>
                <a:lnTo>
                  <a:pt x="4952" y="2477"/>
                </a:lnTo>
                <a:cubicBezTo>
                  <a:pt x="4952" y="1109"/>
                  <a:pt x="3844" y="0"/>
                  <a:pt x="2477" y="0"/>
                </a:cubicBezTo>
                <a:close/>
                <a:moveTo>
                  <a:pt x="2477" y="453"/>
                </a:moveTo>
                <a:lnTo>
                  <a:pt x="2477" y="453"/>
                </a:lnTo>
                <a:cubicBezTo>
                  <a:pt x="3592" y="453"/>
                  <a:pt x="4500" y="1361"/>
                  <a:pt x="4500" y="2477"/>
                </a:cubicBezTo>
                <a:lnTo>
                  <a:pt x="4500" y="2477"/>
                </a:lnTo>
                <a:cubicBezTo>
                  <a:pt x="4500" y="3593"/>
                  <a:pt x="3592" y="4500"/>
                  <a:pt x="2477" y="4500"/>
                </a:cubicBezTo>
                <a:lnTo>
                  <a:pt x="2477" y="4500"/>
                </a:lnTo>
                <a:cubicBezTo>
                  <a:pt x="1360" y="4500"/>
                  <a:pt x="452" y="3593"/>
                  <a:pt x="452" y="2477"/>
                </a:cubicBezTo>
                <a:lnTo>
                  <a:pt x="452" y="2477"/>
                </a:lnTo>
                <a:cubicBezTo>
                  <a:pt x="452" y="1361"/>
                  <a:pt x="1360" y="453"/>
                  <a:pt x="2477" y="453"/>
                </a:cubicBezTo>
                <a:close/>
              </a:path>
            </a:pathLst>
          </a:custGeom>
          <a:solidFill>
            <a:srgbClr val="92D050"/>
          </a:solidFill>
          <a:ln>
            <a:solidFill>
              <a:schemeClr val="accent6">
                <a:lumMod val="60000"/>
                <a:lumOff val="40000"/>
              </a:schemeClr>
            </a:solidFill>
          </a:ln>
        </p:spPr>
        <p:txBody>
          <a:bodyPr spcFirstLastPara="1" wrap="square" lIns="34284" tIns="17138" rIns="34284" bIns="17138" anchor="ctr" anchorCtr="0">
            <a:noAutofit/>
          </a:bodyPr>
          <a:lstStyle/>
          <a:p>
            <a:pPr defTabSz="342900">
              <a:buClr>
                <a:srgbClr val="000000"/>
              </a:buClr>
            </a:pPr>
            <a:endParaRPr sz="2449" kern="0">
              <a:solidFill>
                <a:srgbClr val="000000"/>
              </a:solidFill>
              <a:latin typeface="Lato Light"/>
              <a:ea typeface="Lato Light"/>
              <a:cs typeface="Lato Light"/>
              <a:sym typeface="Lato Light"/>
            </a:endParaRPr>
          </a:p>
        </p:txBody>
      </p:sp>
      <p:sp>
        <p:nvSpPr>
          <p:cNvPr id="67" name="Google Shape;254;g2a58a5063d5_0_7">
            <a:extLst>
              <a:ext uri="{FF2B5EF4-FFF2-40B4-BE49-F238E27FC236}">
                <a16:creationId xmlns:a16="http://schemas.microsoft.com/office/drawing/2014/main" id="{A86C560D-3FA5-3A59-AB63-9FED65CA63CA}"/>
              </a:ext>
            </a:extLst>
          </p:cNvPr>
          <p:cNvSpPr/>
          <p:nvPr/>
        </p:nvSpPr>
        <p:spPr>
          <a:xfrm>
            <a:off x="3977430" y="3561957"/>
            <a:ext cx="1159283" cy="1205343"/>
          </a:xfrm>
          <a:custGeom>
            <a:avLst/>
            <a:gdLst/>
            <a:ahLst/>
            <a:cxnLst/>
            <a:rect l="l" t="t" r="r" b="b"/>
            <a:pathLst>
              <a:path w="4952" h="4953" extrusionOk="0">
                <a:moveTo>
                  <a:pt x="4951" y="2476"/>
                </a:moveTo>
                <a:lnTo>
                  <a:pt x="4951" y="2476"/>
                </a:lnTo>
                <a:cubicBezTo>
                  <a:pt x="4951" y="3843"/>
                  <a:pt x="3844" y="4952"/>
                  <a:pt x="2476" y="4952"/>
                </a:cubicBezTo>
                <a:lnTo>
                  <a:pt x="2476" y="4952"/>
                </a:lnTo>
                <a:cubicBezTo>
                  <a:pt x="1108" y="4952"/>
                  <a:pt x="0" y="3843"/>
                  <a:pt x="0" y="2476"/>
                </a:cubicBezTo>
                <a:lnTo>
                  <a:pt x="0" y="2476"/>
                </a:lnTo>
                <a:cubicBezTo>
                  <a:pt x="0" y="1109"/>
                  <a:pt x="1108" y="0"/>
                  <a:pt x="2476" y="0"/>
                </a:cubicBezTo>
                <a:lnTo>
                  <a:pt x="2476" y="0"/>
                </a:lnTo>
                <a:cubicBezTo>
                  <a:pt x="3844" y="0"/>
                  <a:pt x="4951" y="1109"/>
                  <a:pt x="4951" y="2476"/>
                </a:cubicBezTo>
              </a:path>
            </a:pathLst>
          </a:custGeom>
          <a:solidFill>
            <a:schemeClr val="tx1"/>
          </a:solidFill>
          <a:ln>
            <a:noFill/>
          </a:ln>
        </p:spPr>
        <p:txBody>
          <a:bodyPr spcFirstLastPara="1" wrap="square" lIns="34284" tIns="17138" rIns="34284" bIns="17138" anchor="ctr" anchorCtr="0">
            <a:noAutofit/>
          </a:bodyPr>
          <a:lstStyle/>
          <a:p>
            <a:pPr defTabSz="342900">
              <a:buClr>
                <a:srgbClr val="000000"/>
              </a:buClr>
            </a:pPr>
            <a:endParaRPr sz="2449" kern="0">
              <a:solidFill>
                <a:srgbClr val="000000"/>
              </a:solidFill>
              <a:latin typeface="Lato Light"/>
              <a:ea typeface="Lato Light"/>
              <a:cs typeface="Lato Light"/>
              <a:sym typeface="Lato Light"/>
            </a:endParaRPr>
          </a:p>
        </p:txBody>
      </p:sp>
      <p:sp>
        <p:nvSpPr>
          <p:cNvPr id="68" name="Google Shape;260;g2a58a5063d5_0_7">
            <a:extLst>
              <a:ext uri="{FF2B5EF4-FFF2-40B4-BE49-F238E27FC236}">
                <a16:creationId xmlns:a16="http://schemas.microsoft.com/office/drawing/2014/main" id="{D06BBC99-408D-A36A-5642-33E4B9E91092}"/>
              </a:ext>
            </a:extLst>
          </p:cNvPr>
          <p:cNvSpPr/>
          <p:nvPr/>
        </p:nvSpPr>
        <p:spPr>
          <a:xfrm>
            <a:off x="3941649" y="3542277"/>
            <a:ext cx="1275641" cy="1276504"/>
          </a:xfrm>
          <a:custGeom>
            <a:avLst/>
            <a:gdLst/>
            <a:ahLst/>
            <a:cxnLst/>
            <a:rect l="l" t="t" r="r" b="b"/>
            <a:pathLst>
              <a:path w="4953" h="4953" extrusionOk="0">
                <a:moveTo>
                  <a:pt x="2477" y="0"/>
                </a:moveTo>
                <a:lnTo>
                  <a:pt x="2477" y="0"/>
                </a:lnTo>
                <a:cubicBezTo>
                  <a:pt x="1109" y="0"/>
                  <a:pt x="0" y="1109"/>
                  <a:pt x="0" y="2477"/>
                </a:cubicBezTo>
                <a:lnTo>
                  <a:pt x="0" y="2477"/>
                </a:lnTo>
                <a:cubicBezTo>
                  <a:pt x="0" y="3845"/>
                  <a:pt x="1109" y="4952"/>
                  <a:pt x="2477" y="4952"/>
                </a:cubicBezTo>
                <a:lnTo>
                  <a:pt x="2477" y="4952"/>
                </a:lnTo>
                <a:cubicBezTo>
                  <a:pt x="3844" y="4952"/>
                  <a:pt x="4952" y="3845"/>
                  <a:pt x="4952" y="2477"/>
                </a:cubicBezTo>
                <a:lnTo>
                  <a:pt x="4952" y="2477"/>
                </a:lnTo>
                <a:cubicBezTo>
                  <a:pt x="4952" y="1109"/>
                  <a:pt x="3844" y="0"/>
                  <a:pt x="2477" y="0"/>
                </a:cubicBezTo>
                <a:close/>
                <a:moveTo>
                  <a:pt x="2477" y="453"/>
                </a:moveTo>
                <a:lnTo>
                  <a:pt x="2477" y="453"/>
                </a:lnTo>
                <a:cubicBezTo>
                  <a:pt x="3592" y="453"/>
                  <a:pt x="4500" y="1361"/>
                  <a:pt x="4500" y="2477"/>
                </a:cubicBezTo>
                <a:lnTo>
                  <a:pt x="4500" y="2477"/>
                </a:lnTo>
                <a:cubicBezTo>
                  <a:pt x="4500" y="3593"/>
                  <a:pt x="3592" y="4500"/>
                  <a:pt x="2477" y="4500"/>
                </a:cubicBezTo>
                <a:lnTo>
                  <a:pt x="2477" y="4500"/>
                </a:lnTo>
                <a:cubicBezTo>
                  <a:pt x="1360" y="4500"/>
                  <a:pt x="452" y="3593"/>
                  <a:pt x="452" y="2477"/>
                </a:cubicBezTo>
                <a:lnTo>
                  <a:pt x="452" y="2477"/>
                </a:lnTo>
                <a:cubicBezTo>
                  <a:pt x="452" y="1361"/>
                  <a:pt x="1360" y="453"/>
                  <a:pt x="2477" y="453"/>
                </a:cubicBezTo>
                <a:close/>
              </a:path>
            </a:pathLst>
          </a:custGeom>
          <a:solidFill>
            <a:srgbClr val="92D050"/>
          </a:solidFill>
          <a:ln>
            <a:solidFill>
              <a:schemeClr val="accent6">
                <a:lumMod val="60000"/>
                <a:lumOff val="40000"/>
              </a:schemeClr>
            </a:solidFill>
          </a:ln>
        </p:spPr>
        <p:txBody>
          <a:bodyPr spcFirstLastPara="1" wrap="square" lIns="34284" tIns="17138" rIns="34284" bIns="17138" anchor="ctr" anchorCtr="0">
            <a:noAutofit/>
          </a:bodyPr>
          <a:lstStyle/>
          <a:p>
            <a:pPr defTabSz="342900">
              <a:buClr>
                <a:srgbClr val="000000"/>
              </a:buClr>
            </a:pPr>
            <a:endParaRPr sz="2449" kern="0" dirty="0">
              <a:solidFill>
                <a:srgbClr val="000000"/>
              </a:solidFill>
              <a:latin typeface="Lato Light"/>
              <a:ea typeface="Lato Light"/>
              <a:cs typeface="Lato Light"/>
              <a:sym typeface="Lato Light"/>
            </a:endParaRPr>
          </a:p>
        </p:txBody>
      </p:sp>
      <p:sp>
        <p:nvSpPr>
          <p:cNvPr id="71" name="Google Shape;261;g2a58a5063d5_0_7">
            <a:extLst>
              <a:ext uri="{FF2B5EF4-FFF2-40B4-BE49-F238E27FC236}">
                <a16:creationId xmlns:a16="http://schemas.microsoft.com/office/drawing/2014/main" id="{5551A6AB-B6A3-B837-7E2E-4B2CCED1C8D2}"/>
              </a:ext>
            </a:extLst>
          </p:cNvPr>
          <p:cNvSpPr txBox="1"/>
          <p:nvPr/>
        </p:nvSpPr>
        <p:spPr>
          <a:xfrm>
            <a:off x="3772110" y="4001641"/>
            <a:ext cx="1601325" cy="357776"/>
          </a:xfrm>
          <a:prstGeom prst="rect">
            <a:avLst/>
          </a:prstGeom>
          <a:grpFill/>
          <a:ln>
            <a:noFill/>
          </a:ln>
        </p:spPr>
        <p:txBody>
          <a:bodyPr spcFirstLastPara="1" wrap="square" lIns="34284" tIns="17138" rIns="34284" bIns="17138" anchor="t" anchorCtr="0">
            <a:spAutoFit/>
          </a:bodyPr>
          <a:lstStyle>
            <a:lvl1pPr algn="ctr" defTabSz="342900">
              <a:buClr>
                <a:srgbClr val="000000"/>
              </a:buClr>
              <a:buSzPts val="2800"/>
              <a:defRPr sz="1050" b="1" kern="0" cap="all">
                <a:solidFill>
                  <a:schemeClr val="accent6">
                    <a:lumMod val="60000"/>
                    <a:lumOff val="40000"/>
                  </a:schemeClr>
                </a:solidFill>
                <a:latin typeface="Poppins"/>
                <a:cs typeface="Poppins"/>
              </a:defRPr>
            </a:lvl1pPr>
          </a:lstStyle>
          <a:p>
            <a:r>
              <a:rPr lang="en-US" dirty="0">
                <a:sym typeface="Poppins"/>
              </a:rPr>
              <a:t>Supplement</a:t>
            </a:r>
          </a:p>
          <a:p>
            <a:r>
              <a:rPr lang="en-US" dirty="0">
                <a:sym typeface="Poppins"/>
              </a:rPr>
              <a:t>industry</a:t>
            </a:r>
            <a:endParaRPr dirty="0">
              <a:sym typeface="Arial"/>
            </a:endParaRPr>
          </a:p>
        </p:txBody>
      </p:sp>
      <p:sp>
        <p:nvSpPr>
          <p:cNvPr id="72" name="Google Shape;254;g2a58a5063d5_0_7">
            <a:extLst>
              <a:ext uri="{FF2B5EF4-FFF2-40B4-BE49-F238E27FC236}">
                <a16:creationId xmlns:a16="http://schemas.microsoft.com/office/drawing/2014/main" id="{DE4D1492-46AD-6189-5C69-FD2ADFDDC44E}"/>
              </a:ext>
            </a:extLst>
          </p:cNvPr>
          <p:cNvSpPr/>
          <p:nvPr/>
        </p:nvSpPr>
        <p:spPr>
          <a:xfrm>
            <a:off x="2269980" y="2703780"/>
            <a:ext cx="1159283" cy="1205343"/>
          </a:xfrm>
          <a:custGeom>
            <a:avLst/>
            <a:gdLst/>
            <a:ahLst/>
            <a:cxnLst/>
            <a:rect l="l" t="t" r="r" b="b"/>
            <a:pathLst>
              <a:path w="4952" h="4953" extrusionOk="0">
                <a:moveTo>
                  <a:pt x="4951" y="2476"/>
                </a:moveTo>
                <a:lnTo>
                  <a:pt x="4951" y="2476"/>
                </a:lnTo>
                <a:cubicBezTo>
                  <a:pt x="4951" y="3843"/>
                  <a:pt x="3844" y="4952"/>
                  <a:pt x="2476" y="4952"/>
                </a:cubicBezTo>
                <a:lnTo>
                  <a:pt x="2476" y="4952"/>
                </a:lnTo>
                <a:cubicBezTo>
                  <a:pt x="1108" y="4952"/>
                  <a:pt x="0" y="3843"/>
                  <a:pt x="0" y="2476"/>
                </a:cubicBezTo>
                <a:lnTo>
                  <a:pt x="0" y="2476"/>
                </a:lnTo>
                <a:cubicBezTo>
                  <a:pt x="0" y="1109"/>
                  <a:pt x="1108" y="0"/>
                  <a:pt x="2476" y="0"/>
                </a:cubicBezTo>
                <a:lnTo>
                  <a:pt x="2476" y="0"/>
                </a:lnTo>
                <a:cubicBezTo>
                  <a:pt x="3844" y="0"/>
                  <a:pt x="4951" y="1109"/>
                  <a:pt x="4951" y="2476"/>
                </a:cubicBezTo>
              </a:path>
            </a:pathLst>
          </a:custGeom>
          <a:solidFill>
            <a:schemeClr val="tx1"/>
          </a:solidFill>
          <a:ln>
            <a:noFill/>
          </a:ln>
        </p:spPr>
        <p:txBody>
          <a:bodyPr spcFirstLastPara="1" wrap="square" lIns="34284" tIns="17138" rIns="34284" bIns="17138" anchor="ctr" anchorCtr="0">
            <a:noAutofit/>
          </a:bodyPr>
          <a:lstStyle/>
          <a:p>
            <a:pPr defTabSz="342900">
              <a:buClr>
                <a:srgbClr val="000000"/>
              </a:buClr>
            </a:pPr>
            <a:endParaRPr sz="2449" kern="0">
              <a:solidFill>
                <a:srgbClr val="000000"/>
              </a:solidFill>
              <a:latin typeface="Lato Light"/>
              <a:ea typeface="Lato Light"/>
              <a:cs typeface="Lato Light"/>
              <a:sym typeface="Lato Light"/>
            </a:endParaRPr>
          </a:p>
        </p:txBody>
      </p:sp>
      <p:sp>
        <p:nvSpPr>
          <p:cNvPr id="73" name="Google Shape;260;g2a58a5063d5_0_7">
            <a:extLst>
              <a:ext uri="{FF2B5EF4-FFF2-40B4-BE49-F238E27FC236}">
                <a16:creationId xmlns:a16="http://schemas.microsoft.com/office/drawing/2014/main" id="{5983D4D5-A071-5D6D-EE09-01C29FB5AB9B}"/>
              </a:ext>
            </a:extLst>
          </p:cNvPr>
          <p:cNvSpPr/>
          <p:nvPr/>
        </p:nvSpPr>
        <p:spPr>
          <a:xfrm>
            <a:off x="2234199" y="2684100"/>
            <a:ext cx="1275641" cy="1276504"/>
          </a:xfrm>
          <a:custGeom>
            <a:avLst/>
            <a:gdLst/>
            <a:ahLst/>
            <a:cxnLst/>
            <a:rect l="l" t="t" r="r" b="b"/>
            <a:pathLst>
              <a:path w="4953" h="4953" extrusionOk="0">
                <a:moveTo>
                  <a:pt x="2477" y="0"/>
                </a:moveTo>
                <a:lnTo>
                  <a:pt x="2477" y="0"/>
                </a:lnTo>
                <a:cubicBezTo>
                  <a:pt x="1109" y="0"/>
                  <a:pt x="0" y="1109"/>
                  <a:pt x="0" y="2477"/>
                </a:cubicBezTo>
                <a:lnTo>
                  <a:pt x="0" y="2477"/>
                </a:lnTo>
                <a:cubicBezTo>
                  <a:pt x="0" y="3845"/>
                  <a:pt x="1109" y="4952"/>
                  <a:pt x="2477" y="4952"/>
                </a:cubicBezTo>
                <a:lnTo>
                  <a:pt x="2477" y="4952"/>
                </a:lnTo>
                <a:cubicBezTo>
                  <a:pt x="3844" y="4952"/>
                  <a:pt x="4952" y="3845"/>
                  <a:pt x="4952" y="2477"/>
                </a:cubicBezTo>
                <a:lnTo>
                  <a:pt x="4952" y="2477"/>
                </a:lnTo>
                <a:cubicBezTo>
                  <a:pt x="4952" y="1109"/>
                  <a:pt x="3844" y="0"/>
                  <a:pt x="2477" y="0"/>
                </a:cubicBezTo>
                <a:close/>
                <a:moveTo>
                  <a:pt x="2477" y="453"/>
                </a:moveTo>
                <a:lnTo>
                  <a:pt x="2477" y="453"/>
                </a:lnTo>
                <a:cubicBezTo>
                  <a:pt x="3592" y="453"/>
                  <a:pt x="4500" y="1361"/>
                  <a:pt x="4500" y="2477"/>
                </a:cubicBezTo>
                <a:lnTo>
                  <a:pt x="4500" y="2477"/>
                </a:lnTo>
                <a:cubicBezTo>
                  <a:pt x="4500" y="3593"/>
                  <a:pt x="3592" y="4500"/>
                  <a:pt x="2477" y="4500"/>
                </a:cubicBezTo>
                <a:lnTo>
                  <a:pt x="2477" y="4500"/>
                </a:lnTo>
                <a:cubicBezTo>
                  <a:pt x="1360" y="4500"/>
                  <a:pt x="452" y="3593"/>
                  <a:pt x="452" y="2477"/>
                </a:cubicBezTo>
                <a:lnTo>
                  <a:pt x="452" y="2477"/>
                </a:lnTo>
                <a:cubicBezTo>
                  <a:pt x="452" y="1361"/>
                  <a:pt x="1360" y="453"/>
                  <a:pt x="2477" y="453"/>
                </a:cubicBezTo>
                <a:close/>
              </a:path>
            </a:pathLst>
          </a:custGeom>
          <a:solidFill>
            <a:srgbClr val="92D050"/>
          </a:solidFill>
          <a:ln>
            <a:solidFill>
              <a:schemeClr val="accent6">
                <a:lumMod val="60000"/>
                <a:lumOff val="40000"/>
              </a:schemeClr>
            </a:solidFill>
          </a:ln>
        </p:spPr>
        <p:txBody>
          <a:bodyPr spcFirstLastPara="1" wrap="square" lIns="34284" tIns="17138" rIns="34284" bIns="17138" anchor="ctr" anchorCtr="0">
            <a:noAutofit/>
          </a:bodyPr>
          <a:lstStyle/>
          <a:p>
            <a:pPr defTabSz="342900">
              <a:buClr>
                <a:srgbClr val="000000"/>
              </a:buClr>
            </a:pPr>
            <a:endParaRPr sz="2449" kern="0" dirty="0">
              <a:solidFill>
                <a:srgbClr val="000000"/>
              </a:solidFill>
              <a:latin typeface="Lato Light"/>
              <a:ea typeface="Lato Light"/>
              <a:cs typeface="Lato Light"/>
              <a:sym typeface="Lato Light"/>
            </a:endParaRPr>
          </a:p>
        </p:txBody>
      </p:sp>
      <p:sp>
        <p:nvSpPr>
          <p:cNvPr id="57" name="Google Shape;295;g2a58a5063d5_0_7">
            <a:extLst>
              <a:ext uri="{FF2B5EF4-FFF2-40B4-BE49-F238E27FC236}">
                <a16:creationId xmlns:a16="http://schemas.microsoft.com/office/drawing/2014/main" id="{A5A433CA-3DAE-AC88-18AF-39517B6D9CFA}"/>
              </a:ext>
            </a:extLst>
          </p:cNvPr>
          <p:cNvSpPr/>
          <p:nvPr/>
        </p:nvSpPr>
        <p:spPr>
          <a:xfrm rot="3623238">
            <a:off x="2306395" y="2511519"/>
            <a:ext cx="499492" cy="152013"/>
          </a:xfrm>
          <a:prstGeom prst="leftRightArrow">
            <a:avLst>
              <a:gd name="adj1" fmla="val 50000"/>
              <a:gd name="adj2" fmla="val 50000"/>
            </a:avLst>
          </a:prstGeom>
          <a:solidFill>
            <a:schemeClr val="accent6">
              <a:lumMod val="60000"/>
              <a:lumOff val="40000"/>
            </a:schemeClr>
          </a:solidFill>
          <a:ln w="15875" cap="flat" cmpd="sng">
            <a:solidFill>
              <a:schemeClr val="tx1"/>
            </a:solidFill>
            <a:prstDash val="solid"/>
            <a:round/>
            <a:headEnd type="none" w="sm" len="sm"/>
            <a:tailEnd type="none" w="sm" len="sm"/>
          </a:ln>
        </p:spPr>
        <p:txBody>
          <a:bodyPr spcFirstLastPara="1" wrap="square" lIns="34284" tIns="17138" rIns="34284" bIns="17138" anchor="ctr" anchorCtr="0">
            <a:noAutofit/>
          </a:bodyPr>
          <a:lstStyle/>
          <a:p>
            <a:pPr algn="ctr" defTabSz="342900">
              <a:buClr>
                <a:srgbClr val="000000"/>
              </a:buClr>
            </a:pPr>
            <a:endParaRPr sz="675" kern="0">
              <a:solidFill>
                <a:srgbClr val="FFFFFF"/>
              </a:solidFill>
              <a:latin typeface="Gill Sans"/>
              <a:ea typeface="Gill Sans"/>
              <a:cs typeface="Gill Sans"/>
              <a:sym typeface="Gill Sans"/>
            </a:endParaRPr>
          </a:p>
        </p:txBody>
      </p:sp>
      <p:sp>
        <p:nvSpPr>
          <p:cNvPr id="76" name="Oval 75">
            <a:extLst>
              <a:ext uri="{FF2B5EF4-FFF2-40B4-BE49-F238E27FC236}">
                <a16:creationId xmlns:a16="http://schemas.microsoft.com/office/drawing/2014/main" id="{A6CDD46F-CAB5-7A98-98CC-F5AE2ECFA39B}"/>
              </a:ext>
            </a:extLst>
          </p:cNvPr>
          <p:cNvSpPr/>
          <p:nvPr/>
        </p:nvSpPr>
        <p:spPr>
          <a:xfrm>
            <a:off x="7356451" y="-584391"/>
            <a:ext cx="2585071" cy="2425499"/>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Google Shape;297;g2a58a5063d5_0_7">
            <a:extLst>
              <a:ext uri="{FF2B5EF4-FFF2-40B4-BE49-F238E27FC236}">
                <a16:creationId xmlns:a16="http://schemas.microsoft.com/office/drawing/2014/main" id="{5706D348-60E1-D10E-BF93-F180AC1E6092}"/>
              </a:ext>
            </a:extLst>
          </p:cNvPr>
          <p:cNvSpPr txBox="1"/>
          <p:nvPr/>
        </p:nvSpPr>
        <p:spPr>
          <a:xfrm>
            <a:off x="7749000" y="476230"/>
            <a:ext cx="1335154" cy="827740"/>
          </a:xfrm>
          <a:prstGeom prst="rect">
            <a:avLst/>
          </a:prstGeom>
          <a:noFill/>
          <a:ln>
            <a:noFill/>
          </a:ln>
        </p:spPr>
        <p:txBody>
          <a:bodyPr spcFirstLastPara="1" wrap="square" lIns="34284" tIns="34284" rIns="34284" bIns="34284" anchor="t" anchorCtr="0">
            <a:noAutofit/>
          </a:bodyPr>
          <a:lstStyle/>
          <a:p>
            <a:pPr algn="ctr" defTabSz="342900">
              <a:buClr>
                <a:srgbClr val="000000"/>
              </a:buClr>
            </a:pPr>
            <a:r>
              <a:rPr lang="en-US" sz="1500" b="1" kern="0" dirty="0">
                <a:latin typeface="Poppins" panose="00000500000000000000" pitchFamily="2" charset="0"/>
                <a:ea typeface="Gill Sans"/>
                <a:cs typeface="Poppins" panose="00000500000000000000" pitchFamily="2" charset="0"/>
                <a:sym typeface="Gill Sans"/>
              </a:rPr>
              <a:t>Area of </a:t>
            </a:r>
            <a:endParaRPr sz="1500" b="1" kern="0" dirty="0">
              <a:latin typeface="Poppins" panose="00000500000000000000" pitchFamily="2" charset="0"/>
              <a:ea typeface="Gill Sans"/>
              <a:cs typeface="Poppins" panose="00000500000000000000" pitchFamily="2" charset="0"/>
              <a:sym typeface="Gill Sans"/>
            </a:endParaRPr>
          </a:p>
          <a:p>
            <a:pPr algn="ctr" defTabSz="342900">
              <a:buClr>
                <a:srgbClr val="000000"/>
              </a:buClr>
            </a:pPr>
            <a:r>
              <a:rPr lang="en-US" sz="1500" b="1" kern="0" dirty="0">
                <a:latin typeface="Poppins" panose="00000500000000000000" pitchFamily="2" charset="0"/>
                <a:ea typeface="Gill Sans"/>
                <a:cs typeface="Poppins" panose="00000500000000000000" pitchFamily="2" charset="0"/>
                <a:sym typeface="Gill Sans"/>
              </a:rPr>
              <a:t>Need</a:t>
            </a:r>
            <a:endParaRPr sz="1500" b="1" kern="0" dirty="0">
              <a:latin typeface="Poppins" panose="00000500000000000000" pitchFamily="2" charset="0"/>
              <a:ea typeface="Gill Sans"/>
              <a:cs typeface="Poppins" panose="00000500000000000000" pitchFamily="2" charset="0"/>
              <a:sym typeface="Gill Sans"/>
            </a:endParaRPr>
          </a:p>
        </p:txBody>
      </p:sp>
      <p:sp>
        <p:nvSpPr>
          <p:cNvPr id="79" name="Google Shape;283;g2a58a5063d5_0_7">
            <a:extLst>
              <a:ext uri="{FF2B5EF4-FFF2-40B4-BE49-F238E27FC236}">
                <a16:creationId xmlns:a16="http://schemas.microsoft.com/office/drawing/2014/main" id="{6CA78AD1-A29C-98AB-1BCF-B3AF10D0260E}"/>
              </a:ext>
            </a:extLst>
          </p:cNvPr>
          <p:cNvSpPr txBox="1"/>
          <p:nvPr/>
        </p:nvSpPr>
        <p:spPr>
          <a:xfrm>
            <a:off x="2057811" y="3125699"/>
            <a:ext cx="1601325" cy="357776"/>
          </a:xfrm>
          <a:prstGeom prst="rect">
            <a:avLst/>
          </a:prstGeom>
          <a:noFill/>
          <a:ln>
            <a:noFill/>
          </a:ln>
        </p:spPr>
        <p:txBody>
          <a:bodyPr spcFirstLastPara="1" wrap="square" lIns="34284" tIns="17138" rIns="34284" bIns="17138" anchor="b" anchorCtr="0">
            <a:spAutoFit/>
          </a:bodyPr>
          <a:lstStyle>
            <a:defPPr marR="0" lvl="0" algn="l" rtl="0">
              <a:lnSpc>
                <a:spcPct val="100000"/>
              </a:lnSpc>
              <a:spcBef>
                <a:spcPts val="0"/>
              </a:spcBef>
              <a:spcAft>
                <a:spcPts val="0"/>
              </a:spcAft>
            </a:defPPr>
            <a:lvl1pPr marL="0" indent="0" algn="ctr">
              <a:buClr>
                <a:schemeClr val="dk2"/>
              </a:buClr>
              <a:buSzPts val="2800"/>
              <a:buNone/>
              <a:defRPr sz="1800" b="1">
                <a:solidFill>
                  <a:schemeClr val="dk2"/>
                </a:solidFill>
                <a:latin typeface="Poppins"/>
                <a:ea typeface="Poppins"/>
                <a:cs typeface="Poppins"/>
              </a:defRPr>
            </a:lvl1pPr>
          </a:lstStyle>
          <a:p>
            <a:pPr defTabSz="342900">
              <a:buClr>
                <a:srgbClr val="454545"/>
              </a:buClr>
            </a:pPr>
            <a:r>
              <a:rPr lang="en-US" sz="1050" kern="0" cap="all" dirty="0">
                <a:solidFill>
                  <a:schemeClr val="accent6">
                    <a:lumMod val="60000"/>
                    <a:lumOff val="40000"/>
                  </a:schemeClr>
                </a:solidFill>
                <a:sym typeface="Poppins"/>
              </a:rPr>
              <a:t>Scientific</a:t>
            </a:r>
          </a:p>
          <a:p>
            <a:pPr defTabSz="342900">
              <a:buClr>
                <a:srgbClr val="454545"/>
              </a:buClr>
            </a:pPr>
            <a:r>
              <a:rPr lang="en-US" sz="1050" kern="0" cap="all" dirty="0">
                <a:solidFill>
                  <a:schemeClr val="accent6">
                    <a:lumMod val="60000"/>
                    <a:lumOff val="40000"/>
                  </a:schemeClr>
                </a:solidFill>
                <a:sym typeface="Poppins"/>
              </a:rPr>
              <a:t>literature</a:t>
            </a:r>
            <a:endParaRPr sz="1050" kern="0" cap="all" dirty="0">
              <a:solidFill>
                <a:schemeClr val="accent6">
                  <a:lumMod val="60000"/>
                  <a:lumOff val="40000"/>
                </a:schemeClr>
              </a:solidFill>
              <a:sym typeface="Arial"/>
            </a:endParaRPr>
          </a:p>
        </p:txBody>
      </p:sp>
      <p:sp>
        <p:nvSpPr>
          <p:cNvPr id="80" name="Google Shape;262;g2a58a5063d5_0_7">
            <a:extLst>
              <a:ext uri="{FF2B5EF4-FFF2-40B4-BE49-F238E27FC236}">
                <a16:creationId xmlns:a16="http://schemas.microsoft.com/office/drawing/2014/main" id="{E8D695F9-3F4A-50AC-8551-F1DFC335C730}"/>
              </a:ext>
            </a:extLst>
          </p:cNvPr>
          <p:cNvSpPr txBox="1"/>
          <p:nvPr/>
        </p:nvSpPr>
        <p:spPr>
          <a:xfrm>
            <a:off x="3276664" y="4734714"/>
            <a:ext cx="884138" cy="357776"/>
          </a:xfrm>
          <a:prstGeom prst="rect">
            <a:avLst/>
          </a:prstGeom>
          <a:solidFill>
            <a:schemeClr val="tx1"/>
          </a:solidFill>
          <a:ln>
            <a:noFill/>
          </a:ln>
        </p:spPr>
        <p:txBody>
          <a:bodyPr spcFirstLastPara="1" wrap="square" lIns="34284" tIns="17138" rIns="34284" bIns="17138" anchor="b" anchorCtr="0">
            <a:spAutoFit/>
          </a:bodyPr>
          <a:lstStyle/>
          <a:p>
            <a:pPr algn="r" defTabSz="342900">
              <a:buClr>
                <a:srgbClr val="454545"/>
              </a:buClr>
              <a:buSzPts val="2800"/>
            </a:pPr>
            <a:r>
              <a:rPr lang="en-US" sz="1050" b="1" kern="0" dirty="0">
                <a:solidFill>
                  <a:srgbClr val="FFFFFF"/>
                </a:solidFill>
                <a:latin typeface="Poppins"/>
                <a:ea typeface="Poppins"/>
                <a:cs typeface="Poppins"/>
                <a:sym typeface="Poppins"/>
              </a:rPr>
              <a:t>Bottom line = profit</a:t>
            </a:r>
            <a:endParaRPr sz="1050" kern="0" dirty="0">
              <a:solidFill>
                <a:srgbClr val="FFFFFF"/>
              </a:solidFill>
              <a:latin typeface="Arial"/>
              <a:cs typeface="Arial"/>
              <a:sym typeface="Arial"/>
            </a:endParaRPr>
          </a:p>
        </p:txBody>
      </p:sp>
      <p:sp>
        <p:nvSpPr>
          <p:cNvPr id="81" name="Google Shape;262;g2a58a5063d5_0_7">
            <a:extLst>
              <a:ext uri="{FF2B5EF4-FFF2-40B4-BE49-F238E27FC236}">
                <a16:creationId xmlns:a16="http://schemas.microsoft.com/office/drawing/2014/main" id="{47B82AD3-9F2E-CFA0-9D5E-335FCA6D1942}"/>
              </a:ext>
            </a:extLst>
          </p:cNvPr>
          <p:cNvSpPr txBox="1"/>
          <p:nvPr/>
        </p:nvSpPr>
        <p:spPr>
          <a:xfrm>
            <a:off x="743461" y="3495412"/>
            <a:ext cx="1445098" cy="650164"/>
          </a:xfrm>
          <a:prstGeom prst="rect">
            <a:avLst/>
          </a:prstGeom>
          <a:solidFill>
            <a:schemeClr val="tx1"/>
          </a:solidFill>
          <a:ln>
            <a:noFill/>
          </a:ln>
        </p:spPr>
        <p:txBody>
          <a:bodyPr spcFirstLastPara="1" wrap="square" lIns="34284" tIns="17138" rIns="34284" bIns="17138" anchor="b" anchorCtr="0">
            <a:spAutoFit/>
          </a:bodyPr>
          <a:lstStyle/>
          <a:p>
            <a:pPr algn="r" defTabSz="342900">
              <a:buClr>
                <a:srgbClr val="454545"/>
              </a:buClr>
              <a:buSzPts val="2800"/>
            </a:pPr>
            <a:r>
              <a:rPr lang="en-US" sz="1000" b="1" kern="0" dirty="0">
                <a:solidFill>
                  <a:srgbClr val="FFFFFF"/>
                </a:solidFill>
                <a:latin typeface="Poppins"/>
                <a:ea typeface="Poppins"/>
                <a:cs typeface="Poppins"/>
                <a:sym typeface="Poppins"/>
              </a:rPr>
              <a:t>Typically low quality, and not relevant to sports complexity</a:t>
            </a:r>
            <a:endParaRPr sz="1000" kern="0" dirty="0">
              <a:solidFill>
                <a:srgbClr val="FFFFFF"/>
              </a:solidFill>
              <a:latin typeface="Arial"/>
              <a:cs typeface="Arial"/>
              <a:sym typeface="Arial"/>
            </a:endParaRPr>
          </a:p>
        </p:txBody>
      </p:sp>
      <p:sp>
        <p:nvSpPr>
          <p:cNvPr id="83" name="Text 2">
            <a:extLst>
              <a:ext uri="{FF2B5EF4-FFF2-40B4-BE49-F238E27FC236}">
                <a16:creationId xmlns:a16="http://schemas.microsoft.com/office/drawing/2014/main" id="{1F08BE1F-C969-1F9B-1BE9-CC5317AEE2EB}"/>
              </a:ext>
            </a:extLst>
          </p:cNvPr>
          <p:cNvSpPr/>
          <p:nvPr/>
        </p:nvSpPr>
        <p:spPr>
          <a:xfrm>
            <a:off x="148614" y="-406833"/>
            <a:ext cx="8229600" cy="1188720"/>
          </a:xfrm>
          <a:prstGeom prst="rect">
            <a:avLst/>
          </a:prstGeom>
          <a:noFill/>
          <a:ln/>
        </p:spPr>
        <p:txBody>
          <a:bodyPr wrap="square" lIns="0" tIns="0" rIns="0" bIns="0" rtlCol="0" anchor="ctr"/>
          <a:lstStyle/>
          <a:p>
            <a:pPr marL="0" indent="0">
              <a:buNone/>
            </a:pPr>
            <a:r>
              <a:rPr lang="en-US" sz="2400" b="1" dirty="0">
                <a:solidFill>
                  <a:srgbClr val="F4F7FB"/>
                </a:solidFill>
                <a:latin typeface="Helvetica Neue" pitchFamily="34" charset="0"/>
                <a:ea typeface="Helvetica Neue" pitchFamily="34" charset="-122"/>
                <a:cs typeface="Helvetica Neue" pitchFamily="34" charset="-120"/>
              </a:rPr>
              <a:t>Where do athletes get their supplement intel?</a:t>
            </a:r>
            <a:endParaRPr lang="en-US" sz="2400" dirty="0"/>
          </a:p>
        </p:txBody>
      </p:sp>
    </p:spTree>
    <p:extLst>
      <p:ext uri="{BB962C8B-B14F-4D97-AF65-F5344CB8AC3E}">
        <p14:creationId xmlns:p14="http://schemas.microsoft.com/office/powerpoint/2010/main" val="218850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a:extLst>
            <a:ext uri="{FF2B5EF4-FFF2-40B4-BE49-F238E27FC236}">
              <a16:creationId xmlns:a16="http://schemas.microsoft.com/office/drawing/2014/main" id="{81761E40-5B32-ABF6-17ED-C4E6E68F1EB2}"/>
            </a:ext>
          </a:extLst>
        </p:cNvPr>
        <p:cNvGrpSpPr/>
        <p:nvPr/>
      </p:nvGrpSpPr>
      <p:grpSpPr>
        <a:xfrm>
          <a:off x="0" y="0"/>
          <a:ext cx="0" cy="0"/>
          <a:chOff x="0" y="0"/>
          <a:chExt cx="0" cy="0"/>
        </a:xfrm>
      </p:grpSpPr>
      <p:sp>
        <p:nvSpPr>
          <p:cNvPr id="15" name="Text 16">
            <a:extLst>
              <a:ext uri="{FF2B5EF4-FFF2-40B4-BE49-F238E27FC236}">
                <a16:creationId xmlns:a16="http://schemas.microsoft.com/office/drawing/2014/main" id="{A8EFA807-5A24-A348-0D4E-50E5F711EF3F}"/>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Google Shape;534;g1ed472a56f4_0_108">
            <a:extLst>
              <a:ext uri="{FF2B5EF4-FFF2-40B4-BE49-F238E27FC236}">
                <a16:creationId xmlns:a16="http://schemas.microsoft.com/office/drawing/2014/main" id="{324A7CFF-E8B7-1016-7A08-5D8D73567ADE}"/>
              </a:ext>
            </a:extLst>
          </p:cNvPr>
          <p:cNvSpPr txBox="1"/>
          <p:nvPr/>
        </p:nvSpPr>
        <p:spPr>
          <a:xfrm>
            <a:off x="693057" y="125307"/>
            <a:ext cx="8180614" cy="380859"/>
          </a:xfrm>
          <a:prstGeom prst="rect">
            <a:avLst/>
          </a:prstGeom>
          <a:noFill/>
          <a:ln>
            <a:noFill/>
          </a:ln>
        </p:spPr>
        <p:txBody>
          <a:bodyPr spcFirstLastPara="1" wrap="square" lIns="34284" tIns="17138" rIns="34284" bIns="17138" anchor="t" anchorCtr="0">
            <a:spAutoFit/>
          </a:bodyPr>
          <a:lstStyle/>
          <a:p>
            <a:pPr algn="ctr">
              <a:buClr>
                <a:schemeClr val="dk1"/>
              </a:buClr>
            </a:pPr>
            <a:r>
              <a:rPr lang="en-US" sz="2250" b="1" dirty="0">
                <a:solidFill>
                  <a:schemeClr val="bg1"/>
                </a:solidFill>
                <a:latin typeface="Helvetica Neue"/>
                <a:ea typeface="Poppins"/>
                <a:cs typeface="Poppins" panose="00000500000000000000" pitchFamily="2" charset="0"/>
                <a:sym typeface="Poppins"/>
              </a:rPr>
              <a:t>Why are we the ones to deliver this project?</a:t>
            </a:r>
            <a:endParaRPr sz="2250" b="1" dirty="0">
              <a:solidFill>
                <a:schemeClr val="bg1"/>
              </a:solidFill>
              <a:latin typeface="Helvetica Neue"/>
              <a:ea typeface="Poppins"/>
              <a:cs typeface="Poppins" panose="00000500000000000000" pitchFamily="2" charset="0"/>
              <a:sym typeface="Poppins"/>
            </a:endParaRPr>
          </a:p>
        </p:txBody>
      </p:sp>
      <p:pic>
        <p:nvPicPr>
          <p:cNvPr id="16" name="Picture 2" descr="Eric Zaltas">
            <a:extLst>
              <a:ext uri="{FF2B5EF4-FFF2-40B4-BE49-F238E27FC236}">
                <a16:creationId xmlns:a16="http://schemas.microsoft.com/office/drawing/2014/main" id="{593D8CC2-6311-C5E4-9C80-8F5C7110FC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8775" y="930435"/>
            <a:ext cx="996945" cy="9969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83736F9-193B-8758-A46E-31A84E0AD7DB}"/>
              </a:ext>
            </a:extLst>
          </p:cNvPr>
          <p:cNvSpPr txBox="1"/>
          <p:nvPr/>
        </p:nvSpPr>
        <p:spPr>
          <a:xfrm>
            <a:off x="7478775" y="2073657"/>
            <a:ext cx="1492585" cy="300082"/>
          </a:xfrm>
          <a:prstGeom prst="rect">
            <a:avLst/>
          </a:prstGeom>
          <a:noFill/>
        </p:spPr>
        <p:txBody>
          <a:bodyPr wrap="square">
            <a:spAutoFit/>
          </a:bodyPr>
          <a:lstStyle/>
          <a:p>
            <a:r>
              <a:rPr lang="en-AU" sz="675" b="1" dirty="0">
                <a:solidFill>
                  <a:schemeClr val="bg1"/>
                </a:solidFill>
                <a:latin typeface="Helvetica Neue"/>
                <a:cs typeface="Poppins" panose="00000500000000000000" pitchFamily="2" charset="0"/>
              </a:rPr>
              <a:t>https://www.linkedin.com/in/eric-zaltas/</a:t>
            </a:r>
          </a:p>
        </p:txBody>
      </p:sp>
      <p:pic>
        <p:nvPicPr>
          <p:cNvPr id="18" name="Picture 4" descr="Profile photo of Matthew Schuster">
            <a:extLst>
              <a:ext uri="{FF2B5EF4-FFF2-40B4-BE49-F238E27FC236}">
                <a16:creationId xmlns:a16="http://schemas.microsoft.com/office/drawing/2014/main" id="{70680523-595A-17B7-66B8-0479F5C589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5568" y="935734"/>
            <a:ext cx="1036473" cy="10364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9" name="Picture 6" descr="David T Martin">
            <a:extLst>
              <a:ext uri="{FF2B5EF4-FFF2-40B4-BE49-F238E27FC236}">
                <a16:creationId xmlns:a16="http://schemas.microsoft.com/office/drawing/2014/main" id="{5A437007-7C06-822D-F6B8-FC6E357912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9490" y="901860"/>
            <a:ext cx="1036473" cy="10364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 name="Picture 10" descr="Profile photo of John Hawley">
            <a:extLst>
              <a:ext uri="{FF2B5EF4-FFF2-40B4-BE49-F238E27FC236}">
                <a16:creationId xmlns:a16="http://schemas.microsoft.com/office/drawing/2014/main" id="{334A0754-8719-D13A-C3B0-141B60C2C8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2213" y="927322"/>
            <a:ext cx="991961" cy="9919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6449D726-63B6-96F5-3BF1-17AEFA5EBF71}"/>
              </a:ext>
            </a:extLst>
          </p:cNvPr>
          <p:cNvSpPr txBox="1"/>
          <p:nvPr/>
        </p:nvSpPr>
        <p:spPr>
          <a:xfrm>
            <a:off x="2168648" y="2073657"/>
            <a:ext cx="1350186" cy="300082"/>
          </a:xfrm>
          <a:prstGeom prst="rect">
            <a:avLst/>
          </a:prstGeom>
          <a:noFill/>
        </p:spPr>
        <p:txBody>
          <a:bodyPr wrap="square">
            <a:spAutoFit/>
          </a:bodyPr>
          <a:lstStyle/>
          <a:p>
            <a:r>
              <a:rPr lang="en-AU" sz="675" b="1" dirty="0">
                <a:solidFill>
                  <a:schemeClr val="bg1"/>
                </a:solidFill>
                <a:latin typeface="Helvetica Neue"/>
                <a:cs typeface="Poppins" panose="00000500000000000000" pitchFamily="2" charset="0"/>
              </a:rPr>
              <a:t>https://www.linkedin.com/in/john-hawley-aa3b3388/</a:t>
            </a:r>
          </a:p>
        </p:txBody>
      </p:sp>
      <p:sp>
        <p:nvSpPr>
          <p:cNvPr id="22" name="TextBox 21">
            <a:extLst>
              <a:ext uri="{FF2B5EF4-FFF2-40B4-BE49-F238E27FC236}">
                <a16:creationId xmlns:a16="http://schemas.microsoft.com/office/drawing/2014/main" id="{326096FE-0D0A-5895-FB4E-AAC21450D554}"/>
              </a:ext>
            </a:extLst>
          </p:cNvPr>
          <p:cNvSpPr txBox="1"/>
          <p:nvPr/>
        </p:nvSpPr>
        <p:spPr>
          <a:xfrm>
            <a:off x="5686111" y="2076007"/>
            <a:ext cx="1492585" cy="300082"/>
          </a:xfrm>
          <a:prstGeom prst="rect">
            <a:avLst/>
          </a:prstGeom>
          <a:noFill/>
        </p:spPr>
        <p:txBody>
          <a:bodyPr wrap="square">
            <a:spAutoFit/>
          </a:bodyPr>
          <a:lstStyle/>
          <a:p>
            <a:r>
              <a:rPr lang="en-AU" sz="675" b="1" dirty="0">
                <a:solidFill>
                  <a:schemeClr val="bg1"/>
                </a:solidFill>
                <a:latin typeface="Helvetica Neue"/>
                <a:cs typeface="Poppins" panose="00000500000000000000" pitchFamily="2" charset="0"/>
              </a:rPr>
              <a:t>https://www.linkedin.com/in/matthew-schuster-b275032</a:t>
            </a:r>
            <a:r>
              <a:rPr lang="en-AU" sz="675" dirty="0">
                <a:solidFill>
                  <a:schemeClr val="bg1"/>
                </a:solidFill>
                <a:latin typeface="Helvetica Neue"/>
                <a:cs typeface="Poppins" panose="00000500000000000000" pitchFamily="2" charset="0"/>
              </a:rPr>
              <a:t>/</a:t>
            </a:r>
          </a:p>
        </p:txBody>
      </p:sp>
      <p:sp>
        <p:nvSpPr>
          <p:cNvPr id="23" name="TextBox 22">
            <a:extLst>
              <a:ext uri="{FF2B5EF4-FFF2-40B4-BE49-F238E27FC236}">
                <a16:creationId xmlns:a16="http://schemas.microsoft.com/office/drawing/2014/main" id="{44E33435-6312-C43B-946A-1C2EBA98BDC3}"/>
              </a:ext>
            </a:extLst>
          </p:cNvPr>
          <p:cNvSpPr txBox="1"/>
          <p:nvPr/>
        </p:nvSpPr>
        <p:spPr>
          <a:xfrm>
            <a:off x="3926894" y="2073657"/>
            <a:ext cx="1350186" cy="300082"/>
          </a:xfrm>
          <a:prstGeom prst="rect">
            <a:avLst/>
          </a:prstGeom>
          <a:noFill/>
        </p:spPr>
        <p:txBody>
          <a:bodyPr wrap="square">
            <a:spAutoFit/>
          </a:bodyPr>
          <a:lstStyle/>
          <a:p>
            <a:r>
              <a:rPr lang="en-AU" sz="675" b="1" dirty="0">
                <a:solidFill>
                  <a:schemeClr val="bg1"/>
                </a:solidFill>
                <a:latin typeface="Helvetica Neue"/>
                <a:cs typeface="Poppins" panose="00000500000000000000" pitchFamily="2" charset="0"/>
              </a:rPr>
              <a:t>https://www.linkedin.com/in/david-t-martin-9794994</a:t>
            </a:r>
            <a:r>
              <a:rPr lang="en-AU" sz="675" dirty="0">
                <a:solidFill>
                  <a:schemeClr val="bg1"/>
                </a:solidFill>
                <a:latin typeface="Helvetica Neue"/>
                <a:cs typeface="Poppins" panose="00000500000000000000" pitchFamily="2" charset="0"/>
              </a:rPr>
              <a:t>/</a:t>
            </a:r>
          </a:p>
        </p:txBody>
      </p:sp>
      <p:sp>
        <p:nvSpPr>
          <p:cNvPr id="24" name="TextBox 23">
            <a:extLst>
              <a:ext uri="{FF2B5EF4-FFF2-40B4-BE49-F238E27FC236}">
                <a16:creationId xmlns:a16="http://schemas.microsoft.com/office/drawing/2014/main" id="{F065BF45-5CA1-DED7-5483-04CB7735A1C3}"/>
              </a:ext>
            </a:extLst>
          </p:cNvPr>
          <p:cNvSpPr txBox="1"/>
          <p:nvPr/>
        </p:nvSpPr>
        <p:spPr>
          <a:xfrm>
            <a:off x="550768" y="2073657"/>
            <a:ext cx="1350186" cy="300082"/>
          </a:xfrm>
          <a:prstGeom prst="rect">
            <a:avLst/>
          </a:prstGeom>
          <a:noFill/>
        </p:spPr>
        <p:txBody>
          <a:bodyPr wrap="square">
            <a:spAutoFit/>
          </a:bodyPr>
          <a:lstStyle/>
          <a:p>
            <a:r>
              <a:rPr lang="en-AU" sz="675" b="1" dirty="0">
                <a:solidFill>
                  <a:schemeClr val="bg1"/>
                </a:solidFill>
                <a:latin typeface="Helvetica Neue"/>
                <a:cs typeface="Poppins" panose="00000500000000000000" pitchFamily="2" charset="0"/>
              </a:rPr>
              <a:t>https://www.linkedin.com/in/louise-burke-61923411/</a:t>
            </a:r>
          </a:p>
        </p:txBody>
      </p:sp>
      <p:pic>
        <p:nvPicPr>
          <p:cNvPr id="25" name="Picture 12" descr="Louise Burke">
            <a:extLst>
              <a:ext uri="{FF2B5EF4-FFF2-40B4-BE49-F238E27FC236}">
                <a16:creationId xmlns:a16="http://schemas.microsoft.com/office/drawing/2014/main" id="{4D038382-9445-4841-CCEA-BCB218DE02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057" y="934125"/>
            <a:ext cx="994575" cy="9945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FCDC2C0F-8992-D464-7606-82F540E093B3}"/>
              </a:ext>
            </a:extLst>
          </p:cNvPr>
          <p:cNvSpPr txBox="1"/>
          <p:nvPr/>
        </p:nvSpPr>
        <p:spPr>
          <a:xfrm>
            <a:off x="599454" y="736611"/>
            <a:ext cx="8026556" cy="253916"/>
          </a:xfrm>
          <a:prstGeom prst="rect">
            <a:avLst/>
          </a:prstGeom>
          <a:noFill/>
        </p:spPr>
        <p:txBody>
          <a:bodyPr wrap="none" rtlCol="0">
            <a:spAutoFit/>
          </a:bodyPr>
          <a:lstStyle/>
          <a:p>
            <a:r>
              <a:rPr lang="en-AU" sz="1050" dirty="0">
                <a:solidFill>
                  <a:schemeClr val="bg1"/>
                </a:solidFill>
                <a:latin typeface="Helvetica Neue"/>
                <a:cs typeface="Poppins" panose="00000500000000000000" pitchFamily="2" charset="0"/>
              </a:rPr>
              <a:t>Prof Louise Burke              Prof John Hawley                 Prof David Martin                        Matt Schuster                          Dr Eric Zaltas</a:t>
            </a:r>
          </a:p>
        </p:txBody>
      </p:sp>
      <p:sp>
        <p:nvSpPr>
          <p:cNvPr id="27" name="TextBox 26">
            <a:extLst>
              <a:ext uri="{FF2B5EF4-FFF2-40B4-BE49-F238E27FC236}">
                <a16:creationId xmlns:a16="http://schemas.microsoft.com/office/drawing/2014/main" id="{1A4C0034-9575-C249-FEFF-32F1C7D990E6}"/>
              </a:ext>
            </a:extLst>
          </p:cNvPr>
          <p:cNvSpPr txBox="1"/>
          <p:nvPr/>
        </p:nvSpPr>
        <p:spPr>
          <a:xfrm>
            <a:off x="550768" y="2509063"/>
            <a:ext cx="7482938" cy="923330"/>
          </a:xfrm>
          <a:prstGeom prst="rect">
            <a:avLst/>
          </a:prstGeom>
          <a:noFill/>
        </p:spPr>
        <p:txBody>
          <a:bodyPr wrap="square" rtlCol="0">
            <a:spAutoFit/>
          </a:bodyPr>
          <a:lstStyle/>
          <a:p>
            <a:r>
              <a:rPr lang="en-AU" sz="1350" b="1" dirty="0">
                <a:solidFill>
                  <a:schemeClr val="bg1"/>
                </a:solidFill>
                <a:latin typeface="Helvetica Neue"/>
                <a:cs typeface="Poppins" panose="00000500000000000000" pitchFamily="2" charset="0"/>
              </a:rPr>
              <a:t>&gt;200 years </a:t>
            </a:r>
            <a:r>
              <a:rPr lang="en-AU" sz="1350" dirty="0">
                <a:solidFill>
                  <a:schemeClr val="bg1"/>
                </a:solidFill>
                <a:latin typeface="Helvetica Neue"/>
                <a:cs typeface="Poppins" panose="00000500000000000000" pitchFamily="2" charset="0"/>
              </a:rPr>
              <a:t>as thought leaders and contributors to elite sport </a:t>
            </a:r>
          </a:p>
          <a:p>
            <a:r>
              <a:rPr lang="en-AU" sz="1350" b="1" dirty="0">
                <a:solidFill>
                  <a:schemeClr val="bg1"/>
                </a:solidFill>
                <a:latin typeface="Helvetica Neue"/>
                <a:cs typeface="Poppins" panose="00000500000000000000" pitchFamily="2" charset="0"/>
              </a:rPr>
              <a:t>&gt;1000 </a:t>
            </a:r>
            <a:r>
              <a:rPr lang="en-AU" sz="1350" dirty="0">
                <a:solidFill>
                  <a:schemeClr val="bg1"/>
                </a:solidFill>
                <a:latin typeface="Helvetica Neue"/>
                <a:cs typeface="Poppins" panose="00000500000000000000" pitchFamily="2" charset="0"/>
              </a:rPr>
              <a:t>scientific publications</a:t>
            </a:r>
          </a:p>
          <a:p>
            <a:r>
              <a:rPr lang="en-AU" sz="1350" b="1" dirty="0">
                <a:solidFill>
                  <a:schemeClr val="bg1"/>
                </a:solidFill>
                <a:latin typeface="Helvetica Neue"/>
                <a:cs typeface="Poppins" panose="00000500000000000000" pitchFamily="2" charset="0"/>
              </a:rPr>
              <a:t>&gt;60 years </a:t>
            </a:r>
            <a:r>
              <a:rPr lang="en-AU" sz="1350" dirty="0">
                <a:solidFill>
                  <a:schemeClr val="bg1"/>
                </a:solidFill>
                <a:latin typeface="Helvetica Neue"/>
                <a:cs typeface="Poppins" panose="00000500000000000000" pitchFamily="2" charset="0"/>
              </a:rPr>
              <a:t>experience in R&amp;D and marketing of nutrition and sports nutrition products</a:t>
            </a:r>
          </a:p>
          <a:p>
            <a:r>
              <a:rPr lang="en-AU" sz="1350" b="1" dirty="0">
                <a:solidFill>
                  <a:schemeClr val="bg1"/>
                </a:solidFill>
                <a:latin typeface="Helvetica Neue"/>
                <a:cs typeface="Poppins" panose="00000500000000000000" pitchFamily="2" charset="0"/>
              </a:rPr>
              <a:t>&gt;50 years </a:t>
            </a:r>
            <a:r>
              <a:rPr lang="en-AU" sz="1350" dirty="0">
                <a:solidFill>
                  <a:schemeClr val="bg1"/>
                </a:solidFill>
                <a:latin typeface="Helvetica Neue"/>
                <a:cs typeface="Poppins" panose="00000500000000000000" pitchFamily="2" charset="0"/>
              </a:rPr>
              <a:t>experience in corporate health and well being</a:t>
            </a:r>
          </a:p>
        </p:txBody>
      </p:sp>
      <p:sp>
        <p:nvSpPr>
          <p:cNvPr id="28" name="TextBox 27">
            <a:extLst>
              <a:ext uri="{FF2B5EF4-FFF2-40B4-BE49-F238E27FC236}">
                <a16:creationId xmlns:a16="http://schemas.microsoft.com/office/drawing/2014/main" id="{20B46A80-D959-5A76-F8F7-15783D1A862C}"/>
              </a:ext>
            </a:extLst>
          </p:cNvPr>
          <p:cNvSpPr txBox="1"/>
          <p:nvPr/>
        </p:nvSpPr>
        <p:spPr>
          <a:xfrm>
            <a:off x="3074608" y="3737930"/>
            <a:ext cx="5799063" cy="1131079"/>
          </a:xfrm>
          <a:prstGeom prst="rect">
            <a:avLst/>
          </a:prstGeom>
          <a:noFill/>
        </p:spPr>
        <p:txBody>
          <a:bodyPr wrap="square" rtlCol="0">
            <a:spAutoFit/>
          </a:bodyPr>
          <a:lstStyle/>
          <a:p>
            <a:pPr marL="285750" indent="-285750">
              <a:buFont typeface="Arial" panose="020B0604020202020204" pitchFamily="34" charset="0"/>
              <a:buChar char="•"/>
            </a:pPr>
            <a:r>
              <a:rPr lang="en-AU" sz="1350" dirty="0">
                <a:solidFill>
                  <a:srgbClr val="92D050"/>
                </a:solidFill>
                <a:latin typeface="Poppins" panose="00000500000000000000" pitchFamily="2" charset="0"/>
                <a:cs typeface="Poppins" panose="00000500000000000000" pitchFamily="2" charset="0"/>
              </a:rPr>
              <a:t>Credibility</a:t>
            </a:r>
          </a:p>
          <a:p>
            <a:pPr marL="285750" indent="-285750">
              <a:buFont typeface="Arial" panose="020B0604020202020204" pitchFamily="34" charset="0"/>
              <a:buChar char="•"/>
            </a:pPr>
            <a:r>
              <a:rPr lang="en-AU" sz="1350" dirty="0">
                <a:solidFill>
                  <a:srgbClr val="92D050"/>
                </a:solidFill>
                <a:latin typeface="Poppins" panose="00000500000000000000" pitchFamily="2" charset="0"/>
                <a:cs typeface="Poppins" panose="00000500000000000000" pitchFamily="2" charset="0"/>
              </a:rPr>
              <a:t>Expertise and experience	</a:t>
            </a:r>
          </a:p>
          <a:p>
            <a:pPr marL="285750" indent="-285750">
              <a:buFont typeface="Arial" panose="020B0604020202020204" pitchFamily="34" charset="0"/>
              <a:buChar char="•"/>
            </a:pPr>
            <a:r>
              <a:rPr lang="en-AU" sz="1350" dirty="0">
                <a:solidFill>
                  <a:srgbClr val="92D050"/>
                </a:solidFill>
                <a:latin typeface="Poppins" panose="00000500000000000000" pitchFamily="2" charset="0"/>
                <a:cs typeface="Poppins" panose="00000500000000000000" pitchFamily="2" charset="0"/>
              </a:rPr>
              <a:t>Insight and innovation</a:t>
            </a:r>
          </a:p>
          <a:p>
            <a:pPr marL="285750" indent="-285750">
              <a:buFont typeface="Arial" panose="020B0604020202020204" pitchFamily="34" charset="0"/>
              <a:buChar char="•"/>
            </a:pPr>
            <a:r>
              <a:rPr lang="en-AU" sz="1350" dirty="0">
                <a:solidFill>
                  <a:srgbClr val="92D050"/>
                </a:solidFill>
                <a:latin typeface="Poppins" panose="00000500000000000000" pitchFamily="2" charset="0"/>
                <a:cs typeface="Poppins" panose="00000500000000000000" pitchFamily="2" charset="0"/>
              </a:rPr>
              <a:t>Connections to high performance sport around the world</a:t>
            </a:r>
          </a:p>
          <a:p>
            <a:pPr marL="285750" indent="-285750">
              <a:buFont typeface="Arial" panose="020B0604020202020204" pitchFamily="34" charset="0"/>
              <a:buChar char="•"/>
            </a:pPr>
            <a:r>
              <a:rPr lang="en-AU" sz="1350" dirty="0">
                <a:solidFill>
                  <a:srgbClr val="92D050"/>
                </a:solidFill>
                <a:latin typeface="Poppins" panose="00000500000000000000" pitchFamily="2" charset="0"/>
                <a:cs typeface="Poppins" panose="00000500000000000000" pitchFamily="2" charset="0"/>
              </a:rPr>
              <a:t>Capacity to capture and motivate The Wise Crowd</a:t>
            </a:r>
          </a:p>
        </p:txBody>
      </p:sp>
    </p:spTree>
    <p:extLst>
      <p:ext uri="{BB962C8B-B14F-4D97-AF65-F5344CB8AC3E}">
        <p14:creationId xmlns:p14="http://schemas.microsoft.com/office/powerpoint/2010/main" val="1044842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4298024" cy="18288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411480"/>
            <a:ext cx="2651760"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WHY LLMs CAN’T SOLVE THIS</a:t>
            </a:r>
            <a:endParaRPr lang="en-US" sz="900" dirty="0"/>
          </a:p>
        </p:txBody>
      </p:sp>
      <p:sp>
        <p:nvSpPr>
          <p:cNvPr id="4" name="Text 2"/>
          <p:cNvSpPr/>
          <p:nvPr/>
        </p:nvSpPr>
        <p:spPr>
          <a:xfrm>
            <a:off x="411480" y="868680"/>
            <a:ext cx="8229600" cy="1188720"/>
          </a:xfrm>
          <a:prstGeom prst="rect">
            <a:avLst/>
          </a:prstGeom>
          <a:noFill/>
          <a:ln/>
        </p:spPr>
        <p:txBody>
          <a:bodyPr wrap="square" lIns="0" tIns="0" rIns="0" bIns="0" rtlCol="0" anchor="ctr"/>
          <a:lstStyle/>
          <a:p>
            <a:pPr marL="0" indent="0">
              <a:buNone/>
            </a:pPr>
            <a:r>
              <a:rPr lang="en-US" sz="2400" b="1" dirty="0">
                <a:solidFill>
                  <a:srgbClr val="F4F7FB"/>
                </a:solidFill>
                <a:latin typeface="Helvetica Neue" pitchFamily="34" charset="0"/>
                <a:ea typeface="Helvetica Neue" pitchFamily="34" charset="-122"/>
                <a:cs typeface="Helvetica Neue" pitchFamily="34" charset="-120"/>
              </a:rPr>
              <a:t>ChatGPT, Gemini, Perplexity — brilliant at averages.</a:t>
            </a:r>
            <a:endParaRPr lang="en-US" sz="2400" dirty="0"/>
          </a:p>
          <a:p>
            <a:pPr marL="0" indent="0">
              <a:buNone/>
            </a:pPr>
            <a:r>
              <a:rPr lang="en-US" sz="2400" b="1" dirty="0">
                <a:solidFill>
                  <a:srgbClr val="F4F7FB"/>
                </a:solidFill>
                <a:latin typeface="Helvetica Neue" pitchFamily="34" charset="0"/>
                <a:ea typeface="Helvetica Neue" pitchFamily="34" charset="-122"/>
                <a:cs typeface="Helvetica Neue" pitchFamily="34" charset="-120"/>
              </a:rPr>
              <a:t>Athletes aren’t averages. They’re edge cases.</a:t>
            </a:r>
            <a:endParaRPr lang="en-US" sz="2400" dirty="0"/>
          </a:p>
        </p:txBody>
      </p:sp>
      <p:sp>
        <p:nvSpPr>
          <p:cNvPr id="5" name="Text 3"/>
          <p:cNvSpPr/>
          <p:nvPr/>
        </p:nvSpPr>
        <p:spPr>
          <a:xfrm>
            <a:off x="411480" y="2423160"/>
            <a:ext cx="868680" cy="502920"/>
          </a:xfrm>
          <a:prstGeom prst="rect">
            <a:avLst/>
          </a:prstGeom>
          <a:noFill/>
          <a:ln/>
        </p:spPr>
        <p:txBody>
          <a:bodyPr wrap="square" lIns="0" tIns="0" rIns="0" bIns="0" rtlCol="0" anchor="ctr"/>
          <a:lstStyle/>
          <a:p>
            <a:pPr marL="0" indent="0">
              <a:buNone/>
            </a:pPr>
            <a:r>
              <a:rPr lang="en-US" sz="2600" b="1" dirty="0">
                <a:solidFill>
                  <a:srgbClr val="B6F569"/>
                </a:solidFill>
                <a:latin typeface="Helvetica Neue" pitchFamily="34" charset="0"/>
                <a:ea typeface="Helvetica Neue" pitchFamily="34" charset="-122"/>
                <a:cs typeface="Helvetica Neue" pitchFamily="34" charset="-120"/>
              </a:rPr>
              <a:t>01</a:t>
            </a:r>
            <a:endParaRPr lang="en-US" sz="2600" dirty="0"/>
          </a:p>
        </p:txBody>
      </p:sp>
      <p:sp>
        <p:nvSpPr>
          <p:cNvPr id="6" name="Text 4"/>
          <p:cNvSpPr/>
          <p:nvPr/>
        </p:nvSpPr>
        <p:spPr>
          <a:xfrm>
            <a:off x="1325880" y="2423160"/>
            <a:ext cx="7315200" cy="292608"/>
          </a:xfrm>
          <a:prstGeom prst="rect">
            <a:avLst/>
          </a:prstGeom>
          <a:noFill/>
          <a:ln/>
        </p:spPr>
        <p:txBody>
          <a:bodyPr wrap="square" lIns="0" tIns="0" rIns="0" bIns="0" rtlCol="0" anchor="ctr"/>
          <a:lstStyle/>
          <a:p>
            <a:pPr marL="0" indent="0">
              <a:buNone/>
            </a:pPr>
            <a:r>
              <a:rPr lang="en-US" sz="1400" b="1" dirty="0">
                <a:solidFill>
                  <a:srgbClr val="F4F7FB"/>
                </a:solidFill>
                <a:latin typeface="Helvetica Neue" pitchFamily="34" charset="0"/>
                <a:ea typeface="Helvetica Neue" pitchFamily="34" charset="-122"/>
                <a:cs typeface="Helvetica Neue" pitchFamily="34" charset="-120"/>
              </a:rPr>
              <a:t>LLMs generate probable answers, not correct ones</a:t>
            </a:r>
            <a:endParaRPr lang="en-US" sz="1400" dirty="0"/>
          </a:p>
        </p:txBody>
      </p:sp>
      <p:sp>
        <p:nvSpPr>
          <p:cNvPr id="7" name="Text 5"/>
          <p:cNvSpPr/>
          <p:nvPr/>
        </p:nvSpPr>
        <p:spPr>
          <a:xfrm>
            <a:off x="1325880" y="2715768"/>
            <a:ext cx="7315200" cy="45720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Probabilistic token generation averages population data. A 52-year-old female marathoner racing in the heat is not a population average — she’s a unique case that demands unique expertise.</a:t>
            </a:r>
            <a:endParaRPr lang="en-US" sz="1100" dirty="0"/>
          </a:p>
        </p:txBody>
      </p:sp>
      <p:sp>
        <p:nvSpPr>
          <p:cNvPr id="8" name="Text 6"/>
          <p:cNvSpPr/>
          <p:nvPr/>
        </p:nvSpPr>
        <p:spPr>
          <a:xfrm>
            <a:off x="411480" y="3200400"/>
            <a:ext cx="868680" cy="502920"/>
          </a:xfrm>
          <a:prstGeom prst="rect">
            <a:avLst/>
          </a:prstGeom>
          <a:noFill/>
          <a:ln/>
        </p:spPr>
        <p:txBody>
          <a:bodyPr wrap="square" lIns="0" tIns="0" rIns="0" bIns="0" rtlCol="0" anchor="ctr"/>
          <a:lstStyle/>
          <a:p>
            <a:pPr marL="0" indent="0">
              <a:buNone/>
            </a:pPr>
            <a:r>
              <a:rPr lang="en-US" sz="2600" b="1" dirty="0">
                <a:solidFill>
                  <a:srgbClr val="B6F569"/>
                </a:solidFill>
                <a:latin typeface="Helvetica Neue" pitchFamily="34" charset="0"/>
                <a:ea typeface="Helvetica Neue" pitchFamily="34" charset="-122"/>
                <a:cs typeface="Helvetica Neue" pitchFamily="34" charset="-120"/>
              </a:rPr>
              <a:t>02</a:t>
            </a:r>
            <a:endParaRPr lang="en-US" sz="2600" dirty="0"/>
          </a:p>
        </p:txBody>
      </p:sp>
      <p:sp>
        <p:nvSpPr>
          <p:cNvPr id="9" name="Text 7"/>
          <p:cNvSpPr/>
          <p:nvPr/>
        </p:nvSpPr>
        <p:spPr>
          <a:xfrm>
            <a:off x="1325880" y="3200400"/>
            <a:ext cx="7315200" cy="292608"/>
          </a:xfrm>
          <a:prstGeom prst="rect">
            <a:avLst/>
          </a:prstGeom>
          <a:noFill/>
          <a:ln/>
        </p:spPr>
        <p:txBody>
          <a:bodyPr wrap="square" lIns="0" tIns="0" rIns="0" bIns="0" rtlCol="0" anchor="ctr"/>
          <a:lstStyle/>
          <a:p>
            <a:pPr marL="0" indent="0">
              <a:buNone/>
            </a:pPr>
            <a:r>
              <a:rPr lang="en-US" sz="1400" b="1" dirty="0">
                <a:solidFill>
                  <a:srgbClr val="F4F7FB"/>
                </a:solidFill>
                <a:latin typeface="Helvetica Neue" pitchFamily="34" charset="0"/>
                <a:ea typeface="Helvetica Neue" pitchFamily="34" charset="-122"/>
                <a:cs typeface="Helvetica Neue" pitchFamily="34" charset="-120"/>
              </a:rPr>
              <a:t>LLMs read research. Experts interpret it.</a:t>
            </a:r>
            <a:endParaRPr lang="en-US" sz="1400" dirty="0"/>
          </a:p>
        </p:txBody>
      </p:sp>
      <p:sp>
        <p:nvSpPr>
          <p:cNvPr id="10" name="Text 8"/>
          <p:cNvSpPr/>
          <p:nvPr/>
        </p:nvSpPr>
        <p:spPr>
          <a:xfrm>
            <a:off x="1325880" y="3493008"/>
            <a:ext cx="7315200" cy="45720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Supplement studies exist.  Many are poor. Only a world-class sports dietitian knows how to synthesise them with clinical judgment, peer knowledge, and athlete context to make an elegant, safe recommendation.</a:t>
            </a:r>
            <a:endParaRPr lang="en-US" sz="1100" dirty="0"/>
          </a:p>
        </p:txBody>
      </p:sp>
      <p:sp>
        <p:nvSpPr>
          <p:cNvPr id="11" name="Text 9"/>
          <p:cNvSpPr/>
          <p:nvPr/>
        </p:nvSpPr>
        <p:spPr>
          <a:xfrm>
            <a:off x="411480" y="3977640"/>
            <a:ext cx="868680" cy="502920"/>
          </a:xfrm>
          <a:prstGeom prst="rect">
            <a:avLst/>
          </a:prstGeom>
          <a:noFill/>
          <a:ln/>
        </p:spPr>
        <p:txBody>
          <a:bodyPr wrap="square" lIns="0" tIns="0" rIns="0" bIns="0" rtlCol="0" anchor="ctr"/>
          <a:lstStyle/>
          <a:p>
            <a:pPr marL="0" indent="0">
              <a:buNone/>
            </a:pPr>
            <a:r>
              <a:rPr lang="en-US" sz="2600" b="1" dirty="0">
                <a:solidFill>
                  <a:srgbClr val="B6F569"/>
                </a:solidFill>
                <a:latin typeface="Helvetica Neue" pitchFamily="34" charset="0"/>
                <a:ea typeface="Helvetica Neue" pitchFamily="34" charset="-122"/>
                <a:cs typeface="Helvetica Neue" pitchFamily="34" charset="-120"/>
              </a:rPr>
              <a:t>03</a:t>
            </a:r>
            <a:endParaRPr lang="en-US" sz="2600" dirty="0"/>
          </a:p>
        </p:txBody>
      </p:sp>
      <p:sp>
        <p:nvSpPr>
          <p:cNvPr id="12" name="Text 10"/>
          <p:cNvSpPr/>
          <p:nvPr/>
        </p:nvSpPr>
        <p:spPr>
          <a:xfrm>
            <a:off x="1325880" y="3977640"/>
            <a:ext cx="7315200" cy="292608"/>
          </a:xfrm>
          <a:prstGeom prst="rect">
            <a:avLst/>
          </a:prstGeom>
          <a:noFill/>
          <a:ln/>
        </p:spPr>
        <p:txBody>
          <a:bodyPr wrap="square" lIns="0" tIns="0" rIns="0" bIns="0" rtlCol="0" anchor="ctr"/>
          <a:lstStyle/>
          <a:p>
            <a:pPr marL="0" indent="0">
              <a:buNone/>
            </a:pPr>
            <a:r>
              <a:rPr lang="en-US" sz="1400" b="1" dirty="0">
                <a:solidFill>
                  <a:srgbClr val="F4F7FB"/>
                </a:solidFill>
                <a:latin typeface="Helvetica Neue" pitchFamily="34" charset="0"/>
                <a:ea typeface="Helvetica Neue" pitchFamily="34" charset="-122"/>
                <a:cs typeface="Helvetica Neue" pitchFamily="34" charset="-120"/>
              </a:rPr>
              <a:t>LLMs can’t learn from you. George can.</a:t>
            </a:r>
            <a:endParaRPr lang="en-US" sz="1400" dirty="0"/>
          </a:p>
        </p:txBody>
      </p:sp>
      <p:sp>
        <p:nvSpPr>
          <p:cNvPr id="13" name="Text 11"/>
          <p:cNvSpPr/>
          <p:nvPr/>
        </p:nvSpPr>
        <p:spPr>
          <a:xfrm>
            <a:off x="1325880" y="4270248"/>
            <a:ext cx="7315200" cy="45720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Every interaction with George refines his model of you. Your feedback, your trial data, your race outcomes — George gets smarter with every conversation, building a picture no generic AI ever could.</a:t>
            </a:r>
            <a:endParaRPr lang="en-US" sz="1100" dirty="0"/>
          </a:p>
        </p:txBody>
      </p:sp>
      <p:sp>
        <p:nvSpPr>
          <p:cNvPr id="15" name="Text 16">
            <a:extLst>
              <a:ext uri="{FF2B5EF4-FFF2-40B4-BE49-F238E27FC236}">
                <a16:creationId xmlns:a16="http://schemas.microsoft.com/office/drawing/2014/main" id="{F318C99E-A097-7516-61CA-30A7AE52D831}"/>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2532888"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411480"/>
            <a:ext cx="2532888"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MEET GEORGE</a:t>
            </a:r>
            <a:endParaRPr lang="en-US" sz="900" dirty="0"/>
          </a:p>
        </p:txBody>
      </p:sp>
      <p:sp>
        <p:nvSpPr>
          <p:cNvPr id="4" name="Text 2"/>
          <p:cNvSpPr/>
          <p:nvPr/>
        </p:nvSpPr>
        <p:spPr>
          <a:xfrm>
            <a:off x="411480" y="822960"/>
            <a:ext cx="8229600" cy="1005840"/>
          </a:xfrm>
          <a:prstGeom prst="rect">
            <a:avLst/>
          </a:prstGeom>
          <a:noFill/>
          <a:ln/>
        </p:spPr>
        <p:txBody>
          <a:bodyPr wrap="square" lIns="0" tIns="0" rIns="0" bIns="0" rtlCol="0" anchor="ctr"/>
          <a:lstStyle/>
          <a:p>
            <a:pPr marL="0" indent="0">
              <a:buNone/>
            </a:pPr>
            <a:r>
              <a:rPr lang="en-US" sz="2400" b="1" dirty="0">
                <a:solidFill>
                  <a:srgbClr val="F4F7FB"/>
                </a:solidFill>
                <a:latin typeface="Helvetica Neue" pitchFamily="34" charset="0"/>
                <a:ea typeface="Helvetica Neue" pitchFamily="34" charset="-122"/>
                <a:cs typeface="Helvetica Neue" pitchFamily="34" charset="-120"/>
              </a:rPr>
              <a:t>Your personal sports nutrition expert — available 24/7, powered by the world’s best scientists.</a:t>
            </a:r>
            <a:endParaRPr lang="en-US" sz="2400" dirty="0"/>
          </a:p>
        </p:txBody>
      </p:sp>
      <p:sp>
        <p:nvSpPr>
          <p:cNvPr id="5" name="Text 3"/>
          <p:cNvSpPr/>
          <p:nvPr/>
        </p:nvSpPr>
        <p:spPr>
          <a:xfrm>
            <a:off x="411480" y="1783080"/>
            <a:ext cx="8229600" cy="777240"/>
          </a:xfrm>
          <a:prstGeom prst="rect">
            <a:avLst/>
          </a:prstGeom>
          <a:noFill/>
          <a:ln/>
        </p:spPr>
        <p:txBody>
          <a:bodyPr wrap="square" lIns="0" tIns="0" rIns="0" bIns="0" rtlCol="0" anchor="ctr"/>
          <a:lstStyle/>
          <a:p>
            <a:pPr marL="0" indent="0">
              <a:buNone/>
            </a:pPr>
            <a:r>
              <a:rPr lang="en-US" sz="1250" dirty="0">
                <a:solidFill>
                  <a:srgbClr val="C8D1DD"/>
                </a:solidFill>
                <a:latin typeface="Calibri" pitchFamily="34" charset="0"/>
                <a:ea typeface="Calibri" pitchFamily="34" charset="-122"/>
                <a:cs typeface="Calibri" pitchFamily="34" charset="-120"/>
              </a:rPr>
              <a:t>George isn’t a chatbot. He’s an AI sports dietitian trained on the knowledge of the scientists who write the research papers every other AI merely reads. George converses like a world-class expert, personalises every recommendation, and gets smarter the more you interact with him. No edge case is too hard. No athlete profile is too unusual.</a:t>
            </a:r>
            <a:endParaRPr lang="en-US" sz="1250" dirty="0"/>
          </a:p>
        </p:txBody>
      </p:sp>
      <p:sp>
        <p:nvSpPr>
          <p:cNvPr id="6" name="Shape 4"/>
          <p:cNvSpPr/>
          <p:nvPr/>
        </p:nvSpPr>
        <p:spPr>
          <a:xfrm>
            <a:off x="411480" y="2697480"/>
            <a:ext cx="2743200" cy="1874520"/>
          </a:xfrm>
          <a:prstGeom prst="rect">
            <a:avLst/>
          </a:prstGeom>
          <a:solidFill>
            <a:srgbClr val="161D27"/>
          </a:solidFill>
          <a:ln w="9525">
            <a:solidFill>
              <a:srgbClr val="2A3441"/>
            </a:solidFill>
            <a:prstDash val="solid"/>
          </a:ln>
        </p:spPr>
        <p:txBody>
          <a:bodyPr/>
          <a:lstStyle/>
          <a:p>
            <a:endParaRPr lang="en-US"/>
          </a:p>
        </p:txBody>
      </p:sp>
      <p:sp>
        <p:nvSpPr>
          <p:cNvPr id="7" name="Shape 5"/>
          <p:cNvSpPr/>
          <p:nvPr/>
        </p:nvSpPr>
        <p:spPr>
          <a:xfrm>
            <a:off x="411480" y="2697480"/>
            <a:ext cx="2743200" cy="54864"/>
          </a:xfrm>
          <a:prstGeom prst="rect">
            <a:avLst/>
          </a:prstGeom>
          <a:solidFill>
            <a:srgbClr val="B6F569"/>
          </a:solidFill>
          <a:ln w="12700">
            <a:solidFill>
              <a:srgbClr val="B6F569"/>
            </a:solidFill>
            <a:prstDash val="solid"/>
          </a:ln>
        </p:spPr>
        <p:txBody>
          <a:bodyPr/>
          <a:lstStyle/>
          <a:p>
            <a:endParaRPr lang="en-US"/>
          </a:p>
        </p:txBody>
      </p:sp>
      <p:sp>
        <p:nvSpPr>
          <p:cNvPr id="8" name="Text 6"/>
          <p:cNvSpPr/>
          <p:nvPr/>
        </p:nvSpPr>
        <p:spPr>
          <a:xfrm>
            <a:off x="594360" y="2834640"/>
            <a:ext cx="2377440" cy="228600"/>
          </a:xfrm>
          <a:prstGeom prst="rect">
            <a:avLst/>
          </a:prstGeom>
          <a:noFill/>
          <a:ln/>
        </p:spPr>
        <p:txBody>
          <a:bodyPr wrap="square" lIns="0" tIns="0" rIns="0" bIns="0" rtlCol="0" anchor="ctr"/>
          <a:lstStyle/>
          <a:p>
            <a:pPr marL="0" indent="0">
              <a:buNone/>
            </a:pPr>
            <a:r>
              <a:rPr lang="en-US" sz="900" b="1" kern="0" spc="600" dirty="0">
                <a:solidFill>
                  <a:srgbClr val="B6F569"/>
                </a:solidFill>
                <a:latin typeface="Helvetica Neue" pitchFamily="34" charset="0"/>
                <a:ea typeface="Helvetica Neue" pitchFamily="34" charset="-122"/>
                <a:cs typeface="Helvetica Neue" pitchFamily="34" charset="-120"/>
              </a:rPr>
              <a:t>EXPERT AI CONVERSATION</a:t>
            </a:r>
            <a:endParaRPr lang="en-US" sz="900" dirty="0"/>
          </a:p>
        </p:txBody>
      </p:sp>
      <p:sp>
        <p:nvSpPr>
          <p:cNvPr id="9" name="Text 7"/>
          <p:cNvSpPr/>
          <p:nvPr/>
        </p:nvSpPr>
        <p:spPr>
          <a:xfrm>
            <a:off x="594360" y="3063240"/>
            <a:ext cx="2377440" cy="68580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George engages like a world-class sports dietitian</a:t>
            </a:r>
            <a:endParaRPr lang="en-US" sz="1300" dirty="0"/>
          </a:p>
        </p:txBody>
      </p:sp>
      <p:sp>
        <p:nvSpPr>
          <p:cNvPr id="10" name="Text 8"/>
          <p:cNvSpPr/>
          <p:nvPr/>
        </p:nvSpPr>
        <p:spPr>
          <a:xfrm>
            <a:off x="594360" y="3749040"/>
            <a:ext cx="2377440" cy="77724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Ask George anything — race fueling, supplement timing, heat adaptation, body composition. He responds with personalised, expert-level guidance backed by the scientists who produce the research.</a:t>
            </a:r>
            <a:endParaRPr lang="en-US" sz="1050" dirty="0"/>
          </a:p>
        </p:txBody>
      </p:sp>
      <p:sp>
        <p:nvSpPr>
          <p:cNvPr id="11" name="Shape 9"/>
          <p:cNvSpPr/>
          <p:nvPr/>
        </p:nvSpPr>
        <p:spPr>
          <a:xfrm>
            <a:off x="3337560" y="2697480"/>
            <a:ext cx="2743200" cy="1874520"/>
          </a:xfrm>
          <a:prstGeom prst="rect">
            <a:avLst/>
          </a:prstGeom>
          <a:solidFill>
            <a:srgbClr val="161D27"/>
          </a:solidFill>
          <a:ln w="9525">
            <a:solidFill>
              <a:srgbClr val="2A3441"/>
            </a:solidFill>
            <a:prstDash val="solid"/>
          </a:ln>
        </p:spPr>
        <p:txBody>
          <a:bodyPr/>
          <a:lstStyle/>
          <a:p>
            <a:endParaRPr lang="en-US"/>
          </a:p>
        </p:txBody>
      </p:sp>
      <p:sp>
        <p:nvSpPr>
          <p:cNvPr id="12" name="Shape 10"/>
          <p:cNvSpPr/>
          <p:nvPr/>
        </p:nvSpPr>
        <p:spPr>
          <a:xfrm>
            <a:off x="3337560" y="2697480"/>
            <a:ext cx="2743200" cy="54864"/>
          </a:xfrm>
          <a:prstGeom prst="rect">
            <a:avLst/>
          </a:prstGeom>
          <a:solidFill>
            <a:srgbClr val="67E8F9"/>
          </a:solidFill>
          <a:ln w="12700">
            <a:solidFill>
              <a:srgbClr val="67E8F9"/>
            </a:solidFill>
            <a:prstDash val="solid"/>
          </a:ln>
        </p:spPr>
        <p:txBody>
          <a:bodyPr/>
          <a:lstStyle/>
          <a:p>
            <a:endParaRPr lang="en-US"/>
          </a:p>
        </p:txBody>
      </p:sp>
      <p:sp>
        <p:nvSpPr>
          <p:cNvPr id="13" name="Text 11"/>
          <p:cNvSpPr/>
          <p:nvPr/>
        </p:nvSpPr>
        <p:spPr>
          <a:xfrm>
            <a:off x="3520440" y="2834640"/>
            <a:ext cx="2377440" cy="228600"/>
          </a:xfrm>
          <a:prstGeom prst="rect">
            <a:avLst/>
          </a:prstGeom>
          <a:noFill/>
          <a:ln/>
        </p:spPr>
        <p:txBody>
          <a:bodyPr wrap="square" lIns="0" tIns="0" rIns="0" bIns="0" rtlCol="0" anchor="ctr"/>
          <a:lstStyle/>
          <a:p>
            <a:pPr marL="0" indent="0">
              <a:buNone/>
            </a:pPr>
            <a:r>
              <a:rPr lang="en-US" sz="900" b="1" kern="0" spc="600" dirty="0">
                <a:solidFill>
                  <a:srgbClr val="67E8F9"/>
                </a:solidFill>
                <a:latin typeface="Helvetica Neue" pitchFamily="34" charset="0"/>
                <a:ea typeface="Helvetica Neue" pitchFamily="34" charset="-122"/>
                <a:cs typeface="Helvetica Neue" pitchFamily="34" charset="-120"/>
              </a:rPr>
              <a:t>PERSONALISED RECOMMENDATIONS</a:t>
            </a:r>
            <a:endParaRPr lang="en-US" sz="900" dirty="0"/>
          </a:p>
        </p:txBody>
      </p:sp>
      <p:sp>
        <p:nvSpPr>
          <p:cNvPr id="14" name="Text 12"/>
          <p:cNvSpPr/>
          <p:nvPr/>
        </p:nvSpPr>
        <p:spPr>
          <a:xfrm>
            <a:off x="3520440" y="3063240"/>
            <a:ext cx="2377440" cy="68580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Best supplement + best way to use it, for you</a:t>
            </a:r>
            <a:endParaRPr lang="en-US" sz="1300" dirty="0"/>
          </a:p>
        </p:txBody>
      </p:sp>
      <p:sp>
        <p:nvSpPr>
          <p:cNvPr id="15" name="Text 13"/>
          <p:cNvSpPr/>
          <p:nvPr/>
        </p:nvSpPr>
        <p:spPr>
          <a:xfrm>
            <a:off x="3520440" y="3749040"/>
            <a:ext cx="2377440" cy="77724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George doesn’t just name a supplement — he tells you exactly how to dose it, when to take it, and how to adapt it to your conditions. Edge cases welcome. Library of ~25 supplements at launch.</a:t>
            </a:r>
            <a:endParaRPr lang="en-US" sz="1050" dirty="0"/>
          </a:p>
        </p:txBody>
      </p:sp>
      <p:sp>
        <p:nvSpPr>
          <p:cNvPr id="16" name="Shape 14"/>
          <p:cNvSpPr/>
          <p:nvPr/>
        </p:nvSpPr>
        <p:spPr>
          <a:xfrm>
            <a:off x="6263640" y="2697480"/>
            <a:ext cx="2743200" cy="1874520"/>
          </a:xfrm>
          <a:prstGeom prst="rect">
            <a:avLst/>
          </a:prstGeom>
          <a:solidFill>
            <a:srgbClr val="161D27"/>
          </a:solidFill>
          <a:ln w="9525">
            <a:solidFill>
              <a:srgbClr val="2A3441"/>
            </a:solidFill>
            <a:prstDash val="solid"/>
          </a:ln>
        </p:spPr>
        <p:txBody>
          <a:bodyPr/>
          <a:lstStyle/>
          <a:p>
            <a:endParaRPr lang="en-US"/>
          </a:p>
        </p:txBody>
      </p:sp>
      <p:sp>
        <p:nvSpPr>
          <p:cNvPr id="17" name="Shape 15"/>
          <p:cNvSpPr/>
          <p:nvPr/>
        </p:nvSpPr>
        <p:spPr>
          <a:xfrm>
            <a:off x="6263640" y="2697480"/>
            <a:ext cx="2743200" cy="54864"/>
          </a:xfrm>
          <a:prstGeom prst="rect">
            <a:avLst/>
          </a:prstGeom>
          <a:solidFill>
            <a:srgbClr val="FCD34D"/>
          </a:solidFill>
          <a:ln w="12700">
            <a:solidFill>
              <a:srgbClr val="FCD34D"/>
            </a:solidFill>
            <a:prstDash val="solid"/>
          </a:ln>
        </p:spPr>
        <p:txBody>
          <a:bodyPr/>
          <a:lstStyle/>
          <a:p>
            <a:endParaRPr lang="en-US"/>
          </a:p>
        </p:txBody>
      </p:sp>
      <p:sp>
        <p:nvSpPr>
          <p:cNvPr id="18" name="Text 16"/>
          <p:cNvSpPr/>
          <p:nvPr/>
        </p:nvSpPr>
        <p:spPr>
          <a:xfrm>
            <a:off x="6446520" y="2834640"/>
            <a:ext cx="2377440" cy="228600"/>
          </a:xfrm>
          <a:prstGeom prst="rect">
            <a:avLst/>
          </a:prstGeom>
          <a:noFill/>
          <a:ln/>
        </p:spPr>
        <p:txBody>
          <a:bodyPr wrap="square" lIns="0" tIns="0" rIns="0" bIns="0" rtlCol="0" anchor="ctr"/>
          <a:lstStyle/>
          <a:p>
            <a:pPr marL="0" indent="0">
              <a:buNone/>
            </a:pPr>
            <a:r>
              <a:rPr lang="en-US" sz="900" b="1" kern="0" spc="600" dirty="0">
                <a:solidFill>
                  <a:srgbClr val="FCD34D"/>
                </a:solidFill>
                <a:latin typeface="Helvetica Neue" pitchFamily="34" charset="0"/>
                <a:ea typeface="Helvetica Neue" pitchFamily="34" charset="-122"/>
                <a:cs typeface="Helvetica Neue" pitchFamily="34" charset="-120"/>
              </a:rPr>
              <a:t>ADAPTIVE LEARNING</a:t>
            </a:r>
            <a:endParaRPr lang="en-US" sz="900" dirty="0"/>
          </a:p>
        </p:txBody>
      </p:sp>
      <p:sp>
        <p:nvSpPr>
          <p:cNvPr id="19" name="Text 17"/>
          <p:cNvSpPr/>
          <p:nvPr/>
        </p:nvSpPr>
        <p:spPr>
          <a:xfrm>
            <a:off x="6446520" y="3063240"/>
            <a:ext cx="2377440" cy="68580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George gets smarter every time you interact</a:t>
            </a:r>
            <a:endParaRPr lang="en-US" sz="1300" dirty="0"/>
          </a:p>
        </p:txBody>
      </p:sp>
      <p:sp>
        <p:nvSpPr>
          <p:cNvPr id="20" name="Text 18"/>
          <p:cNvSpPr/>
          <p:nvPr/>
        </p:nvSpPr>
        <p:spPr>
          <a:xfrm>
            <a:off x="6446520" y="3749040"/>
            <a:ext cx="2377440" cy="77724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Every feedback loop, trial result, and conversation refines George’s model of you. The system learns from each athlete interaction, compounding personalisation across the entire platform.</a:t>
            </a:r>
            <a:endParaRPr lang="en-US" sz="1050" dirty="0"/>
          </a:p>
        </p:txBody>
      </p:sp>
      <p:sp>
        <p:nvSpPr>
          <p:cNvPr id="21" name="Text 19"/>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22" name="Text 20"/>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1581912"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79" y="411480"/>
            <a:ext cx="3706563" cy="182880"/>
          </a:xfrm>
          <a:prstGeom prst="rect">
            <a:avLst/>
          </a:prstGeom>
          <a:noFill/>
          <a:ln/>
        </p:spPr>
        <p:txBody>
          <a:bodyPr wrap="square" lIns="0" tIns="0" rIns="0" bIns="0" rtlCol="0" anchor="ctr"/>
          <a:lstStyle/>
          <a:p>
            <a:pPr marL="0" indent="0" algn="ctr">
              <a:buNone/>
            </a:pPr>
            <a:r>
              <a:rPr lang="en-US" sz="900" b="1" kern="0" spc="600" dirty="0">
                <a:solidFill>
                  <a:srgbClr val="67E8F9"/>
                </a:solidFill>
                <a:latin typeface="Helvetica Neue" pitchFamily="34" charset="0"/>
                <a:ea typeface="Helvetica Neue" pitchFamily="34" charset="-122"/>
                <a:cs typeface="Helvetica Neue" pitchFamily="34" charset="-120"/>
              </a:rPr>
              <a:t>THE WHATSUPP? DIFFERENCE</a:t>
            </a:r>
            <a:endParaRPr lang="en-US" sz="900" dirty="0"/>
          </a:p>
        </p:txBody>
      </p:sp>
      <p:sp>
        <p:nvSpPr>
          <p:cNvPr id="4" name="Text 2"/>
          <p:cNvSpPr/>
          <p:nvPr/>
        </p:nvSpPr>
        <p:spPr>
          <a:xfrm>
            <a:off x="411480" y="822960"/>
            <a:ext cx="8229600" cy="640080"/>
          </a:xfrm>
          <a:prstGeom prst="rect">
            <a:avLst/>
          </a:prstGeom>
          <a:noFill/>
          <a:ln/>
        </p:spPr>
        <p:txBody>
          <a:bodyPr wrap="square" lIns="0" tIns="0" rIns="0" bIns="0" rtlCol="0" anchor="ctr"/>
          <a:lstStyle/>
          <a:p>
            <a:pPr marL="0" indent="0">
              <a:buNone/>
            </a:pPr>
            <a:r>
              <a:rPr lang="en-US" sz="2400" b="1" dirty="0">
                <a:solidFill>
                  <a:srgbClr val="F4F7FB"/>
                </a:solidFill>
                <a:latin typeface="Helvetica Neue" pitchFamily="34" charset="0"/>
                <a:ea typeface="Helvetica Neue" pitchFamily="34" charset="-122"/>
                <a:cs typeface="Helvetica Neue" pitchFamily="34" charset="-120"/>
              </a:rPr>
              <a:t>Powered by the scientists who do the research — not just the papers they publish.</a:t>
            </a:r>
            <a:endParaRPr lang="en-US" sz="2400" dirty="0"/>
          </a:p>
        </p:txBody>
      </p:sp>
      <p:sp>
        <p:nvSpPr>
          <p:cNvPr id="5" name="Text 3"/>
          <p:cNvSpPr/>
          <p:nvPr/>
        </p:nvSpPr>
        <p:spPr>
          <a:xfrm>
            <a:off x="411479" y="1564273"/>
            <a:ext cx="8229600" cy="365760"/>
          </a:xfrm>
          <a:prstGeom prst="rect">
            <a:avLst/>
          </a:prstGeom>
          <a:noFill/>
          <a:ln/>
        </p:spPr>
        <p:txBody>
          <a:bodyPr wrap="square" lIns="0" tIns="0" rIns="0" bIns="0" rtlCol="0" anchor="ctr"/>
          <a:lstStyle/>
          <a:p>
            <a:pPr marL="0" indent="0">
              <a:buNone/>
            </a:pPr>
            <a:r>
              <a:rPr lang="en-US" sz="1300" dirty="0">
                <a:solidFill>
                  <a:srgbClr val="C8D1DD"/>
                </a:solidFill>
                <a:latin typeface="Calibri" pitchFamily="34" charset="0"/>
                <a:ea typeface="Calibri" pitchFamily="34" charset="-122"/>
                <a:cs typeface="Calibri" pitchFamily="34" charset="-120"/>
              </a:rPr>
              <a:t>Other AI systems read what experts publish. George is powered by the experts themselves. No edge case too hard. No athlete too unusual.</a:t>
            </a:r>
            <a:endParaRPr lang="en-US" sz="1300" dirty="0"/>
          </a:p>
        </p:txBody>
      </p:sp>
      <p:sp>
        <p:nvSpPr>
          <p:cNvPr id="6" name="Shape 4"/>
          <p:cNvSpPr/>
          <p:nvPr/>
        </p:nvSpPr>
        <p:spPr>
          <a:xfrm>
            <a:off x="434340" y="2079126"/>
            <a:ext cx="4160520" cy="2423160"/>
          </a:xfrm>
          <a:prstGeom prst="rect">
            <a:avLst/>
          </a:prstGeom>
          <a:solidFill>
            <a:srgbClr val="161D27"/>
          </a:solidFill>
          <a:ln w="9525">
            <a:solidFill>
              <a:srgbClr val="2A3441"/>
            </a:solidFill>
            <a:prstDash val="solid"/>
          </a:ln>
        </p:spPr>
        <p:txBody>
          <a:bodyPr/>
          <a:lstStyle/>
          <a:p>
            <a:endParaRPr lang="en-US"/>
          </a:p>
        </p:txBody>
      </p:sp>
      <p:sp>
        <p:nvSpPr>
          <p:cNvPr id="7" name="Text 5"/>
          <p:cNvSpPr/>
          <p:nvPr/>
        </p:nvSpPr>
        <p:spPr>
          <a:xfrm>
            <a:off x="594360" y="2194560"/>
            <a:ext cx="3840480" cy="292608"/>
          </a:xfrm>
          <a:prstGeom prst="rect">
            <a:avLst/>
          </a:prstGeom>
          <a:noFill/>
          <a:ln/>
        </p:spPr>
        <p:txBody>
          <a:bodyPr wrap="square" lIns="0" tIns="0" rIns="0" bIns="0" rtlCol="0" anchor="ctr"/>
          <a:lstStyle/>
          <a:p>
            <a:pPr marL="0" indent="0">
              <a:buNone/>
            </a:pPr>
            <a:r>
              <a:rPr lang="en-US" sz="1200" b="1" kern="0" spc="400" dirty="0">
                <a:solidFill>
                  <a:srgbClr val="B6F569"/>
                </a:solidFill>
                <a:latin typeface="Helvetica Neue" pitchFamily="34" charset="0"/>
                <a:ea typeface="Helvetica Neue" pitchFamily="34" charset="-122"/>
                <a:cs typeface="Helvetica Neue" pitchFamily="34" charset="-120"/>
              </a:rPr>
              <a:t>What George does differently</a:t>
            </a:r>
            <a:endParaRPr lang="en-US" sz="1200" dirty="0"/>
          </a:p>
        </p:txBody>
      </p:sp>
      <p:sp>
        <p:nvSpPr>
          <p:cNvPr id="8" name="Text 6"/>
          <p:cNvSpPr/>
          <p:nvPr/>
        </p:nvSpPr>
        <p:spPr>
          <a:xfrm>
            <a:off x="594360" y="2560320"/>
            <a:ext cx="3840480" cy="411480"/>
          </a:xfrm>
          <a:prstGeom prst="rect">
            <a:avLst/>
          </a:prstGeom>
          <a:noFill/>
          <a:ln/>
        </p:spPr>
        <p:txBody>
          <a:bodyPr wrap="square" lIns="0" tIns="0" rIns="0" bIns="0" rtlCol="0" anchor="ctr"/>
          <a:lstStyle/>
          <a:p>
            <a:pPr marL="0" indent="0">
              <a:buNone/>
            </a:pPr>
            <a:r>
              <a:rPr lang="en-US" sz="1100" dirty="0">
                <a:solidFill>
                  <a:srgbClr val="C8D1DD"/>
                </a:solidFill>
                <a:latin typeface="Calibri" pitchFamily="34" charset="0"/>
                <a:ea typeface="Calibri" pitchFamily="34" charset="-122"/>
                <a:cs typeface="Calibri" pitchFamily="34" charset="-120"/>
              </a:rPr>
              <a:t>Engages you like a world-class sports dietitian — not a search engine.</a:t>
            </a:r>
            <a:endParaRPr lang="en-US" sz="1100" dirty="0"/>
          </a:p>
        </p:txBody>
      </p:sp>
      <p:sp>
        <p:nvSpPr>
          <p:cNvPr id="9" name="Text 7"/>
          <p:cNvSpPr/>
          <p:nvPr/>
        </p:nvSpPr>
        <p:spPr>
          <a:xfrm>
            <a:off x="594360" y="3017520"/>
            <a:ext cx="3840480" cy="411480"/>
          </a:xfrm>
          <a:prstGeom prst="rect">
            <a:avLst/>
          </a:prstGeom>
          <a:noFill/>
          <a:ln/>
        </p:spPr>
        <p:txBody>
          <a:bodyPr wrap="square" lIns="0" tIns="0" rIns="0" bIns="0" rtlCol="0" anchor="ctr"/>
          <a:lstStyle/>
          <a:p>
            <a:pPr marL="0" indent="0">
              <a:buNone/>
            </a:pPr>
            <a:r>
              <a:rPr lang="en-US" sz="1100" dirty="0">
                <a:solidFill>
                  <a:srgbClr val="C8D1DD"/>
                </a:solidFill>
                <a:latin typeface="Calibri" pitchFamily="34" charset="0"/>
                <a:ea typeface="Calibri" pitchFamily="34" charset="-122"/>
                <a:cs typeface="Calibri" pitchFamily="34" charset="-120"/>
              </a:rPr>
              <a:t>Personalises supplement recommendations to your age, sex, event, environment, and history.</a:t>
            </a:r>
            <a:endParaRPr lang="en-US" sz="1100" dirty="0"/>
          </a:p>
        </p:txBody>
      </p:sp>
      <p:sp>
        <p:nvSpPr>
          <p:cNvPr id="10" name="Text 8"/>
          <p:cNvSpPr/>
          <p:nvPr/>
        </p:nvSpPr>
        <p:spPr>
          <a:xfrm>
            <a:off x="594360" y="3474720"/>
            <a:ext cx="3840480" cy="411480"/>
          </a:xfrm>
          <a:prstGeom prst="rect">
            <a:avLst/>
          </a:prstGeom>
          <a:noFill/>
          <a:ln/>
        </p:spPr>
        <p:txBody>
          <a:bodyPr wrap="square" lIns="0" tIns="0" rIns="0" bIns="0" rtlCol="0" anchor="ctr"/>
          <a:lstStyle/>
          <a:p>
            <a:pPr marL="0" indent="0">
              <a:buNone/>
            </a:pPr>
            <a:r>
              <a:rPr lang="en-US" sz="1100" dirty="0">
                <a:solidFill>
                  <a:srgbClr val="C8D1DD"/>
                </a:solidFill>
                <a:latin typeface="Calibri" pitchFamily="34" charset="0"/>
                <a:ea typeface="Calibri" pitchFamily="34" charset="-122"/>
                <a:cs typeface="Calibri" pitchFamily="34" charset="-120"/>
              </a:rPr>
              <a:t>Gets smarter with every interaction — learning from your feedback, your data, and your outcomes.</a:t>
            </a:r>
            <a:endParaRPr lang="en-US" sz="1100" dirty="0"/>
          </a:p>
        </p:txBody>
      </p:sp>
      <p:sp>
        <p:nvSpPr>
          <p:cNvPr id="12" name="Shape 10"/>
          <p:cNvSpPr/>
          <p:nvPr/>
        </p:nvSpPr>
        <p:spPr>
          <a:xfrm>
            <a:off x="4663440" y="2103120"/>
            <a:ext cx="4069080" cy="2423160"/>
          </a:xfrm>
          <a:prstGeom prst="rect">
            <a:avLst/>
          </a:prstGeom>
          <a:solidFill>
            <a:srgbClr val="161D27"/>
          </a:solidFill>
          <a:ln w="9525">
            <a:solidFill>
              <a:srgbClr val="2A3441"/>
            </a:solidFill>
            <a:prstDash val="solid"/>
          </a:ln>
        </p:spPr>
        <p:txBody>
          <a:bodyPr/>
          <a:lstStyle/>
          <a:p>
            <a:endParaRPr lang="en-US"/>
          </a:p>
        </p:txBody>
      </p:sp>
      <p:sp>
        <p:nvSpPr>
          <p:cNvPr id="13" name="Text 11"/>
          <p:cNvSpPr/>
          <p:nvPr/>
        </p:nvSpPr>
        <p:spPr>
          <a:xfrm>
            <a:off x="4846320" y="2194560"/>
            <a:ext cx="3657600" cy="292608"/>
          </a:xfrm>
          <a:prstGeom prst="rect">
            <a:avLst/>
          </a:prstGeom>
          <a:noFill/>
          <a:ln/>
        </p:spPr>
        <p:txBody>
          <a:bodyPr wrap="square" lIns="0" tIns="0" rIns="0" bIns="0" rtlCol="0" anchor="ctr"/>
          <a:lstStyle/>
          <a:p>
            <a:pPr marL="0" indent="0">
              <a:buNone/>
            </a:pPr>
            <a:r>
              <a:rPr lang="en-US" sz="1200" b="1" kern="0" spc="400" dirty="0">
                <a:solidFill>
                  <a:srgbClr val="67E8F9"/>
                </a:solidFill>
                <a:latin typeface="Helvetica Neue" pitchFamily="34" charset="0"/>
                <a:ea typeface="Helvetica Neue" pitchFamily="34" charset="-122"/>
                <a:cs typeface="Helvetica Neue" pitchFamily="34" charset="-120"/>
              </a:rPr>
              <a:t>Why this is now possible</a:t>
            </a:r>
            <a:endParaRPr lang="en-US" sz="1200" dirty="0"/>
          </a:p>
        </p:txBody>
      </p:sp>
      <p:sp>
        <p:nvSpPr>
          <p:cNvPr id="14" name="Text 12"/>
          <p:cNvSpPr/>
          <p:nvPr/>
        </p:nvSpPr>
        <p:spPr>
          <a:xfrm>
            <a:off x="4846320" y="2560320"/>
            <a:ext cx="1417320" cy="274320"/>
          </a:xfrm>
          <a:prstGeom prst="rect">
            <a:avLst/>
          </a:prstGeom>
          <a:noFill/>
          <a:ln/>
        </p:spPr>
        <p:txBody>
          <a:bodyPr wrap="square" lIns="0" tIns="0" rIns="0" bIns="0" rtlCol="0" anchor="ctr"/>
          <a:lstStyle/>
          <a:p>
            <a:pPr marL="0" indent="0">
              <a:buNone/>
            </a:pPr>
            <a:r>
              <a:rPr lang="en-US" sz="1100" b="1" dirty="0">
                <a:solidFill>
                  <a:srgbClr val="F4F7FB"/>
                </a:solidFill>
                <a:latin typeface="Helvetica Neue" pitchFamily="34" charset="0"/>
                <a:ea typeface="Helvetica Neue" pitchFamily="34" charset="-122"/>
                <a:cs typeface="Helvetica Neue" pitchFamily="34" charset="-120"/>
              </a:rPr>
              <a:t>Expert network</a:t>
            </a:r>
            <a:endParaRPr lang="en-US" sz="1100" dirty="0"/>
          </a:p>
        </p:txBody>
      </p:sp>
      <p:sp>
        <p:nvSpPr>
          <p:cNvPr id="15" name="Text 13"/>
          <p:cNvSpPr/>
          <p:nvPr/>
        </p:nvSpPr>
        <p:spPr>
          <a:xfrm>
            <a:off x="6263640" y="2578608"/>
            <a:ext cx="2331720" cy="41148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The scientists who produced the research fuel George’s intelligence</a:t>
            </a:r>
            <a:endParaRPr lang="en-US" sz="1050" dirty="0"/>
          </a:p>
        </p:txBody>
      </p:sp>
      <p:sp>
        <p:nvSpPr>
          <p:cNvPr id="16" name="Text 14"/>
          <p:cNvSpPr/>
          <p:nvPr/>
        </p:nvSpPr>
        <p:spPr>
          <a:xfrm>
            <a:off x="4846320" y="3017520"/>
            <a:ext cx="1417320" cy="274320"/>
          </a:xfrm>
          <a:prstGeom prst="rect">
            <a:avLst/>
          </a:prstGeom>
          <a:noFill/>
          <a:ln/>
        </p:spPr>
        <p:txBody>
          <a:bodyPr wrap="square" lIns="0" tIns="0" rIns="0" bIns="0" rtlCol="0" anchor="ctr"/>
          <a:lstStyle/>
          <a:p>
            <a:pPr marL="0" indent="0">
              <a:buNone/>
            </a:pPr>
            <a:r>
              <a:rPr lang="en-US" sz="1100" b="1" dirty="0">
                <a:solidFill>
                  <a:srgbClr val="F4F7FB"/>
                </a:solidFill>
                <a:latin typeface="Helvetica Neue" pitchFamily="34" charset="0"/>
                <a:ea typeface="Helvetica Neue" pitchFamily="34" charset="-122"/>
                <a:cs typeface="Helvetica Neue" pitchFamily="34" charset="-120"/>
              </a:rPr>
              <a:t>Adaptive AI</a:t>
            </a:r>
            <a:endParaRPr lang="en-US" sz="1100" dirty="0"/>
          </a:p>
        </p:txBody>
      </p:sp>
      <p:sp>
        <p:nvSpPr>
          <p:cNvPr id="17" name="Text 15"/>
          <p:cNvSpPr/>
          <p:nvPr/>
        </p:nvSpPr>
        <p:spPr>
          <a:xfrm>
            <a:off x="6263640" y="2994660"/>
            <a:ext cx="2606040" cy="41148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George learns from every athlete interaction, sharpening personalisation at scale.</a:t>
            </a:r>
            <a:endParaRPr lang="en-US" sz="1050" dirty="0"/>
          </a:p>
        </p:txBody>
      </p:sp>
      <p:sp>
        <p:nvSpPr>
          <p:cNvPr id="18" name="Text 16"/>
          <p:cNvSpPr/>
          <p:nvPr/>
        </p:nvSpPr>
        <p:spPr>
          <a:xfrm>
            <a:off x="4846320" y="3474720"/>
            <a:ext cx="1417320" cy="274320"/>
          </a:xfrm>
          <a:prstGeom prst="rect">
            <a:avLst/>
          </a:prstGeom>
          <a:noFill/>
          <a:ln/>
        </p:spPr>
        <p:txBody>
          <a:bodyPr wrap="square" lIns="0" tIns="0" rIns="0" bIns="0" rtlCol="0" anchor="ctr"/>
          <a:lstStyle/>
          <a:p>
            <a:pPr marL="0" indent="0">
              <a:buNone/>
            </a:pPr>
            <a:r>
              <a:rPr lang="en-US" sz="1100" b="1" dirty="0">
                <a:solidFill>
                  <a:srgbClr val="F4F7FB"/>
                </a:solidFill>
                <a:latin typeface="Helvetica Neue" pitchFamily="34" charset="0"/>
                <a:ea typeface="Helvetica Neue" pitchFamily="34" charset="-122"/>
                <a:cs typeface="Helvetica Neue" pitchFamily="34" charset="-120"/>
              </a:rPr>
              <a:t>Wearables &amp; apps</a:t>
            </a:r>
            <a:endParaRPr lang="en-US" sz="1100" dirty="0"/>
          </a:p>
        </p:txBody>
      </p:sp>
      <p:sp>
        <p:nvSpPr>
          <p:cNvPr id="19" name="Text 17"/>
          <p:cNvSpPr/>
          <p:nvPr/>
        </p:nvSpPr>
        <p:spPr>
          <a:xfrm>
            <a:off x="6263640" y="3493008"/>
            <a:ext cx="2331720" cy="41148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Garmin, Whoop, TrainingPeaks give George real performance context — not self-reported guesses.</a:t>
            </a:r>
            <a:endParaRPr lang="en-US" sz="1050" dirty="0"/>
          </a:p>
        </p:txBody>
      </p:sp>
      <p:sp>
        <p:nvSpPr>
          <p:cNvPr id="20" name="Text 18"/>
          <p:cNvSpPr/>
          <p:nvPr/>
        </p:nvSpPr>
        <p:spPr>
          <a:xfrm>
            <a:off x="4846320" y="3991356"/>
            <a:ext cx="1417320" cy="274320"/>
          </a:xfrm>
          <a:prstGeom prst="rect">
            <a:avLst/>
          </a:prstGeom>
          <a:noFill/>
          <a:ln/>
        </p:spPr>
        <p:txBody>
          <a:bodyPr wrap="square" lIns="0" tIns="0" rIns="0" bIns="0" rtlCol="0" anchor="ctr"/>
          <a:lstStyle/>
          <a:p>
            <a:pPr marL="0" indent="0">
              <a:buNone/>
            </a:pPr>
            <a:r>
              <a:rPr lang="en-US" sz="1100" b="1" dirty="0">
                <a:solidFill>
                  <a:srgbClr val="F4F7FB"/>
                </a:solidFill>
                <a:latin typeface="Helvetica Neue" pitchFamily="34" charset="0"/>
                <a:ea typeface="Helvetica Neue" pitchFamily="34" charset="-122"/>
                <a:cs typeface="Helvetica Neue" pitchFamily="34" charset="-120"/>
              </a:rPr>
              <a:t>N=1 testing</a:t>
            </a:r>
            <a:endParaRPr lang="en-US" sz="1100" dirty="0"/>
          </a:p>
        </p:txBody>
      </p:sp>
      <p:sp>
        <p:nvSpPr>
          <p:cNvPr id="21" name="Text 19"/>
          <p:cNvSpPr/>
          <p:nvPr/>
        </p:nvSpPr>
        <p:spPr>
          <a:xfrm>
            <a:off x="6263640" y="4128516"/>
            <a:ext cx="2331720" cy="41148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Blinded crossover trials run in the background, giving George verified personal response data — not population averages.</a:t>
            </a:r>
            <a:endParaRPr lang="en-US" sz="1050" dirty="0"/>
          </a:p>
        </p:txBody>
      </p:sp>
      <p:sp>
        <p:nvSpPr>
          <p:cNvPr id="23" name="Text 21"/>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4</a:t>
            </a:r>
            <a:endParaRPr lang="en-US" sz="900" dirty="0"/>
          </a:p>
        </p:txBody>
      </p:sp>
      <p:sp>
        <p:nvSpPr>
          <p:cNvPr id="24" name="Text 16">
            <a:extLst>
              <a:ext uri="{FF2B5EF4-FFF2-40B4-BE49-F238E27FC236}">
                <a16:creationId xmlns:a16="http://schemas.microsoft.com/office/drawing/2014/main" id="{DAB16418-9F4B-1182-98DC-B79F47A9E275}"/>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9">
            <a:extLst>
              <a:ext uri="{FF2B5EF4-FFF2-40B4-BE49-F238E27FC236}">
                <a16:creationId xmlns:a16="http://schemas.microsoft.com/office/drawing/2014/main" id="{AE114227-61AA-4A48-86F1-3BB2C4E70C14}"/>
              </a:ext>
            </a:extLst>
          </p:cNvPr>
          <p:cNvSpPr/>
          <p:nvPr/>
        </p:nvSpPr>
        <p:spPr>
          <a:xfrm>
            <a:off x="617220" y="3898717"/>
            <a:ext cx="3840480" cy="411480"/>
          </a:xfrm>
          <a:prstGeom prst="rect">
            <a:avLst/>
          </a:prstGeom>
          <a:noFill/>
          <a:ln/>
        </p:spPr>
        <p:txBody>
          <a:bodyPr wrap="square" lIns="0" tIns="0" rIns="0" bIns="0" rtlCol="0" anchor="ctr"/>
          <a:lstStyle/>
          <a:p>
            <a:pPr marL="0" indent="0">
              <a:buNone/>
            </a:pPr>
            <a:r>
              <a:rPr lang="en-US" sz="1100" dirty="0">
                <a:solidFill>
                  <a:srgbClr val="C8D1DD"/>
                </a:solidFill>
                <a:latin typeface="Calibri" pitchFamily="34" charset="0"/>
                <a:ea typeface="Calibri" pitchFamily="34" charset="-122"/>
                <a:cs typeface="Calibri" pitchFamily="34" charset="-120"/>
              </a:rPr>
              <a:t>Connects with a wise crowd and harnesses the crowd wisdom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3466614"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79" y="411480"/>
            <a:ext cx="3226666" cy="18288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HOW WHATSUPP?  WORKS</a:t>
            </a:r>
            <a:endParaRPr lang="en-US" sz="900" dirty="0"/>
          </a:p>
        </p:txBody>
      </p:sp>
      <p:sp>
        <p:nvSpPr>
          <p:cNvPr id="4" name="Text 2"/>
          <p:cNvSpPr/>
          <p:nvPr/>
        </p:nvSpPr>
        <p:spPr>
          <a:xfrm>
            <a:off x="411480" y="822960"/>
            <a:ext cx="8229600" cy="594360"/>
          </a:xfrm>
          <a:prstGeom prst="rect">
            <a:avLst/>
          </a:prstGeom>
          <a:noFill/>
          <a:ln/>
        </p:spPr>
        <p:txBody>
          <a:bodyPr wrap="square" lIns="0" tIns="0" rIns="0" bIns="0" rtlCol="0" anchor="ctr"/>
          <a:lstStyle/>
          <a:p>
            <a:pPr marL="0" indent="0">
              <a:buNone/>
            </a:pPr>
            <a:r>
              <a:rPr lang="en-US" sz="2600" b="1" dirty="0">
                <a:solidFill>
                  <a:srgbClr val="F4F7FB"/>
                </a:solidFill>
                <a:latin typeface="Helvetica Neue" pitchFamily="34" charset="0"/>
                <a:ea typeface="Helvetica Neue" pitchFamily="34" charset="-122"/>
                <a:cs typeface="Helvetica Neue" pitchFamily="34" charset="-120"/>
              </a:rPr>
              <a:t>Tell George about yourself. Get expert guidance. </a:t>
            </a:r>
            <a:endParaRPr lang="en-US" sz="2600" dirty="0"/>
          </a:p>
        </p:txBody>
      </p:sp>
      <p:sp>
        <p:nvSpPr>
          <p:cNvPr id="5" name="Text 3"/>
          <p:cNvSpPr/>
          <p:nvPr/>
        </p:nvSpPr>
        <p:spPr>
          <a:xfrm>
            <a:off x="411480" y="1783080"/>
            <a:ext cx="914400" cy="1280160"/>
          </a:xfrm>
          <a:prstGeom prst="rect">
            <a:avLst/>
          </a:prstGeom>
          <a:noFill/>
          <a:ln/>
        </p:spPr>
        <p:txBody>
          <a:bodyPr wrap="square" lIns="0" tIns="0" rIns="0" bIns="0" rtlCol="0" anchor="ctr"/>
          <a:lstStyle/>
          <a:p>
            <a:pPr marL="0" indent="0">
              <a:buNone/>
            </a:pPr>
            <a:r>
              <a:rPr lang="en-US" sz="8000" b="1" dirty="0">
                <a:solidFill>
                  <a:srgbClr val="B6F569"/>
                </a:solidFill>
                <a:latin typeface="Helvetica Neue" pitchFamily="34" charset="0"/>
                <a:ea typeface="Helvetica Neue" pitchFamily="34" charset="-122"/>
                <a:cs typeface="Helvetica Neue" pitchFamily="34" charset="-120"/>
              </a:rPr>
              <a:t>1</a:t>
            </a:r>
            <a:endParaRPr lang="en-US" sz="8000" dirty="0"/>
          </a:p>
        </p:txBody>
      </p:sp>
      <p:sp>
        <p:nvSpPr>
          <p:cNvPr id="6" name="Text 4"/>
          <p:cNvSpPr/>
          <p:nvPr/>
        </p:nvSpPr>
        <p:spPr>
          <a:xfrm>
            <a:off x="1280160" y="2011680"/>
            <a:ext cx="2011680" cy="274320"/>
          </a:xfrm>
          <a:prstGeom prst="rect">
            <a:avLst/>
          </a:prstGeom>
          <a:noFill/>
          <a:ln/>
        </p:spPr>
        <p:txBody>
          <a:bodyPr wrap="square" lIns="0" tIns="0" rIns="0" bIns="0" rtlCol="0" anchor="ctr"/>
          <a:lstStyle/>
          <a:p>
            <a:pPr marL="0" indent="0">
              <a:buNone/>
            </a:pPr>
            <a:r>
              <a:rPr lang="en-US" sz="1000" b="1" kern="0" spc="600" dirty="0">
                <a:solidFill>
                  <a:srgbClr val="67E8F9"/>
                </a:solidFill>
                <a:latin typeface="Helvetica Neue" pitchFamily="34" charset="0"/>
                <a:ea typeface="Helvetica Neue" pitchFamily="34" charset="-122"/>
                <a:cs typeface="Helvetica Neue" pitchFamily="34" charset="-120"/>
              </a:rPr>
              <a:t>SHARE</a:t>
            </a:r>
            <a:endParaRPr lang="en-US" sz="1000" dirty="0"/>
          </a:p>
        </p:txBody>
      </p:sp>
      <p:sp>
        <p:nvSpPr>
          <p:cNvPr id="7" name="Text 5"/>
          <p:cNvSpPr/>
          <p:nvPr/>
        </p:nvSpPr>
        <p:spPr>
          <a:xfrm>
            <a:off x="411480" y="3154680"/>
            <a:ext cx="2743200" cy="59436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Tell George your athlete profile</a:t>
            </a:r>
            <a:endParaRPr lang="en-US" sz="1300" dirty="0"/>
          </a:p>
        </p:txBody>
      </p:sp>
      <p:sp>
        <p:nvSpPr>
          <p:cNvPr id="8" name="Text 6"/>
          <p:cNvSpPr/>
          <p:nvPr/>
        </p:nvSpPr>
        <p:spPr>
          <a:xfrm>
            <a:off x="411480" y="3794760"/>
            <a:ext cx="2743200" cy="914400"/>
          </a:xfrm>
          <a:prstGeom prst="rect">
            <a:avLst/>
          </a:prstGeom>
          <a:noFill/>
          <a:ln/>
        </p:spPr>
        <p:txBody>
          <a:bodyPr wrap="square" lIns="0" tIns="0" rIns="0" bIns="0" rtlCol="0" anchor="ctr"/>
          <a:lstStyle/>
          <a:p>
            <a:r>
              <a:rPr lang="en-US" sz="1100" dirty="0">
                <a:solidFill>
                  <a:srgbClr val="8B96A6"/>
                </a:solidFill>
                <a:latin typeface="Calibri" pitchFamily="34" charset="0"/>
                <a:ea typeface="Calibri" pitchFamily="34" charset="-122"/>
                <a:cs typeface="Calibri" pitchFamily="34" charset="-120"/>
              </a:rPr>
              <a:t>George wants to know you not a generic athlete.  Age, sex, event, conditions, training history, goals, past experiences with supplements.  </a:t>
            </a:r>
            <a:endParaRPr lang="en-US" sz="1100" dirty="0"/>
          </a:p>
        </p:txBody>
      </p:sp>
      <p:sp>
        <p:nvSpPr>
          <p:cNvPr id="9" name="Text 7"/>
          <p:cNvSpPr/>
          <p:nvPr/>
        </p:nvSpPr>
        <p:spPr>
          <a:xfrm>
            <a:off x="3337560" y="1783080"/>
            <a:ext cx="914400" cy="1280160"/>
          </a:xfrm>
          <a:prstGeom prst="rect">
            <a:avLst/>
          </a:prstGeom>
          <a:noFill/>
          <a:ln/>
        </p:spPr>
        <p:txBody>
          <a:bodyPr wrap="square" lIns="0" tIns="0" rIns="0" bIns="0" rtlCol="0" anchor="ctr"/>
          <a:lstStyle/>
          <a:p>
            <a:pPr marL="0" indent="0">
              <a:buNone/>
            </a:pPr>
            <a:r>
              <a:rPr lang="en-US" sz="8000" b="1" dirty="0">
                <a:solidFill>
                  <a:srgbClr val="B6F569"/>
                </a:solidFill>
                <a:latin typeface="Helvetica Neue" pitchFamily="34" charset="0"/>
                <a:ea typeface="Helvetica Neue" pitchFamily="34" charset="-122"/>
                <a:cs typeface="Helvetica Neue" pitchFamily="34" charset="-120"/>
              </a:rPr>
              <a:t>2</a:t>
            </a:r>
            <a:endParaRPr lang="en-US" sz="8000" dirty="0"/>
          </a:p>
        </p:txBody>
      </p:sp>
      <p:sp>
        <p:nvSpPr>
          <p:cNvPr id="10" name="Text 8"/>
          <p:cNvSpPr/>
          <p:nvPr/>
        </p:nvSpPr>
        <p:spPr>
          <a:xfrm>
            <a:off x="4206240" y="2011680"/>
            <a:ext cx="2011680" cy="274320"/>
          </a:xfrm>
          <a:prstGeom prst="rect">
            <a:avLst/>
          </a:prstGeom>
          <a:noFill/>
          <a:ln/>
        </p:spPr>
        <p:txBody>
          <a:bodyPr wrap="square" lIns="0" tIns="0" rIns="0" bIns="0" rtlCol="0" anchor="ctr"/>
          <a:lstStyle/>
          <a:p>
            <a:pPr marL="0" indent="0">
              <a:buNone/>
            </a:pPr>
            <a:r>
              <a:rPr lang="en-US" sz="1000" b="1" kern="0" spc="600" dirty="0">
                <a:solidFill>
                  <a:srgbClr val="67E8F9"/>
                </a:solidFill>
                <a:latin typeface="Helvetica Neue" pitchFamily="34" charset="0"/>
                <a:ea typeface="Helvetica Neue" pitchFamily="34" charset="-122"/>
                <a:cs typeface="Helvetica Neue" pitchFamily="34" charset="-120"/>
              </a:rPr>
              <a:t>ASK</a:t>
            </a:r>
            <a:endParaRPr lang="en-US" sz="1000" dirty="0"/>
          </a:p>
        </p:txBody>
      </p:sp>
      <p:sp>
        <p:nvSpPr>
          <p:cNvPr id="11" name="Text 9"/>
          <p:cNvSpPr/>
          <p:nvPr/>
        </p:nvSpPr>
        <p:spPr>
          <a:xfrm>
            <a:off x="3337560" y="3154680"/>
            <a:ext cx="2743200" cy="59436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George delivers your personalised expert recommendation</a:t>
            </a:r>
            <a:endParaRPr lang="en-US" sz="1300" dirty="0"/>
          </a:p>
        </p:txBody>
      </p:sp>
      <p:sp>
        <p:nvSpPr>
          <p:cNvPr id="12" name="Text 10"/>
          <p:cNvSpPr/>
          <p:nvPr/>
        </p:nvSpPr>
        <p:spPr>
          <a:xfrm>
            <a:off x="3337560" y="3794760"/>
            <a:ext cx="2743200" cy="91440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George draws on expert scientific knowledge to recommend the best supplement and precisely how to use it — tailored to your event, your body, your conditions. No edge case is off-limits.</a:t>
            </a:r>
            <a:endParaRPr lang="en-US" sz="1100" dirty="0"/>
          </a:p>
        </p:txBody>
      </p:sp>
      <p:sp>
        <p:nvSpPr>
          <p:cNvPr id="19" name="Text 16">
            <a:extLst>
              <a:ext uri="{FF2B5EF4-FFF2-40B4-BE49-F238E27FC236}">
                <a16:creationId xmlns:a16="http://schemas.microsoft.com/office/drawing/2014/main" id="{019D7915-2386-0122-F6FE-46059FFF73CF}"/>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D6FD8F9E-E32E-EC07-B295-8C49945CF417}"/>
              </a:ext>
            </a:extLst>
          </p:cNvPr>
          <p:cNvSpPr txBox="1"/>
          <p:nvPr/>
        </p:nvSpPr>
        <p:spPr>
          <a:xfrm>
            <a:off x="6680634" y="2362807"/>
            <a:ext cx="2051886" cy="2031325"/>
          </a:xfrm>
          <a:prstGeom prst="rect">
            <a:avLst/>
          </a:prstGeom>
          <a:noFill/>
          <a:ln>
            <a:solidFill>
              <a:srgbClr val="66FF33"/>
            </a:solidFill>
          </a:ln>
        </p:spPr>
        <p:txBody>
          <a:bodyPr wrap="square">
            <a:spAutoFit/>
          </a:bodyPr>
          <a:lstStyle/>
          <a:p>
            <a:r>
              <a:rPr lang="en-US" b="0" i="0" dirty="0">
                <a:solidFill>
                  <a:srgbClr val="E3E3E3"/>
                </a:solidFill>
                <a:effectLst/>
                <a:latin typeface="Helvetica Neue"/>
              </a:rPr>
              <a:t>You don’t need a better prompt.... You need better access to evidence based insights provided by experts.</a:t>
            </a:r>
            <a:endParaRPr lang="en-AU" dirty="0">
              <a:latin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a:extLst>
            <a:ext uri="{FF2B5EF4-FFF2-40B4-BE49-F238E27FC236}">
              <a16:creationId xmlns:a16="http://schemas.microsoft.com/office/drawing/2014/main" id="{2C6E19DF-61FA-D5B1-6987-FA16E6DE7BA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1F5BA97-C2CA-D1FF-036E-593CC460BF58}"/>
              </a:ext>
            </a:extLst>
          </p:cNvPr>
          <p:cNvSpPr/>
          <p:nvPr/>
        </p:nvSpPr>
        <p:spPr>
          <a:xfrm>
            <a:off x="411480" y="822960"/>
            <a:ext cx="82296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rPr>
              <a:t>While you are improving, so does George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A3AA7C21-6B69-3220-FD71-082E9F1C7A4F}"/>
              </a:ext>
            </a:extLst>
          </p:cNvPr>
          <p:cNvSpPr/>
          <p:nvPr/>
        </p:nvSpPr>
        <p:spPr>
          <a:xfrm>
            <a:off x="3337560" y="1783080"/>
            <a:ext cx="91440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B6F569"/>
                </a:solidFill>
                <a:effectLst/>
                <a:uLnTx/>
                <a:uFillTx/>
                <a:latin typeface="Helvetica Neue" pitchFamily="34" charset="0"/>
                <a:ea typeface="Helvetica Neue" pitchFamily="34" charset="-122"/>
                <a:cs typeface="+mn-cs"/>
              </a:rPr>
              <a:t>4</a:t>
            </a:r>
            <a:endParaRPr kumimoji="0" lang="en-US" sz="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F79FC7D3-F39A-1773-EA02-3C696795F803}"/>
              </a:ext>
            </a:extLst>
          </p:cNvPr>
          <p:cNvSpPr/>
          <p:nvPr/>
        </p:nvSpPr>
        <p:spPr>
          <a:xfrm>
            <a:off x="6263640" y="1783080"/>
            <a:ext cx="91440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B6F569"/>
                </a:solidFill>
                <a:effectLst/>
                <a:uLnTx/>
                <a:uFillTx/>
                <a:latin typeface="Helvetica Neue" pitchFamily="34" charset="0"/>
                <a:ea typeface="Helvetica Neue" pitchFamily="34" charset="-122"/>
                <a:cs typeface="+mn-cs"/>
              </a:rPr>
              <a:t>5</a:t>
            </a:r>
            <a:endParaRPr kumimoji="0" lang="en-US" sz="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11">
            <a:extLst>
              <a:ext uri="{FF2B5EF4-FFF2-40B4-BE49-F238E27FC236}">
                <a16:creationId xmlns:a16="http://schemas.microsoft.com/office/drawing/2014/main" id="{6E91F6C7-005A-83F8-BF24-CB3D238A47C9}"/>
              </a:ext>
            </a:extLst>
          </p:cNvPr>
          <p:cNvSpPr/>
          <p:nvPr/>
        </p:nvSpPr>
        <p:spPr>
          <a:xfrm>
            <a:off x="457200" y="1784377"/>
            <a:ext cx="914400" cy="1280160"/>
          </a:xfrm>
          <a:prstGeom prst="rect">
            <a:avLst/>
          </a:prstGeom>
          <a:noFill/>
          <a:ln/>
        </p:spPr>
        <p:txBody>
          <a:bodyPr wrap="square" lIns="0" tIns="0" rIns="0" bIns="0" rtlCol="0" anchor="ctr"/>
          <a:lstStyle/>
          <a:p>
            <a:pPr marL="0" indent="0">
              <a:buNone/>
            </a:pPr>
            <a:r>
              <a:rPr lang="en-US" sz="8000" b="1" dirty="0">
                <a:solidFill>
                  <a:srgbClr val="B6F569"/>
                </a:solidFill>
                <a:latin typeface="Helvetica Neue" pitchFamily="34" charset="0"/>
                <a:ea typeface="Helvetica Neue" pitchFamily="34" charset="-122"/>
                <a:cs typeface="Helvetica Neue" pitchFamily="34" charset="-120"/>
              </a:rPr>
              <a:t>3</a:t>
            </a:r>
            <a:endParaRPr lang="en-US" sz="8000" dirty="0"/>
          </a:p>
        </p:txBody>
      </p:sp>
      <p:sp>
        <p:nvSpPr>
          <p:cNvPr id="7" name="Text 12">
            <a:extLst>
              <a:ext uri="{FF2B5EF4-FFF2-40B4-BE49-F238E27FC236}">
                <a16:creationId xmlns:a16="http://schemas.microsoft.com/office/drawing/2014/main" id="{76B74FA9-3B4B-03F3-FC75-A9455D34B58D}"/>
              </a:ext>
            </a:extLst>
          </p:cNvPr>
          <p:cNvSpPr/>
          <p:nvPr/>
        </p:nvSpPr>
        <p:spPr>
          <a:xfrm>
            <a:off x="1325880" y="2012977"/>
            <a:ext cx="2011680" cy="274320"/>
          </a:xfrm>
          <a:prstGeom prst="rect">
            <a:avLst/>
          </a:prstGeom>
          <a:noFill/>
          <a:ln/>
        </p:spPr>
        <p:txBody>
          <a:bodyPr wrap="square" lIns="0" tIns="0" rIns="0" bIns="0" rtlCol="0" anchor="ctr"/>
          <a:lstStyle/>
          <a:p>
            <a:pPr marL="0" indent="0">
              <a:buNone/>
            </a:pPr>
            <a:r>
              <a:rPr lang="en-US" sz="1000" b="1" kern="0" spc="600" dirty="0">
                <a:solidFill>
                  <a:srgbClr val="67E8F9"/>
                </a:solidFill>
                <a:latin typeface="Helvetica Neue" pitchFamily="34" charset="0"/>
                <a:ea typeface="Helvetica Neue" pitchFamily="34" charset="-122"/>
                <a:cs typeface="Helvetica Neue" pitchFamily="34" charset="-120"/>
              </a:rPr>
              <a:t>IMPROVE</a:t>
            </a:r>
            <a:endParaRPr lang="en-US" sz="1000" dirty="0"/>
          </a:p>
        </p:txBody>
      </p:sp>
      <p:sp>
        <p:nvSpPr>
          <p:cNvPr id="8" name="Text 13">
            <a:extLst>
              <a:ext uri="{FF2B5EF4-FFF2-40B4-BE49-F238E27FC236}">
                <a16:creationId xmlns:a16="http://schemas.microsoft.com/office/drawing/2014/main" id="{0684A56E-C702-BFA4-0340-42B6B4B0CACC}"/>
              </a:ext>
            </a:extLst>
          </p:cNvPr>
          <p:cNvSpPr/>
          <p:nvPr/>
        </p:nvSpPr>
        <p:spPr>
          <a:xfrm>
            <a:off x="457200" y="3155977"/>
            <a:ext cx="2606040" cy="59436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Provide feedback — George learns and refines</a:t>
            </a:r>
            <a:endParaRPr lang="en-US" sz="1300" dirty="0"/>
          </a:p>
        </p:txBody>
      </p:sp>
      <p:sp>
        <p:nvSpPr>
          <p:cNvPr id="10" name="Text 14">
            <a:extLst>
              <a:ext uri="{FF2B5EF4-FFF2-40B4-BE49-F238E27FC236}">
                <a16:creationId xmlns:a16="http://schemas.microsoft.com/office/drawing/2014/main" id="{C169D851-CF68-E773-B715-12645904316C}"/>
              </a:ext>
            </a:extLst>
          </p:cNvPr>
          <p:cNvSpPr/>
          <p:nvPr/>
        </p:nvSpPr>
        <p:spPr>
          <a:xfrm>
            <a:off x="457200" y="3796057"/>
            <a:ext cx="2487038" cy="91440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Tell George how the recommendation worked. Every interaction — every result, every reaction — makes George’s model of you sharper. The system gets smarter with every athlete on the platform.</a:t>
            </a:r>
            <a:endParaRPr lang="en-US" sz="1100" dirty="0"/>
          </a:p>
        </p:txBody>
      </p:sp>
      <p:sp>
        <p:nvSpPr>
          <p:cNvPr id="11" name="Text 16">
            <a:extLst>
              <a:ext uri="{FF2B5EF4-FFF2-40B4-BE49-F238E27FC236}">
                <a16:creationId xmlns:a16="http://schemas.microsoft.com/office/drawing/2014/main" id="{7122487F-35F9-46AD-187B-C038BA50D476}"/>
              </a:ext>
            </a:extLst>
          </p:cNvPr>
          <p:cNvSpPr/>
          <p:nvPr/>
        </p:nvSpPr>
        <p:spPr>
          <a:xfrm>
            <a:off x="2697480" y="4847617"/>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6</a:t>
            </a:r>
            <a:endParaRPr lang="en-US" sz="900" dirty="0"/>
          </a:p>
        </p:txBody>
      </p:sp>
      <p:sp>
        <p:nvSpPr>
          <p:cNvPr id="15" name="Text 12">
            <a:extLst>
              <a:ext uri="{FF2B5EF4-FFF2-40B4-BE49-F238E27FC236}">
                <a16:creationId xmlns:a16="http://schemas.microsoft.com/office/drawing/2014/main" id="{88BC8738-D07E-0B4A-C514-9A6B5979D489}"/>
              </a:ext>
            </a:extLst>
          </p:cNvPr>
          <p:cNvSpPr/>
          <p:nvPr/>
        </p:nvSpPr>
        <p:spPr>
          <a:xfrm>
            <a:off x="4343400" y="2012328"/>
            <a:ext cx="2011680" cy="274320"/>
          </a:xfrm>
          <a:prstGeom prst="rect">
            <a:avLst/>
          </a:prstGeom>
          <a:noFill/>
          <a:ln/>
        </p:spPr>
        <p:txBody>
          <a:bodyPr wrap="square" lIns="0" tIns="0" rIns="0" bIns="0" rtlCol="0" anchor="ctr"/>
          <a:lstStyle/>
          <a:p>
            <a:pPr marL="0" indent="0">
              <a:buNone/>
            </a:pPr>
            <a:r>
              <a:rPr lang="en-US" sz="1000" b="1" kern="0" spc="600" dirty="0">
                <a:solidFill>
                  <a:srgbClr val="67E8F9"/>
                </a:solidFill>
                <a:latin typeface="Helvetica Neue" pitchFamily="34" charset="0"/>
                <a:ea typeface="Helvetica Neue" pitchFamily="34" charset="-122"/>
                <a:cs typeface="Helvetica Neue" pitchFamily="34" charset="-120"/>
              </a:rPr>
              <a:t>N = 1</a:t>
            </a:r>
            <a:endParaRPr lang="en-US" sz="1000" dirty="0"/>
          </a:p>
        </p:txBody>
      </p:sp>
      <p:sp>
        <p:nvSpPr>
          <p:cNvPr id="16" name="Text 13">
            <a:extLst>
              <a:ext uri="{FF2B5EF4-FFF2-40B4-BE49-F238E27FC236}">
                <a16:creationId xmlns:a16="http://schemas.microsoft.com/office/drawing/2014/main" id="{AB1B3FE0-F40C-6615-8398-652238C70721}"/>
              </a:ext>
            </a:extLst>
          </p:cNvPr>
          <p:cNvSpPr/>
          <p:nvPr/>
        </p:nvSpPr>
        <p:spPr>
          <a:xfrm>
            <a:off x="3383604" y="3099291"/>
            <a:ext cx="2606040" cy="59436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Be a study of you!</a:t>
            </a:r>
            <a:endParaRPr lang="en-US" sz="1300" dirty="0"/>
          </a:p>
        </p:txBody>
      </p:sp>
      <p:sp>
        <p:nvSpPr>
          <p:cNvPr id="19" name="Text 14">
            <a:extLst>
              <a:ext uri="{FF2B5EF4-FFF2-40B4-BE49-F238E27FC236}">
                <a16:creationId xmlns:a16="http://schemas.microsoft.com/office/drawing/2014/main" id="{CD070512-3F88-FA67-80EF-EE26A32C8B3B}"/>
              </a:ext>
            </a:extLst>
          </p:cNvPr>
          <p:cNvSpPr/>
          <p:nvPr/>
        </p:nvSpPr>
        <p:spPr>
          <a:xfrm>
            <a:off x="3383604" y="3809676"/>
            <a:ext cx="2119009" cy="91440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George can make you a test schedule to systematically investigate how you and your performance react to supplement trials.   Connect your gadgets to seamlessly and continuously learn from your data and experiences</a:t>
            </a:r>
            <a:endParaRPr lang="en-US" sz="1100" dirty="0"/>
          </a:p>
        </p:txBody>
      </p:sp>
      <p:sp>
        <p:nvSpPr>
          <p:cNvPr id="20" name="Text 13">
            <a:extLst>
              <a:ext uri="{FF2B5EF4-FFF2-40B4-BE49-F238E27FC236}">
                <a16:creationId xmlns:a16="http://schemas.microsoft.com/office/drawing/2014/main" id="{7A306E48-665E-AD8F-4829-81D01A4AA48E}"/>
              </a:ext>
            </a:extLst>
          </p:cNvPr>
          <p:cNvSpPr/>
          <p:nvPr/>
        </p:nvSpPr>
        <p:spPr>
          <a:xfrm>
            <a:off x="6355080" y="3099291"/>
            <a:ext cx="2606040" cy="59436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Learn from your people</a:t>
            </a:r>
            <a:endParaRPr lang="en-US" sz="1300" dirty="0"/>
          </a:p>
        </p:txBody>
      </p:sp>
      <p:sp>
        <p:nvSpPr>
          <p:cNvPr id="21" name="Text 14">
            <a:extLst>
              <a:ext uri="{FF2B5EF4-FFF2-40B4-BE49-F238E27FC236}">
                <a16:creationId xmlns:a16="http://schemas.microsoft.com/office/drawing/2014/main" id="{002291FD-AADD-8B25-E044-2EA581044745}"/>
              </a:ext>
            </a:extLst>
          </p:cNvPr>
          <p:cNvSpPr/>
          <p:nvPr/>
        </p:nvSpPr>
        <p:spPr>
          <a:xfrm>
            <a:off x="6355080" y="3796057"/>
            <a:ext cx="2119009" cy="91440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Let your anonymized experiences improve the community knowledge.  Although you remain an individual, benefit from the richness of collective knowledge</a:t>
            </a:r>
            <a:endParaRPr lang="en-US" sz="1100" dirty="0"/>
          </a:p>
        </p:txBody>
      </p:sp>
      <p:sp>
        <p:nvSpPr>
          <p:cNvPr id="22" name="Text 12">
            <a:extLst>
              <a:ext uri="{FF2B5EF4-FFF2-40B4-BE49-F238E27FC236}">
                <a16:creationId xmlns:a16="http://schemas.microsoft.com/office/drawing/2014/main" id="{A905A27E-6269-7C3A-E070-C89A14CA49EC}"/>
              </a:ext>
            </a:extLst>
          </p:cNvPr>
          <p:cNvSpPr/>
          <p:nvPr/>
        </p:nvSpPr>
        <p:spPr>
          <a:xfrm>
            <a:off x="7086600" y="2012977"/>
            <a:ext cx="2011680" cy="274320"/>
          </a:xfrm>
          <a:prstGeom prst="rect">
            <a:avLst/>
          </a:prstGeom>
          <a:noFill/>
          <a:ln/>
        </p:spPr>
        <p:txBody>
          <a:bodyPr wrap="square" lIns="0" tIns="0" rIns="0" bIns="0" rtlCol="0" anchor="ctr"/>
          <a:lstStyle/>
          <a:p>
            <a:pPr marL="0" indent="0">
              <a:buNone/>
            </a:pPr>
            <a:r>
              <a:rPr lang="en-US" sz="1000" b="1" kern="0" spc="600" dirty="0">
                <a:solidFill>
                  <a:srgbClr val="67E8F9"/>
                </a:solidFill>
                <a:latin typeface="Helvetica Neue" pitchFamily="34" charset="0"/>
                <a:ea typeface="Helvetica Neue" pitchFamily="34" charset="-122"/>
                <a:cs typeface="Helvetica Neue" pitchFamily="34" charset="-120"/>
              </a:rPr>
              <a:t>AGGREGATE</a:t>
            </a:r>
            <a:endParaRPr lang="en-US" sz="1000" dirty="0"/>
          </a:p>
        </p:txBody>
      </p:sp>
      <p:sp>
        <p:nvSpPr>
          <p:cNvPr id="24" name="Shape 0">
            <a:extLst>
              <a:ext uri="{FF2B5EF4-FFF2-40B4-BE49-F238E27FC236}">
                <a16:creationId xmlns:a16="http://schemas.microsoft.com/office/drawing/2014/main" id="{BB483467-30B8-2283-2DDD-0B99FC30FB30}"/>
              </a:ext>
            </a:extLst>
          </p:cNvPr>
          <p:cNvSpPr/>
          <p:nvPr/>
        </p:nvSpPr>
        <p:spPr>
          <a:xfrm>
            <a:off x="411480" y="411480"/>
            <a:ext cx="3466614" cy="274320"/>
          </a:xfrm>
          <a:prstGeom prst="rect">
            <a:avLst/>
          </a:prstGeom>
          <a:solidFill>
            <a:srgbClr val="2A3441"/>
          </a:solidFill>
          <a:ln w="12700">
            <a:solidFill>
              <a:srgbClr val="2A3441"/>
            </a:solidFill>
            <a:prstDash val="solid"/>
          </a:ln>
        </p:spPr>
        <p:txBody>
          <a:bodyPr/>
          <a:lstStyle/>
          <a:p>
            <a:endParaRPr lang="en-US"/>
          </a:p>
        </p:txBody>
      </p:sp>
      <p:sp>
        <p:nvSpPr>
          <p:cNvPr id="25" name="Text 1">
            <a:extLst>
              <a:ext uri="{FF2B5EF4-FFF2-40B4-BE49-F238E27FC236}">
                <a16:creationId xmlns:a16="http://schemas.microsoft.com/office/drawing/2014/main" id="{AC3073A1-A570-A12B-D661-0722665A5998}"/>
              </a:ext>
            </a:extLst>
          </p:cNvPr>
          <p:cNvSpPr/>
          <p:nvPr/>
        </p:nvSpPr>
        <p:spPr>
          <a:xfrm>
            <a:off x="411479" y="411480"/>
            <a:ext cx="3226666" cy="18288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HOW WHATSUPP?  WORKS</a:t>
            </a:r>
            <a:endParaRPr lang="en-US" sz="900" dirty="0"/>
          </a:p>
        </p:txBody>
      </p:sp>
      <p:sp>
        <p:nvSpPr>
          <p:cNvPr id="26" name="Text 16">
            <a:extLst>
              <a:ext uri="{FF2B5EF4-FFF2-40B4-BE49-F238E27FC236}">
                <a16:creationId xmlns:a16="http://schemas.microsoft.com/office/drawing/2014/main" id="{9D5C9009-3F1C-AB5E-A684-268295C5C0BF}"/>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185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a:extLst>
            <a:ext uri="{FF2B5EF4-FFF2-40B4-BE49-F238E27FC236}">
              <a16:creationId xmlns:a16="http://schemas.microsoft.com/office/drawing/2014/main" id="{CA246302-4D46-BAF8-1129-DA0891811DC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61218B1-C96B-6F47-DFB4-70A9A63286AD}"/>
              </a:ext>
            </a:extLst>
          </p:cNvPr>
          <p:cNvSpPr/>
          <p:nvPr/>
        </p:nvSpPr>
        <p:spPr>
          <a:xfrm>
            <a:off x="411480" y="822960"/>
            <a:ext cx="82296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600" b="1" dirty="0">
                <a:solidFill>
                  <a:srgbClr val="F4F7FB"/>
                </a:solidFill>
                <a:latin typeface="Helvetica Neue" pitchFamily="34" charset="0"/>
                <a:ea typeface="Helvetica Neue" pitchFamily="34" charset="-122"/>
                <a:cs typeface="Helvetica Neue" pitchFamily="34" charset="-120"/>
              </a:rPr>
              <a:t>George is the future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218174A5-B2FE-4DE3-5175-5810F570213D}"/>
              </a:ext>
            </a:extLst>
          </p:cNvPr>
          <p:cNvSpPr/>
          <p:nvPr/>
        </p:nvSpPr>
        <p:spPr>
          <a:xfrm>
            <a:off x="3337560" y="1783080"/>
            <a:ext cx="91440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B6F569"/>
                </a:solidFill>
                <a:effectLst/>
                <a:uLnTx/>
                <a:uFillTx/>
                <a:latin typeface="Helvetica Neue" pitchFamily="34" charset="0"/>
                <a:ea typeface="Helvetica Neue" pitchFamily="34" charset="-122"/>
                <a:cs typeface="+mn-cs"/>
              </a:rPr>
              <a:t>7</a:t>
            </a:r>
            <a:endParaRPr kumimoji="0" lang="en-US" sz="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11">
            <a:extLst>
              <a:ext uri="{FF2B5EF4-FFF2-40B4-BE49-F238E27FC236}">
                <a16:creationId xmlns:a16="http://schemas.microsoft.com/office/drawing/2014/main" id="{A09D73A1-2EA6-A455-7983-20F8E3D06C1A}"/>
              </a:ext>
            </a:extLst>
          </p:cNvPr>
          <p:cNvSpPr/>
          <p:nvPr/>
        </p:nvSpPr>
        <p:spPr>
          <a:xfrm>
            <a:off x="457200" y="1784377"/>
            <a:ext cx="91440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B6F569"/>
                </a:solidFill>
                <a:effectLst/>
                <a:uLnTx/>
                <a:uFillTx/>
                <a:latin typeface="Helvetica Neue" pitchFamily="34" charset="0"/>
                <a:ea typeface="Helvetica Neue" pitchFamily="34" charset="-122"/>
                <a:cs typeface="Helvetica Neue" pitchFamily="34" charset="-120"/>
              </a:rPr>
              <a:t>6</a:t>
            </a:r>
            <a:endParaRPr kumimoji="0" lang="en-US" sz="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12">
            <a:extLst>
              <a:ext uri="{FF2B5EF4-FFF2-40B4-BE49-F238E27FC236}">
                <a16:creationId xmlns:a16="http://schemas.microsoft.com/office/drawing/2014/main" id="{0C25E09E-4469-FB6D-ECF0-9FAB962A72BB}"/>
              </a:ext>
            </a:extLst>
          </p:cNvPr>
          <p:cNvSpPr/>
          <p:nvPr/>
        </p:nvSpPr>
        <p:spPr>
          <a:xfrm>
            <a:off x="1325880" y="2012977"/>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600" normalizeH="0" baseline="0" noProof="0" dirty="0">
                <a:ln>
                  <a:noFill/>
                </a:ln>
                <a:solidFill>
                  <a:srgbClr val="67E8F9"/>
                </a:solidFill>
                <a:effectLst/>
                <a:uLnTx/>
                <a:uFillTx/>
                <a:latin typeface="Helvetica Neue" pitchFamily="34" charset="0"/>
                <a:ea typeface="Helvetica Neue" pitchFamily="34" charset="-122"/>
                <a:cs typeface="+mn-cs"/>
              </a:rPr>
              <a:t>E</a:t>
            </a:r>
            <a:r>
              <a:rPr lang="en-US" sz="1000" b="1" kern="0" spc="600" dirty="0">
                <a:solidFill>
                  <a:srgbClr val="67E8F9"/>
                </a:solidFill>
                <a:latin typeface="Helvetica Neue" pitchFamily="34" charset="0"/>
                <a:ea typeface="Helvetica Neue" pitchFamily="34" charset="-122"/>
              </a:rPr>
              <a:t>XTEND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13">
            <a:extLst>
              <a:ext uri="{FF2B5EF4-FFF2-40B4-BE49-F238E27FC236}">
                <a16:creationId xmlns:a16="http://schemas.microsoft.com/office/drawing/2014/main" id="{E248ECD9-0911-D3D2-6477-16191BCAF026}"/>
              </a:ext>
            </a:extLst>
          </p:cNvPr>
          <p:cNvSpPr/>
          <p:nvPr/>
        </p:nvSpPr>
        <p:spPr>
          <a:xfrm>
            <a:off x="457200" y="3155977"/>
            <a:ext cx="26060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F4F7FB"/>
                </a:solidFill>
                <a:latin typeface="Helvetica Neue" pitchFamily="34" charset="0"/>
                <a:ea typeface="Helvetica Neue" pitchFamily="34" charset="-122"/>
                <a:cs typeface="Helvetica Neue" pitchFamily="34" charset="-120"/>
              </a:rPr>
              <a:t>Expertise adds an extra layer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14">
            <a:extLst>
              <a:ext uri="{FF2B5EF4-FFF2-40B4-BE49-F238E27FC236}">
                <a16:creationId xmlns:a16="http://schemas.microsoft.com/office/drawing/2014/main" id="{1E45A896-E1C3-F996-BE65-DF1B74112E99}"/>
              </a:ext>
            </a:extLst>
          </p:cNvPr>
          <p:cNvSpPr/>
          <p:nvPr/>
        </p:nvSpPr>
        <p:spPr>
          <a:xfrm>
            <a:off x="457200" y="3636524"/>
            <a:ext cx="2487038"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Literature and studies take you to a point. </a:t>
            </a:r>
            <a:r>
              <a:rPr lang="en-US" sz="1100" dirty="0">
                <a:solidFill>
                  <a:srgbClr val="8B96A6"/>
                </a:solidFill>
                <a:latin typeface="Calibri" pitchFamily="34" charset="0"/>
                <a:ea typeface="Calibri" pitchFamily="34" charset="-122"/>
                <a:cs typeface="Calibri" pitchFamily="34" charset="-120"/>
              </a:rPr>
              <a:t>Find </a:t>
            </a:r>
            <a:r>
              <a:rPr kumimoji="0" lang="en-US" sz="110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real gold in the expertise and insights from the best scientists who conduct them.  Let George pick their brains about your special needs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16">
            <a:extLst>
              <a:ext uri="{FF2B5EF4-FFF2-40B4-BE49-F238E27FC236}">
                <a16:creationId xmlns:a16="http://schemas.microsoft.com/office/drawing/2014/main" id="{FBAE9113-904C-D620-381B-09E06237AAFD}"/>
              </a:ext>
            </a:extLst>
          </p:cNvPr>
          <p:cNvSpPr/>
          <p:nvPr/>
        </p:nvSpPr>
        <p:spPr>
          <a:xfrm>
            <a:off x="2697480" y="4847617"/>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908D6572-EEF1-ADF4-2BD3-6E8BF17AF250}"/>
              </a:ext>
            </a:extLst>
          </p:cNvPr>
          <p:cNvSpPr/>
          <p:nvPr/>
        </p:nvSpPr>
        <p:spPr>
          <a:xfrm>
            <a:off x="4160520" y="2012977"/>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0" spc="600" dirty="0">
                <a:solidFill>
                  <a:srgbClr val="67E8F9"/>
                </a:solidFill>
                <a:latin typeface="Helvetica Neue" pitchFamily="34" charset="0"/>
                <a:ea typeface="Helvetica Neue" pitchFamily="34" charset="-122"/>
              </a:rPr>
              <a:t>ENGAGE THE</a:t>
            </a:r>
            <a:r>
              <a:rPr kumimoji="0" lang="en-US" sz="1000" b="1" i="0" u="none" strike="noStrike" kern="0" cap="none" spc="600" normalizeH="0" baseline="0" noProof="0" dirty="0">
                <a:ln>
                  <a:noFill/>
                </a:ln>
                <a:solidFill>
                  <a:srgbClr val="67E8F9"/>
                </a:solidFill>
                <a:effectLst/>
                <a:uLnTx/>
                <a:uFillTx/>
                <a:latin typeface="Helvetica Neue" pitchFamily="34" charset="0"/>
                <a:ea typeface="Helvetica Neue" pitchFamily="34" charset="-122"/>
                <a:cs typeface="+mn-cs"/>
              </a:rPr>
              <a:t> WISE CRO</a:t>
            </a:r>
            <a:r>
              <a:rPr lang="en-US" sz="1000" b="1" kern="0" spc="600" dirty="0">
                <a:solidFill>
                  <a:srgbClr val="67E8F9"/>
                </a:solidFill>
                <a:latin typeface="Helvetica Neue" pitchFamily="34" charset="0"/>
                <a:ea typeface="Helvetica Neue" pitchFamily="34" charset="-122"/>
              </a:rPr>
              <a:t>WD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A7A80793-D5EE-E0E2-5FFD-E9B4649E9B35}"/>
              </a:ext>
            </a:extLst>
          </p:cNvPr>
          <p:cNvSpPr/>
          <p:nvPr/>
        </p:nvSpPr>
        <p:spPr>
          <a:xfrm>
            <a:off x="3383604" y="3139278"/>
            <a:ext cx="26060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F4F7FB"/>
                </a:solidFill>
                <a:latin typeface="Helvetica Neue" pitchFamily="34" charset="0"/>
                <a:ea typeface="Helvetica Neue" pitchFamily="34" charset="-122"/>
                <a:cs typeface="Helvetica Neue" pitchFamily="34" charset="-120"/>
              </a:rPr>
              <a:t>Collective wisdom is special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a:extLst>
              <a:ext uri="{FF2B5EF4-FFF2-40B4-BE49-F238E27FC236}">
                <a16:creationId xmlns:a16="http://schemas.microsoft.com/office/drawing/2014/main" id="{8C564732-DDD7-1646-616E-629501212E93}"/>
              </a:ext>
            </a:extLst>
          </p:cNvPr>
          <p:cNvSpPr/>
          <p:nvPr/>
        </p:nvSpPr>
        <p:spPr>
          <a:xfrm>
            <a:off x="3383604" y="3937271"/>
            <a:ext cx="2310319" cy="47389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8B96A6"/>
                </a:solidFill>
                <a:latin typeface="Calibri" pitchFamily="34" charset="0"/>
                <a:ea typeface="Calibri" pitchFamily="34" charset="-122"/>
                <a:cs typeface="Calibri" pitchFamily="34" charset="-120"/>
              </a:rPr>
              <a:t>Crowd sourced information is not intrinsically smart.   But George has a knack of getting supplement experts together to tackle the really intriguing questions and providing wise answers.  It’s worth it!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0">
            <a:extLst>
              <a:ext uri="{FF2B5EF4-FFF2-40B4-BE49-F238E27FC236}">
                <a16:creationId xmlns:a16="http://schemas.microsoft.com/office/drawing/2014/main" id="{463B26A9-05EC-CDA9-DB25-B3DA7387537F}"/>
              </a:ext>
            </a:extLst>
          </p:cNvPr>
          <p:cNvSpPr/>
          <p:nvPr/>
        </p:nvSpPr>
        <p:spPr>
          <a:xfrm>
            <a:off x="411480" y="411480"/>
            <a:ext cx="3466614" cy="274320"/>
          </a:xfrm>
          <a:prstGeom prst="rect">
            <a:avLst/>
          </a:prstGeom>
          <a:solidFill>
            <a:srgbClr val="2A3441"/>
          </a:solidFill>
          <a:ln w="12700">
            <a:solidFill>
              <a:srgbClr val="2A3441"/>
            </a:solidFill>
            <a:prstDash val="solid"/>
          </a:ln>
        </p:spPr>
        <p:txBody>
          <a:bodyPr/>
          <a:lstStyle/>
          <a:p>
            <a:endParaRPr lang="en-US"/>
          </a:p>
        </p:txBody>
      </p:sp>
      <p:sp>
        <p:nvSpPr>
          <p:cNvPr id="12" name="Text 1">
            <a:extLst>
              <a:ext uri="{FF2B5EF4-FFF2-40B4-BE49-F238E27FC236}">
                <a16:creationId xmlns:a16="http://schemas.microsoft.com/office/drawing/2014/main" id="{272D3536-4F00-91CD-7D12-09AE7A22B694}"/>
              </a:ext>
            </a:extLst>
          </p:cNvPr>
          <p:cNvSpPr/>
          <p:nvPr/>
        </p:nvSpPr>
        <p:spPr>
          <a:xfrm>
            <a:off x="411479" y="411480"/>
            <a:ext cx="3226666" cy="18288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HOW WHATSUPP?  WORKS</a:t>
            </a:r>
            <a:endParaRPr lang="en-US" sz="900" dirty="0"/>
          </a:p>
        </p:txBody>
      </p:sp>
      <p:sp>
        <p:nvSpPr>
          <p:cNvPr id="14" name="Text 16">
            <a:extLst>
              <a:ext uri="{FF2B5EF4-FFF2-40B4-BE49-F238E27FC236}">
                <a16:creationId xmlns:a16="http://schemas.microsoft.com/office/drawing/2014/main" id="{060555C9-16A0-1CFC-496D-70F27BCFF8EA}"/>
              </a:ext>
            </a:extLst>
          </p:cNvPr>
          <p:cNvSpPr/>
          <p:nvPr/>
        </p:nvSpPr>
        <p:spPr>
          <a:xfrm>
            <a:off x="411480" y="4846320"/>
            <a:ext cx="4114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40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WHATSUPP?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7">
            <a:extLst>
              <a:ext uri="{FF2B5EF4-FFF2-40B4-BE49-F238E27FC236}">
                <a16:creationId xmlns:a16="http://schemas.microsoft.com/office/drawing/2014/main" id="{C8976ED0-7774-E4B9-3D67-A97843A45EC4}"/>
              </a:ext>
            </a:extLst>
          </p:cNvPr>
          <p:cNvSpPr/>
          <p:nvPr/>
        </p:nvSpPr>
        <p:spPr>
          <a:xfrm>
            <a:off x="6499050" y="1783080"/>
            <a:ext cx="91440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b="1" dirty="0">
                <a:solidFill>
                  <a:srgbClr val="B6F569"/>
                </a:solidFill>
                <a:latin typeface="Helvetica Neue" pitchFamily="34" charset="0"/>
                <a:ea typeface="Helvetica Neue" pitchFamily="34" charset="-122"/>
              </a:rPr>
              <a:t>8</a:t>
            </a:r>
            <a:endParaRPr kumimoji="0" lang="en-US" sz="8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2">
            <a:extLst>
              <a:ext uri="{FF2B5EF4-FFF2-40B4-BE49-F238E27FC236}">
                <a16:creationId xmlns:a16="http://schemas.microsoft.com/office/drawing/2014/main" id="{190E811E-36AD-67A6-ECF6-F63D81BD2B7B}"/>
              </a:ext>
            </a:extLst>
          </p:cNvPr>
          <p:cNvSpPr/>
          <p:nvPr/>
        </p:nvSpPr>
        <p:spPr>
          <a:xfrm>
            <a:off x="7322010" y="2012977"/>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0" spc="600" dirty="0">
                <a:solidFill>
                  <a:srgbClr val="67E8F9"/>
                </a:solidFill>
                <a:latin typeface="Helvetica Neue" pitchFamily="34" charset="0"/>
                <a:ea typeface="Helvetica Neue" pitchFamily="34" charset="-122"/>
              </a:rPr>
              <a:t>THINK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600" normalizeH="0" baseline="0" noProof="0" dirty="0">
                <a:ln>
                  <a:noFill/>
                </a:ln>
                <a:solidFill>
                  <a:srgbClr val="67E8F9"/>
                </a:solidFill>
                <a:effectLst/>
                <a:uLnTx/>
                <a:uFillTx/>
                <a:latin typeface="Helvetica Neue" pitchFamily="34" charset="0"/>
                <a:ea typeface="Helvetica Neue" pitchFamily="34" charset="-122"/>
                <a:cs typeface="+mn-cs"/>
              </a:rPr>
              <a:t>FORWARD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3">
            <a:extLst>
              <a:ext uri="{FF2B5EF4-FFF2-40B4-BE49-F238E27FC236}">
                <a16:creationId xmlns:a16="http://schemas.microsoft.com/office/drawing/2014/main" id="{942597AC-5129-563F-11A4-C4A9551A6019}"/>
              </a:ext>
            </a:extLst>
          </p:cNvPr>
          <p:cNvSpPr/>
          <p:nvPr/>
        </p:nvSpPr>
        <p:spPr>
          <a:xfrm>
            <a:off x="6650802" y="3130037"/>
            <a:ext cx="26060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F4F7FB"/>
                </a:solidFill>
                <a:latin typeface="Helvetica Neue" pitchFamily="34" charset="0"/>
                <a:ea typeface="Helvetica Neue" pitchFamily="34" charset="-122"/>
              </a:rPr>
              <a:t>THE FUTURE OF </a:t>
            </a:r>
            <a:r>
              <a:rPr kumimoji="0" lang="en-US" sz="13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rPr>
              <a:t>WHATSUPP?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4">
            <a:extLst>
              <a:ext uri="{FF2B5EF4-FFF2-40B4-BE49-F238E27FC236}">
                <a16:creationId xmlns:a16="http://schemas.microsoft.com/office/drawing/2014/main" id="{18EB7792-6D5B-DF78-75C4-86B587D64665}"/>
              </a:ext>
            </a:extLst>
          </p:cNvPr>
          <p:cNvSpPr/>
          <p:nvPr/>
        </p:nvSpPr>
        <p:spPr>
          <a:xfrm>
            <a:off x="6650802" y="4060815"/>
            <a:ext cx="2411164" cy="47389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8B96A6"/>
                </a:solidFill>
                <a:latin typeface="Calibri" pitchFamily="34" charset="0"/>
                <a:ea typeface="Calibri" pitchFamily="34" charset="-122"/>
                <a:cs typeface="Calibri" pitchFamily="34" charset="-120"/>
              </a:rPr>
              <a:t>George has plans.  Plans to connect you with batch tested versions of the supplements and sports foods you want to use.  Plans to be the conduit for ambitious research projects based on citizen sports science.  Plans to let supplement manufacturers know what they should be making. Make George part of your better future self.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3932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1737360" cy="1600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57069" y="422910"/>
            <a:ext cx="2091771" cy="137160"/>
          </a:xfrm>
          <a:prstGeom prst="rect">
            <a:avLst/>
          </a:prstGeom>
          <a:noFill/>
          <a:ln/>
        </p:spPr>
        <p:txBody>
          <a:bodyPr wrap="square" lIns="0" tIns="0" rIns="0" bIns="0" rtlCol="0" anchor="ctr"/>
          <a:lstStyle/>
          <a:p>
            <a:pPr marL="0" indent="0" algn="ctr">
              <a:buNone/>
            </a:pPr>
            <a:r>
              <a:rPr lang="en-US" sz="900" b="1" kern="0" spc="600" dirty="0">
                <a:solidFill>
                  <a:srgbClr val="67E8F9"/>
                </a:solidFill>
                <a:latin typeface="Helvetica Neue" pitchFamily="34" charset="0"/>
                <a:ea typeface="Helvetica Neue" pitchFamily="34" charset="-122"/>
                <a:cs typeface="Helvetica Neue" pitchFamily="34" charset="-120"/>
              </a:rPr>
              <a:t>WHY NOW</a:t>
            </a:r>
            <a:endParaRPr lang="en-US" sz="900" dirty="0"/>
          </a:p>
        </p:txBody>
      </p:sp>
      <p:sp>
        <p:nvSpPr>
          <p:cNvPr id="4" name="Text 2"/>
          <p:cNvSpPr/>
          <p:nvPr/>
        </p:nvSpPr>
        <p:spPr>
          <a:xfrm>
            <a:off x="411480" y="822960"/>
            <a:ext cx="8229600" cy="548640"/>
          </a:xfrm>
          <a:prstGeom prst="rect">
            <a:avLst/>
          </a:prstGeom>
          <a:noFill/>
          <a:ln/>
        </p:spPr>
        <p:txBody>
          <a:bodyPr wrap="square" lIns="0" tIns="0" rIns="0" bIns="0" rtlCol="0" anchor="ctr"/>
          <a:lstStyle/>
          <a:p>
            <a:pPr marL="0" indent="0">
              <a:buNone/>
            </a:pPr>
            <a:r>
              <a:rPr lang="en-US" sz="2400" b="1" dirty="0">
                <a:solidFill>
                  <a:srgbClr val="F4F7FB"/>
                </a:solidFill>
                <a:latin typeface="Helvetica Neue" pitchFamily="34" charset="0"/>
                <a:ea typeface="Helvetica Neue" pitchFamily="34" charset="-122"/>
                <a:cs typeface="Helvetica Neue" pitchFamily="34" charset="-120"/>
              </a:rPr>
              <a:t>Five forces converged to make George possible                       — and necessary.</a:t>
            </a:r>
            <a:endParaRPr lang="en-US" sz="2400" dirty="0"/>
          </a:p>
        </p:txBody>
      </p:sp>
      <p:sp>
        <p:nvSpPr>
          <p:cNvPr id="5" name="Shape 3"/>
          <p:cNvSpPr/>
          <p:nvPr/>
        </p:nvSpPr>
        <p:spPr>
          <a:xfrm>
            <a:off x="374904" y="1783080"/>
            <a:ext cx="1673352" cy="2788920"/>
          </a:xfrm>
          <a:prstGeom prst="rect">
            <a:avLst/>
          </a:prstGeom>
          <a:solidFill>
            <a:srgbClr val="161D27"/>
          </a:solidFill>
          <a:ln w="9525">
            <a:solidFill>
              <a:srgbClr val="2A3441"/>
            </a:solidFill>
            <a:prstDash val="solid"/>
          </a:ln>
        </p:spPr>
        <p:txBody>
          <a:bodyPr/>
          <a:lstStyle/>
          <a:p>
            <a:endParaRPr lang="en-US"/>
          </a:p>
        </p:txBody>
      </p:sp>
      <p:sp>
        <p:nvSpPr>
          <p:cNvPr id="6" name="Text 4"/>
          <p:cNvSpPr/>
          <p:nvPr/>
        </p:nvSpPr>
        <p:spPr>
          <a:xfrm>
            <a:off x="548640" y="1874520"/>
            <a:ext cx="1399032" cy="274320"/>
          </a:xfrm>
          <a:prstGeom prst="rect">
            <a:avLst/>
          </a:prstGeom>
          <a:noFill/>
          <a:ln/>
        </p:spPr>
        <p:txBody>
          <a:bodyPr wrap="square" lIns="0" tIns="0" rIns="0" bIns="0" rtlCol="0" anchor="ctr"/>
          <a:lstStyle/>
          <a:p>
            <a:pPr marL="0" indent="0">
              <a:buNone/>
            </a:pPr>
            <a:r>
              <a:rPr lang="en-US" sz="1200" b="1" kern="0" spc="400" dirty="0">
                <a:solidFill>
                  <a:srgbClr val="67E8F9"/>
                </a:solidFill>
                <a:latin typeface="Helvetica Neue" pitchFamily="34" charset="0"/>
                <a:ea typeface="Helvetica Neue" pitchFamily="34" charset="-122"/>
                <a:cs typeface="Helvetica Neue" pitchFamily="34" charset="-120"/>
              </a:rPr>
              <a:t>01</a:t>
            </a:r>
            <a:endParaRPr lang="en-US" sz="1200" dirty="0"/>
          </a:p>
        </p:txBody>
      </p:sp>
      <p:sp>
        <p:nvSpPr>
          <p:cNvPr id="9" name="Shape 7"/>
          <p:cNvSpPr/>
          <p:nvPr/>
        </p:nvSpPr>
        <p:spPr>
          <a:xfrm>
            <a:off x="2148840" y="1783080"/>
            <a:ext cx="1673352" cy="2788920"/>
          </a:xfrm>
          <a:prstGeom prst="rect">
            <a:avLst/>
          </a:prstGeom>
          <a:solidFill>
            <a:srgbClr val="161D27"/>
          </a:solidFill>
          <a:ln w="9525">
            <a:solidFill>
              <a:srgbClr val="2A3441"/>
            </a:solidFill>
            <a:prstDash val="solid"/>
          </a:ln>
        </p:spPr>
        <p:txBody>
          <a:bodyPr/>
          <a:lstStyle/>
          <a:p>
            <a:endParaRPr lang="en-US"/>
          </a:p>
        </p:txBody>
      </p:sp>
      <p:sp>
        <p:nvSpPr>
          <p:cNvPr id="10" name="Text 8"/>
          <p:cNvSpPr/>
          <p:nvPr/>
        </p:nvSpPr>
        <p:spPr>
          <a:xfrm>
            <a:off x="2286000" y="1874520"/>
            <a:ext cx="1399032" cy="274320"/>
          </a:xfrm>
          <a:prstGeom prst="rect">
            <a:avLst/>
          </a:prstGeom>
          <a:noFill/>
          <a:ln/>
        </p:spPr>
        <p:txBody>
          <a:bodyPr wrap="square" lIns="0" tIns="0" rIns="0" bIns="0" rtlCol="0" anchor="ctr"/>
          <a:lstStyle/>
          <a:p>
            <a:pPr marL="0" indent="0">
              <a:buNone/>
            </a:pPr>
            <a:r>
              <a:rPr lang="en-US" sz="1200" b="1" kern="0" spc="400" dirty="0">
                <a:solidFill>
                  <a:srgbClr val="67E8F9"/>
                </a:solidFill>
                <a:latin typeface="Helvetica Neue" pitchFamily="34" charset="0"/>
                <a:ea typeface="Helvetica Neue" pitchFamily="34" charset="-122"/>
                <a:cs typeface="Helvetica Neue" pitchFamily="34" charset="-120"/>
              </a:rPr>
              <a:t>02</a:t>
            </a:r>
            <a:endParaRPr lang="en-US" sz="1200" dirty="0"/>
          </a:p>
        </p:txBody>
      </p:sp>
      <p:sp>
        <p:nvSpPr>
          <p:cNvPr id="11" name="Text 9"/>
          <p:cNvSpPr/>
          <p:nvPr/>
        </p:nvSpPr>
        <p:spPr>
          <a:xfrm>
            <a:off x="2286000" y="2194560"/>
            <a:ext cx="1399032" cy="777240"/>
          </a:xfrm>
          <a:prstGeom prst="rect">
            <a:avLst/>
          </a:prstGeom>
          <a:noFill/>
          <a:ln/>
        </p:spPr>
        <p:txBody>
          <a:bodyPr wrap="square" lIns="0" tIns="0" rIns="0" bIns="0" rtlCol="0" anchor="ctr"/>
          <a:lstStyle/>
          <a:p>
            <a:pPr marL="0" indent="0">
              <a:buNone/>
            </a:pPr>
            <a:r>
              <a:rPr lang="en-US" sz="1150" b="1" dirty="0">
                <a:solidFill>
                  <a:srgbClr val="F4F7FB"/>
                </a:solidFill>
                <a:latin typeface="Helvetica Neue" pitchFamily="34" charset="0"/>
                <a:ea typeface="Helvetica Neue" pitchFamily="34" charset="-122"/>
                <a:cs typeface="Helvetica Neue" pitchFamily="34" charset="-120"/>
              </a:rPr>
              <a:t>Premium nutrition has a price tag that’s worth it</a:t>
            </a:r>
            <a:endParaRPr lang="en-US" sz="1150" dirty="0"/>
          </a:p>
        </p:txBody>
      </p:sp>
      <p:sp>
        <p:nvSpPr>
          <p:cNvPr id="12" name="Text 10"/>
          <p:cNvSpPr/>
          <p:nvPr/>
        </p:nvSpPr>
        <p:spPr>
          <a:xfrm>
            <a:off x="2286000" y="3017520"/>
            <a:ext cx="1399032" cy="1508760"/>
          </a:xfrm>
          <a:prstGeom prst="rect">
            <a:avLst/>
          </a:prstGeom>
          <a:noFill/>
          <a:ln/>
        </p:spPr>
        <p:txBody>
          <a:bodyPr wrap="square" lIns="0" tIns="0" rIns="0" bIns="0" rtlCol="0" anchor="ctr"/>
          <a:lstStyle/>
          <a:p>
            <a:pPr marL="0" indent="0">
              <a:buNone/>
            </a:pPr>
            <a:r>
              <a:rPr lang="en-US" sz="950" dirty="0">
                <a:solidFill>
                  <a:srgbClr val="8B96A6"/>
                </a:solidFill>
                <a:latin typeface="Calibri" pitchFamily="34" charset="0"/>
                <a:ea typeface="Calibri" pitchFamily="34" charset="-122"/>
                <a:cs typeface="Calibri" pitchFamily="34" charset="-120"/>
              </a:rPr>
              <a:t>Maurten, AG1, LMNT, Precision Fuel proved athletes will pay $50–200/mo for evidence-positioned products.</a:t>
            </a:r>
            <a:endParaRPr lang="en-US" sz="950" dirty="0"/>
          </a:p>
        </p:txBody>
      </p:sp>
      <p:sp>
        <p:nvSpPr>
          <p:cNvPr id="13" name="Shape 11"/>
          <p:cNvSpPr/>
          <p:nvPr/>
        </p:nvSpPr>
        <p:spPr>
          <a:xfrm>
            <a:off x="3886200" y="1783080"/>
            <a:ext cx="1673352" cy="2788920"/>
          </a:xfrm>
          <a:prstGeom prst="rect">
            <a:avLst/>
          </a:prstGeom>
          <a:solidFill>
            <a:srgbClr val="161D27"/>
          </a:solidFill>
          <a:ln w="9525">
            <a:solidFill>
              <a:srgbClr val="2A3441"/>
            </a:solidFill>
            <a:prstDash val="solid"/>
          </a:ln>
        </p:spPr>
        <p:txBody>
          <a:bodyPr/>
          <a:lstStyle/>
          <a:p>
            <a:endParaRPr lang="en-US"/>
          </a:p>
        </p:txBody>
      </p:sp>
      <p:sp>
        <p:nvSpPr>
          <p:cNvPr id="14" name="Text 12"/>
          <p:cNvSpPr/>
          <p:nvPr/>
        </p:nvSpPr>
        <p:spPr>
          <a:xfrm>
            <a:off x="4023360" y="1874520"/>
            <a:ext cx="1399032" cy="274320"/>
          </a:xfrm>
          <a:prstGeom prst="rect">
            <a:avLst/>
          </a:prstGeom>
          <a:noFill/>
          <a:ln/>
        </p:spPr>
        <p:txBody>
          <a:bodyPr wrap="square" lIns="0" tIns="0" rIns="0" bIns="0" rtlCol="0" anchor="ctr"/>
          <a:lstStyle/>
          <a:p>
            <a:pPr marL="0" indent="0">
              <a:buNone/>
            </a:pPr>
            <a:r>
              <a:rPr lang="en-US" sz="1200" b="1" kern="0" spc="400" dirty="0">
                <a:solidFill>
                  <a:srgbClr val="67E8F9"/>
                </a:solidFill>
                <a:latin typeface="Helvetica Neue" pitchFamily="34" charset="0"/>
                <a:ea typeface="Helvetica Neue" pitchFamily="34" charset="-122"/>
                <a:cs typeface="Helvetica Neue" pitchFamily="34" charset="-120"/>
              </a:rPr>
              <a:t>03</a:t>
            </a:r>
            <a:endParaRPr lang="en-US" sz="1200" dirty="0"/>
          </a:p>
        </p:txBody>
      </p:sp>
      <p:sp>
        <p:nvSpPr>
          <p:cNvPr id="15" name="Text 13"/>
          <p:cNvSpPr/>
          <p:nvPr/>
        </p:nvSpPr>
        <p:spPr>
          <a:xfrm>
            <a:off x="4023360" y="2194560"/>
            <a:ext cx="1399032" cy="777240"/>
          </a:xfrm>
          <a:prstGeom prst="rect">
            <a:avLst/>
          </a:prstGeom>
          <a:noFill/>
          <a:ln/>
        </p:spPr>
        <p:txBody>
          <a:bodyPr wrap="square" lIns="0" tIns="0" rIns="0" bIns="0" rtlCol="0" anchor="ctr"/>
          <a:lstStyle/>
          <a:p>
            <a:pPr marL="0" indent="0">
              <a:buNone/>
            </a:pPr>
            <a:r>
              <a:rPr lang="en-US" sz="1150" b="1" dirty="0">
                <a:solidFill>
                  <a:srgbClr val="F4F7FB"/>
                </a:solidFill>
                <a:latin typeface="Helvetica Neue" pitchFamily="34" charset="0"/>
                <a:ea typeface="Helvetica Neue" pitchFamily="34" charset="-122"/>
                <a:cs typeface="Helvetica Neue" pitchFamily="34" charset="-120"/>
              </a:rPr>
              <a:t>Disillusionment with the one-dimensional LLMs</a:t>
            </a:r>
            <a:endParaRPr lang="en-US" sz="1150" dirty="0"/>
          </a:p>
        </p:txBody>
      </p:sp>
      <p:sp>
        <p:nvSpPr>
          <p:cNvPr id="16" name="Text 14"/>
          <p:cNvSpPr/>
          <p:nvPr/>
        </p:nvSpPr>
        <p:spPr>
          <a:xfrm>
            <a:off x="4023360" y="3017520"/>
            <a:ext cx="1399032" cy="1508760"/>
          </a:xfrm>
          <a:prstGeom prst="rect">
            <a:avLst/>
          </a:prstGeom>
          <a:noFill/>
          <a:ln/>
        </p:spPr>
        <p:txBody>
          <a:bodyPr wrap="square" lIns="0" tIns="0" rIns="0" bIns="0" rtlCol="0" anchor="ctr"/>
          <a:lstStyle/>
          <a:p>
            <a:pPr marL="0" indent="0">
              <a:buNone/>
            </a:pPr>
            <a:r>
              <a:rPr lang="en-US" sz="950" dirty="0">
                <a:solidFill>
                  <a:srgbClr val="8B96A6"/>
                </a:solidFill>
                <a:latin typeface="Calibri" pitchFamily="34" charset="0"/>
                <a:ea typeface="Calibri" pitchFamily="34" charset="-122"/>
                <a:cs typeface="Calibri" pitchFamily="34" charset="-120"/>
              </a:rPr>
              <a:t>Athletes tried ChatGPT for nutrition advice. They got population averages. They want personalised expertise. George is the answer they were promised.</a:t>
            </a:r>
            <a:endParaRPr lang="en-US" sz="950" dirty="0"/>
          </a:p>
        </p:txBody>
      </p:sp>
      <p:sp>
        <p:nvSpPr>
          <p:cNvPr id="17" name="Shape 15"/>
          <p:cNvSpPr/>
          <p:nvPr/>
        </p:nvSpPr>
        <p:spPr>
          <a:xfrm>
            <a:off x="5623560" y="1783080"/>
            <a:ext cx="1673352" cy="2788920"/>
          </a:xfrm>
          <a:prstGeom prst="rect">
            <a:avLst/>
          </a:prstGeom>
          <a:solidFill>
            <a:srgbClr val="161D27"/>
          </a:solidFill>
          <a:ln w="9525">
            <a:solidFill>
              <a:srgbClr val="2A3441"/>
            </a:solidFill>
            <a:prstDash val="solid"/>
          </a:ln>
        </p:spPr>
        <p:txBody>
          <a:bodyPr/>
          <a:lstStyle/>
          <a:p>
            <a:endParaRPr lang="en-US"/>
          </a:p>
        </p:txBody>
      </p:sp>
      <p:sp>
        <p:nvSpPr>
          <p:cNvPr id="18" name="Text 16"/>
          <p:cNvSpPr/>
          <p:nvPr/>
        </p:nvSpPr>
        <p:spPr>
          <a:xfrm>
            <a:off x="5760720" y="1874520"/>
            <a:ext cx="1399032" cy="274320"/>
          </a:xfrm>
          <a:prstGeom prst="rect">
            <a:avLst/>
          </a:prstGeom>
          <a:noFill/>
          <a:ln/>
        </p:spPr>
        <p:txBody>
          <a:bodyPr wrap="square" lIns="0" tIns="0" rIns="0" bIns="0" rtlCol="0" anchor="ctr"/>
          <a:lstStyle/>
          <a:p>
            <a:pPr marL="0" indent="0">
              <a:buNone/>
            </a:pPr>
            <a:r>
              <a:rPr lang="en-US" sz="1200" b="1" kern="0" spc="400" dirty="0">
                <a:solidFill>
                  <a:srgbClr val="67E8F9"/>
                </a:solidFill>
                <a:latin typeface="Helvetica Neue" pitchFamily="34" charset="0"/>
                <a:ea typeface="Helvetica Neue" pitchFamily="34" charset="-122"/>
                <a:cs typeface="Helvetica Neue" pitchFamily="34" charset="-120"/>
              </a:rPr>
              <a:t>04</a:t>
            </a:r>
            <a:endParaRPr lang="en-US" sz="1200" dirty="0"/>
          </a:p>
        </p:txBody>
      </p:sp>
      <p:sp>
        <p:nvSpPr>
          <p:cNvPr id="20" name="Text 18"/>
          <p:cNvSpPr/>
          <p:nvPr/>
        </p:nvSpPr>
        <p:spPr>
          <a:xfrm>
            <a:off x="5760720" y="3017520"/>
            <a:ext cx="1399032" cy="1508760"/>
          </a:xfrm>
          <a:prstGeom prst="rect">
            <a:avLst/>
          </a:prstGeom>
          <a:noFill/>
          <a:ln/>
        </p:spPr>
        <p:txBody>
          <a:bodyPr wrap="square" lIns="0" tIns="0" rIns="0" bIns="0" rtlCol="0" anchor="ctr"/>
          <a:lstStyle/>
          <a:p>
            <a:pPr marL="0" indent="0">
              <a:buNone/>
            </a:pPr>
            <a:r>
              <a:rPr lang="en-US" sz="950" dirty="0">
                <a:solidFill>
                  <a:srgbClr val="8B96A6"/>
                </a:solidFill>
                <a:latin typeface="Calibri" pitchFamily="34" charset="0"/>
                <a:ea typeface="Calibri" pitchFamily="34" charset="-122"/>
                <a:cs typeface="Calibri" pitchFamily="34" charset="-120"/>
              </a:rPr>
              <a:t>.</a:t>
            </a:r>
            <a:endParaRPr lang="en-US" sz="950" dirty="0"/>
          </a:p>
        </p:txBody>
      </p:sp>
      <p:sp>
        <p:nvSpPr>
          <p:cNvPr id="21" name="Shape 19"/>
          <p:cNvSpPr/>
          <p:nvPr/>
        </p:nvSpPr>
        <p:spPr>
          <a:xfrm>
            <a:off x="7360920" y="1783080"/>
            <a:ext cx="1673352" cy="2788920"/>
          </a:xfrm>
          <a:prstGeom prst="rect">
            <a:avLst/>
          </a:prstGeom>
          <a:solidFill>
            <a:srgbClr val="161D27"/>
          </a:solidFill>
          <a:ln w="9525">
            <a:solidFill>
              <a:srgbClr val="2A3441"/>
            </a:solidFill>
            <a:prstDash val="solid"/>
          </a:ln>
        </p:spPr>
        <p:txBody>
          <a:bodyPr/>
          <a:lstStyle/>
          <a:p>
            <a:endParaRPr lang="en-US"/>
          </a:p>
        </p:txBody>
      </p:sp>
      <p:sp>
        <p:nvSpPr>
          <p:cNvPr id="22" name="Text 20"/>
          <p:cNvSpPr/>
          <p:nvPr/>
        </p:nvSpPr>
        <p:spPr>
          <a:xfrm>
            <a:off x="7498080" y="1874520"/>
            <a:ext cx="1399032" cy="274320"/>
          </a:xfrm>
          <a:prstGeom prst="rect">
            <a:avLst/>
          </a:prstGeom>
          <a:noFill/>
          <a:ln/>
        </p:spPr>
        <p:txBody>
          <a:bodyPr wrap="square" lIns="0" tIns="0" rIns="0" bIns="0" rtlCol="0" anchor="ctr"/>
          <a:lstStyle/>
          <a:p>
            <a:pPr marL="0" indent="0">
              <a:buNone/>
            </a:pPr>
            <a:r>
              <a:rPr lang="en-US" sz="1200" b="1" kern="0" spc="400" dirty="0">
                <a:solidFill>
                  <a:srgbClr val="67E8F9"/>
                </a:solidFill>
                <a:latin typeface="Helvetica Neue" pitchFamily="34" charset="0"/>
                <a:ea typeface="Helvetica Neue" pitchFamily="34" charset="-122"/>
                <a:cs typeface="Helvetica Neue" pitchFamily="34" charset="-120"/>
              </a:rPr>
              <a:t>05</a:t>
            </a:r>
            <a:endParaRPr lang="en-US" sz="1200" dirty="0"/>
          </a:p>
        </p:txBody>
      </p:sp>
      <p:sp>
        <p:nvSpPr>
          <p:cNvPr id="23" name="Text 21"/>
          <p:cNvSpPr/>
          <p:nvPr/>
        </p:nvSpPr>
        <p:spPr>
          <a:xfrm>
            <a:off x="7498080" y="2194560"/>
            <a:ext cx="1399032" cy="777240"/>
          </a:xfrm>
          <a:prstGeom prst="rect">
            <a:avLst/>
          </a:prstGeom>
          <a:noFill/>
          <a:ln/>
        </p:spPr>
        <p:txBody>
          <a:bodyPr wrap="square" lIns="0" tIns="0" rIns="0" bIns="0" rtlCol="0" anchor="ctr"/>
          <a:lstStyle/>
          <a:p>
            <a:pPr marL="0" indent="0">
              <a:buNone/>
            </a:pPr>
            <a:r>
              <a:rPr lang="en-US" sz="1150" b="1" dirty="0">
                <a:solidFill>
                  <a:srgbClr val="F4F7FB"/>
                </a:solidFill>
                <a:latin typeface="Helvetica Neue" pitchFamily="34" charset="0"/>
                <a:ea typeface="Helvetica Neue" pitchFamily="34" charset="-122"/>
                <a:cs typeface="Helvetica Neue" pitchFamily="34" charset="-120"/>
              </a:rPr>
              <a:t>Expert networks are now connectable</a:t>
            </a:r>
            <a:endParaRPr lang="en-US" sz="1150" dirty="0"/>
          </a:p>
        </p:txBody>
      </p:sp>
      <p:sp>
        <p:nvSpPr>
          <p:cNvPr id="24" name="Text 22"/>
          <p:cNvSpPr/>
          <p:nvPr/>
        </p:nvSpPr>
        <p:spPr>
          <a:xfrm>
            <a:off x="7498080" y="3017520"/>
            <a:ext cx="1399032" cy="1508760"/>
          </a:xfrm>
          <a:prstGeom prst="rect">
            <a:avLst/>
          </a:prstGeom>
          <a:noFill/>
          <a:ln/>
        </p:spPr>
        <p:txBody>
          <a:bodyPr wrap="square" lIns="0" tIns="0" rIns="0" bIns="0" rtlCol="0" anchor="ctr"/>
          <a:lstStyle/>
          <a:p>
            <a:pPr marL="0" indent="0">
              <a:buNone/>
            </a:pPr>
            <a:r>
              <a:rPr lang="en-US" sz="950" dirty="0">
                <a:solidFill>
                  <a:srgbClr val="8B96A6"/>
                </a:solidFill>
                <a:latin typeface="Calibri" pitchFamily="34" charset="0"/>
                <a:ea typeface="Calibri" pitchFamily="34" charset="-122"/>
                <a:cs typeface="Calibri" pitchFamily="34" charset="-120"/>
              </a:rPr>
              <a:t>The world’s top sports scientists are accessible as an intelligence layer. George is the first product to harness that expertise at scale.</a:t>
            </a:r>
            <a:endParaRPr lang="en-US" sz="950" dirty="0"/>
          </a:p>
        </p:txBody>
      </p:sp>
      <p:sp>
        <p:nvSpPr>
          <p:cNvPr id="25" name="Text 23"/>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26" name="Text 24"/>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14</a:t>
            </a:r>
            <a:endParaRPr lang="en-US" sz="900" dirty="0"/>
          </a:p>
        </p:txBody>
      </p:sp>
      <p:sp>
        <p:nvSpPr>
          <p:cNvPr id="7" name="Text 5"/>
          <p:cNvSpPr/>
          <p:nvPr/>
        </p:nvSpPr>
        <p:spPr>
          <a:xfrm>
            <a:off x="5760720" y="2164404"/>
            <a:ext cx="1399032" cy="777240"/>
          </a:xfrm>
          <a:prstGeom prst="rect">
            <a:avLst/>
          </a:prstGeom>
          <a:noFill/>
          <a:ln/>
        </p:spPr>
        <p:txBody>
          <a:bodyPr wrap="square" lIns="0" tIns="0" rIns="0" bIns="0" rtlCol="0" anchor="ctr"/>
          <a:lstStyle/>
          <a:p>
            <a:pPr marL="0" indent="0">
              <a:buNone/>
            </a:pPr>
            <a:r>
              <a:rPr lang="en-US" sz="1150" b="1" dirty="0">
                <a:solidFill>
                  <a:srgbClr val="F4F7FB"/>
                </a:solidFill>
                <a:latin typeface="Helvetica Neue" pitchFamily="34" charset="0"/>
                <a:ea typeface="Helvetica Neue" pitchFamily="34" charset="-122"/>
                <a:cs typeface="Helvetica Neue" pitchFamily="34" charset="-120"/>
              </a:rPr>
              <a:t>The ubiquity of wearables</a:t>
            </a:r>
            <a:endParaRPr lang="en-US" sz="1150" dirty="0"/>
          </a:p>
        </p:txBody>
      </p:sp>
      <p:sp>
        <p:nvSpPr>
          <p:cNvPr id="8" name="Text 6"/>
          <p:cNvSpPr/>
          <p:nvPr/>
        </p:nvSpPr>
        <p:spPr>
          <a:xfrm>
            <a:off x="5760720" y="3063240"/>
            <a:ext cx="1399032" cy="1508760"/>
          </a:xfrm>
          <a:prstGeom prst="rect">
            <a:avLst/>
          </a:prstGeom>
          <a:noFill/>
          <a:ln/>
        </p:spPr>
        <p:txBody>
          <a:bodyPr wrap="square" lIns="0" tIns="0" rIns="0" bIns="0" rtlCol="0" anchor="ctr"/>
          <a:lstStyle/>
          <a:p>
            <a:pPr marL="0" indent="0">
              <a:buNone/>
            </a:pPr>
            <a:r>
              <a:rPr lang="en-US" sz="950" dirty="0">
                <a:solidFill>
                  <a:srgbClr val="8B96A6"/>
                </a:solidFill>
                <a:latin typeface="Calibri" pitchFamily="34" charset="0"/>
                <a:ea typeface="Calibri" pitchFamily="34" charset="-122"/>
                <a:cs typeface="Calibri" pitchFamily="34" charset="-120"/>
              </a:rPr>
              <a:t>Garmin Connect crossed 50M users. Strava +25%/yr. Zwift normalized standardized indoor efforts. Now athletes can collect careful data and learn from it</a:t>
            </a:r>
            <a:endParaRPr lang="en-US" sz="950" dirty="0"/>
          </a:p>
        </p:txBody>
      </p:sp>
      <p:sp>
        <p:nvSpPr>
          <p:cNvPr id="27" name="Text 9">
            <a:extLst>
              <a:ext uri="{FF2B5EF4-FFF2-40B4-BE49-F238E27FC236}">
                <a16:creationId xmlns:a16="http://schemas.microsoft.com/office/drawing/2014/main" id="{B7615DBF-CEB1-2C63-1EB9-3ECB8B9D3639}"/>
              </a:ext>
            </a:extLst>
          </p:cNvPr>
          <p:cNvSpPr/>
          <p:nvPr/>
        </p:nvSpPr>
        <p:spPr>
          <a:xfrm>
            <a:off x="512064" y="2217421"/>
            <a:ext cx="1399032" cy="777240"/>
          </a:xfrm>
          <a:prstGeom prst="rect">
            <a:avLst/>
          </a:prstGeom>
          <a:noFill/>
          <a:ln/>
        </p:spPr>
        <p:txBody>
          <a:bodyPr wrap="square" lIns="0" tIns="0" rIns="0" bIns="0" rtlCol="0" anchor="ctr"/>
          <a:lstStyle/>
          <a:p>
            <a:pPr marL="0" indent="0">
              <a:buNone/>
            </a:pPr>
            <a:r>
              <a:rPr lang="en-US" sz="1150" b="1" dirty="0">
                <a:solidFill>
                  <a:srgbClr val="F4F7FB"/>
                </a:solidFill>
                <a:latin typeface="Helvetica Neue" pitchFamily="34" charset="0"/>
                <a:ea typeface="Helvetica Neue" pitchFamily="34" charset="-122"/>
                <a:cs typeface="Helvetica Neue" pitchFamily="34" charset="-120"/>
              </a:rPr>
              <a:t>Supplements and sports foods became credible</a:t>
            </a:r>
            <a:endParaRPr lang="en-US" sz="1150" dirty="0"/>
          </a:p>
        </p:txBody>
      </p:sp>
      <p:sp>
        <p:nvSpPr>
          <p:cNvPr id="28" name="Text 10">
            <a:extLst>
              <a:ext uri="{FF2B5EF4-FFF2-40B4-BE49-F238E27FC236}">
                <a16:creationId xmlns:a16="http://schemas.microsoft.com/office/drawing/2014/main" id="{4840712A-FB97-E0C3-181F-AB8B3A09ACCA}"/>
              </a:ext>
            </a:extLst>
          </p:cNvPr>
          <p:cNvSpPr/>
          <p:nvPr/>
        </p:nvSpPr>
        <p:spPr>
          <a:xfrm>
            <a:off x="612648" y="3028950"/>
            <a:ext cx="1399032" cy="1508760"/>
          </a:xfrm>
          <a:prstGeom prst="rect">
            <a:avLst/>
          </a:prstGeom>
          <a:noFill/>
          <a:ln/>
        </p:spPr>
        <p:txBody>
          <a:bodyPr wrap="square" lIns="0" tIns="0" rIns="0" bIns="0" rtlCol="0" anchor="ctr"/>
          <a:lstStyle/>
          <a:p>
            <a:pPr marL="0" indent="0">
              <a:buNone/>
            </a:pPr>
            <a:r>
              <a:rPr lang="en-US" sz="950" dirty="0">
                <a:solidFill>
                  <a:srgbClr val="8B96A6"/>
                </a:solidFill>
                <a:latin typeface="Calibri" pitchFamily="34" charset="0"/>
                <a:ea typeface="Calibri" pitchFamily="34" charset="-122"/>
                <a:cs typeface="Calibri" pitchFamily="34" charset="-120"/>
              </a:rPr>
              <a:t>Sporting </a:t>
            </a:r>
            <a:r>
              <a:rPr lang="en-US" sz="950" dirty="0" err="1">
                <a:solidFill>
                  <a:srgbClr val="8B96A6"/>
                </a:solidFill>
                <a:latin typeface="Calibri" pitchFamily="34" charset="0"/>
                <a:ea typeface="Calibri" pitchFamily="34" charset="-122"/>
                <a:cs typeface="Calibri" pitchFamily="34" charset="-120"/>
              </a:rPr>
              <a:t>organisations</a:t>
            </a:r>
            <a:r>
              <a:rPr lang="en-US" sz="950" dirty="0">
                <a:solidFill>
                  <a:srgbClr val="8B96A6"/>
                </a:solidFill>
                <a:latin typeface="Calibri" pitchFamily="34" charset="0"/>
                <a:ea typeface="Calibri" pitchFamily="34" charset="-122"/>
                <a:cs typeface="Calibri" pitchFamily="34" charset="-120"/>
              </a:rPr>
              <a:t> finally recognised that they play a role in sports nutrition. One that athletes and coaches are interested in.  Science decided to meet athletes where they’re at, and to build a credible way to work with them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a:extLst>
            <a:ext uri="{FF2B5EF4-FFF2-40B4-BE49-F238E27FC236}">
              <a16:creationId xmlns:a16="http://schemas.microsoft.com/office/drawing/2014/main" id="{91AB622C-7F7A-80F1-924B-294E8DCD6155}"/>
            </a:ext>
          </a:extLst>
        </p:cNvPr>
        <p:cNvGrpSpPr/>
        <p:nvPr/>
      </p:nvGrpSpPr>
      <p:grpSpPr>
        <a:xfrm>
          <a:off x="0" y="0"/>
          <a:ext cx="0" cy="0"/>
          <a:chOff x="0" y="0"/>
          <a:chExt cx="0" cy="0"/>
        </a:xfrm>
      </p:grpSpPr>
      <p:sp>
        <p:nvSpPr>
          <p:cNvPr id="14" name="Shape 12">
            <a:extLst>
              <a:ext uri="{FF2B5EF4-FFF2-40B4-BE49-F238E27FC236}">
                <a16:creationId xmlns:a16="http://schemas.microsoft.com/office/drawing/2014/main" id="{95714369-4599-8DCC-0864-C740A5180784}"/>
              </a:ext>
            </a:extLst>
          </p:cNvPr>
          <p:cNvSpPr/>
          <p:nvPr/>
        </p:nvSpPr>
        <p:spPr>
          <a:xfrm>
            <a:off x="4709160" y="2011680"/>
            <a:ext cx="502920" cy="502920"/>
          </a:xfrm>
          <a:prstGeom prst="ellipse">
            <a:avLst/>
          </a:prstGeom>
          <a:solidFill>
            <a:srgbClr val="1E2733"/>
          </a:solidFill>
          <a:ln w="12700">
            <a:solidFill>
              <a:srgbClr val="67E8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Shape 0">
            <a:extLst>
              <a:ext uri="{FF2B5EF4-FFF2-40B4-BE49-F238E27FC236}">
                <a16:creationId xmlns:a16="http://schemas.microsoft.com/office/drawing/2014/main" id="{6F74897B-A319-D7EC-4E89-07EFFF244B19}"/>
              </a:ext>
            </a:extLst>
          </p:cNvPr>
          <p:cNvSpPr/>
          <p:nvPr/>
        </p:nvSpPr>
        <p:spPr>
          <a:xfrm>
            <a:off x="411480" y="411480"/>
            <a:ext cx="1819656" cy="274320"/>
          </a:xfrm>
          <a:prstGeom prst="rect">
            <a:avLst/>
          </a:prstGeom>
          <a:solidFill>
            <a:srgbClr val="2A3441"/>
          </a:solidFill>
          <a:ln w="12700">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A175582-FED0-9518-2097-A487BC239623}"/>
              </a:ext>
            </a:extLst>
          </p:cNvPr>
          <p:cNvSpPr/>
          <p:nvPr/>
        </p:nvSpPr>
        <p:spPr>
          <a:xfrm>
            <a:off x="411480" y="411480"/>
            <a:ext cx="1819656"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600" normalizeH="0" baseline="0" noProof="0" dirty="0">
                <a:ln>
                  <a:noFill/>
                </a:ln>
                <a:solidFill>
                  <a:srgbClr val="B6F569"/>
                </a:solidFill>
                <a:effectLst/>
                <a:uLnTx/>
                <a:uFillTx/>
                <a:latin typeface="Helvetica Neue" pitchFamily="34" charset="0"/>
                <a:ea typeface="Helvetica Neue" pitchFamily="34" charset="-122"/>
                <a:cs typeface="Helvetica Neue" pitchFamily="34" charset="-120"/>
              </a:rPr>
              <a:t>SCIENCE PANEL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52D56141-C099-AB95-A8BC-7F9F0D97F44C}"/>
              </a:ext>
            </a:extLst>
          </p:cNvPr>
          <p:cNvSpPr/>
          <p:nvPr/>
        </p:nvSpPr>
        <p:spPr>
          <a:xfrm>
            <a:off x="411480" y="822960"/>
            <a:ext cx="82296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rPr>
              <a:t>Chaired by the most cited sports-nutrition scientist alive.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B6EA0433-D37F-5599-4B91-8D9763BE3F1F}"/>
              </a:ext>
            </a:extLst>
          </p:cNvPr>
          <p:cNvSpPr/>
          <p:nvPr/>
        </p:nvSpPr>
        <p:spPr>
          <a:xfrm>
            <a:off x="411480" y="1325880"/>
            <a:ext cx="8229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B96A6"/>
                </a:solidFill>
                <a:effectLst/>
                <a:uLnTx/>
                <a:uFillTx/>
                <a:latin typeface="Calibri" pitchFamily="34" charset="0"/>
                <a:ea typeface="Calibri" pitchFamily="34" charset="-122"/>
                <a:cs typeface="Calibri" pitchFamily="34" charset="-120"/>
              </a:rPr>
              <a:t>Every protocol, every statistical decision, every athlete-facing claim passes through this panel.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0DC467C6-71C8-1704-C8F3-150DF918CABE}"/>
              </a:ext>
            </a:extLst>
          </p:cNvPr>
          <p:cNvSpPr/>
          <p:nvPr/>
        </p:nvSpPr>
        <p:spPr>
          <a:xfrm>
            <a:off x="411480" y="1828800"/>
            <a:ext cx="3931920" cy="2743200"/>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48128A61-EE19-430F-68C7-A2427A176CFC}"/>
              </a:ext>
            </a:extLst>
          </p:cNvPr>
          <p:cNvSpPr/>
          <p:nvPr/>
        </p:nvSpPr>
        <p:spPr>
          <a:xfrm>
            <a:off x="411480" y="1828800"/>
            <a:ext cx="3931920" cy="54864"/>
          </a:xfrm>
          <a:prstGeom prst="rect">
            <a:avLst/>
          </a:prstGeom>
          <a:solidFill>
            <a:srgbClr val="B6F569"/>
          </a:solidFill>
          <a:ln w="12700">
            <a:solidFill>
              <a:srgbClr val="B6F5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107C1CFE-7EF4-A301-8368-52A5EE9CE2B1}"/>
              </a:ext>
            </a:extLst>
          </p:cNvPr>
          <p:cNvSpPr/>
          <p:nvPr/>
        </p:nvSpPr>
        <p:spPr>
          <a:xfrm>
            <a:off x="594360" y="2057400"/>
            <a:ext cx="960120" cy="960120"/>
          </a:xfrm>
          <a:prstGeom prst="ellipse">
            <a:avLst/>
          </a:prstGeom>
          <a:solidFill>
            <a:srgbClr val="1E2733"/>
          </a:solidFill>
          <a:ln w="19050">
            <a:solidFill>
              <a:srgbClr val="B6F5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316E350B-FFCA-5631-DCB7-6FB5D109F2A7}"/>
              </a:ext>
            </a:extLst>
          </p:cNvPr>
          <p:cNvSpPr/>
          <p:nvPr/>
        </p:nvSpPr>
        <p:spPr>
          <a:xfrm>
            <a:off x="594360" y="2057400"/>
            <a:ext cx="960120"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B6F569"/>
                </a:solidFill>
                <a:effectLst/>
                <a:uLnTx/>
                <a:uFillTx/>
                <a:latin typeface="Helvetica Neue" pitchFamily="34" charset="0"/>
                <a:ea typeface="Helvetica Neue" pitchFamily="34" charset="-122"/>
                <a:cs typeface="Helvetica Neue" pitchFamily="34" charset="-120"/>
              </a:rPr>
              <a:t>LB</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4CD47291-127C-076A-2E8E-841A18EB50CA}"/>
              </a:ext>
            </a:extLst>
          </p:cNvPr>
          <p:cNvSpPr/>
          <p:nvPr/>
        </p:nvSpPr>
        <p:spPr>
          <a:xfrm>
            <a:off x="1691640" y="2103120"/>
            <a:ext cx="2286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600" normalizeH="0" baseline="0" noProof="0" dirty="0">
                <a:ln>
                  <a:noFill/>
                </a:ln>
                <a:solidFill>
                  <a:srgbClr val="B6F569"/>
                </a:solidFill>
                <a:effectLst/>
                <a:uLnTx/>
                <a:uFillTx/>
                <a:latin typeface="Helvetica Neue" pitchFamily="34" charset="0"/>
                <a:ea typeface="Helvetica Neue" pitchFamily="34" charset="-122"/>
                <a:cs typeface="Helvetica Neue" pitchFamily="34" charset="-120"/>
              </a:rPr>
              <a:t>CHAIR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9DBC5E9F-A3AE-5AA6-5237-BA0D75CB1882}"/>
              </a:ext>
            </a:extLst>
          </p:cNvPr>
          <p:cNvSpPr/>
          <p:nvPr/>
        </p:nvSpPr>
        <p:spPr>
          <a:xfrm>
            <a:off x="1691640" y="2331720"/>
            <a:ext cx="2606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F7FB"/>
                </a:solidFill>
                <a:effectLst/>
                <a:uLnTx/>
                <a:uFillTx/>
                <a:latin typeface="Helvetica Neue" pitchFamily="34" charset="0"/>
                <a:ea typeface="Helvetica Neue" pitchFamily="34" charset="-122"/>
                <a:cs typeface="Helvetica Neue" pitchFamily="34" charset="-120"/>
              </a:rPr>
              <a:t>Prof. Louise Burke AO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D004B2FC-051E-2159-6849-886EF3B02B1C}"/>
              </a:ext>
            </a:extLst>
          </p:cNvPr>
          <p:cNvSpPr/>
          <p:nvPr/>
        </p:nvSpPr>
        <p:spPr>
          <a:xfrm>
            <a:off x="594360" y="3154680"/>
            <a:ext cx="3657600" cy="1325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8D1DD"/>
                </a:solidFill>
                <a:effectLst/>
                <a:uLnTx/>
                <a:uFillTx/>
                <a:latin typeface="Calibri" pitchFamily="34" charset="0"/>
                <a:ea typeface="Calibri" pitchFamily="34" charset="-122"/>
                <a:cs typeface="Calibri" pitchFamily="34" charset="-120"/>
              </a:rPr>
              <a:t>Former Head of Sports Nutrition, Australian Institute of Sport. Chief dietitian for five Australian Olympic teams. Author of the foundational textbook in the field. ~600 peer-reviewed publications.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D4629EBB-CC7C-0851-0F32-A81FE07FDE76}"/>
              </a:ext>
            </a:extLst>
          </p:cNvPr>
          <p:cNvSpPr/>
          <p:nvPr/>
        </p:nvSpPr>
        <p:spPr>
          <a:xfrm>
            <a:off x="4572000" y="1828800"/>
            <a:ext cx="2103120" cy="1188720"/>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48E53408-0F03-45C3-5DA2-4595D6C6F481}"/>
              </a:ext>
            </a:extLst>
          </p:cNvPr>
          <p:cNvSpPr/>
          <p:nvPr/>
        </p:nvSpPr>
        <p:spPr>
          <a:xfrm>
            <a:off x="6766560" y="1828800"/>
            <a:ext cx="2103120" cy="1188720"/>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D3C3F473-352E-23EE-5263-E5E4855B73DC}"/>
              </a:ext>
            </a:extLst>
          </p:cNvPr>
          <p:cNvSpPr/>
          <p:nvPr/>
        </p:nvSpPr>
        <p:spPr>
          <a:xfrm>
            <a:off x="6903720" y="2011680"/>
            <a:ext cx="502920" cy="502920"/>
          </a:xfrm>
          <a:prstGeom prst="ellipse">
            <a:avLst/>
          </a:prstGeom>
          <a:solidFill>
            <a:srgbClr val="1E2733"/>
          </a:solidFill>
          <a:ln w="12700">
            <a:solidFill>
              <a:srgbClr val="67E8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B054297D-4301-3A98-0944-3B7639A6F346}"/>
              </a:ext>
            </a:extLst>
          </p:cNvPr>
          <p:cNvSpPr/>
          <p:nvPr/>
        </p:nvSpPr>
        <p:spPr>
          <a:xfrm>
            <a:off x="6903720" y="20116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67E8F9"/>
                </a:solidFill>
                <a:latin typeface="Helvetica Neue" pitchFamily="34" charset="0"/>
                <a:ea typeface="Helvetica Neue" pitchFamily="34" charset="-122"/>
              </a:rPr>
              <a:t>JAH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27A3D7F9-ED32-C82B-CD67-CF0DD41B0353}"/>
              </a:ext>
            </a:extLst>
          </p:cNvPr>
          <p:cNvSpPr/>
          <p:nvPr/>
        </p:nvSpPr>
        <p:spPr>
          <a:xfrm>
            <a:off x="4572000" y="3154680"/>
            <a:ext cx="2103120" cy="1188720"/>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F98E3FF2-3A45-5934-C6DA-D452C42EAC54}"/>
              </a:ext>
            </a:extLst>
          </p:cNvPr>
          <p:cNvSpPr/>
          <p:nvPr/>
        </p:nvSpPr>
        <p:spPr>
          <a:xfrm>
            <a:off x="4709160" y="3337560"/>
            <a:ext cx="502920" cy="502920"/>
          </a:xfrm>
          <a:prstGeom prst="ellipse">
            <a:avLst/>
          </a:prstGeom>
          <a:solidFill>
            <a:srgbClr val="1E2733"/>
          </a:solidFill>
          <a:ln w="12700">
            <a:solidFill>
              <a:srgbClr val="67E8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a:extLst>
              <a:ext uri="{FF2B5EF4-FFF2-40B4-BE49-F238E27FC236}">
                <a16:creationId xmlns:a16="http://schemas.microsoft.com/office/drawing/2014/main" id="{B40DB2C2-ADD7-1987-5CC3-9ECBC1D9CAC2}"/>
              </a:ext>
            </a:extLst>
          </p:cNvPr>
          <p:cNvSpPr/>
          <p:nvPr/>
        </p:nvSpPr>
        <p:spPr>
          <a:xfrm>
            <a:off x="4709160" y="33375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218444AD-5914-B533-6EF2-3202BC29F3ED}"/>
              </a:ext>
            </a:extLst>
          </p:cNvPr>
          <p:cNvSpPr/>
          <p:nvPr/>
        </p:nvSpPr>
        <p:spPr>
          <a:xfrm>
            <a:off x="6766560" y="3154680"/>
            <a:ext cx="2103120" cy="1188720"/>
          </a:xfrm>
          <a:prstGeom prst="rect">
            <a:avLst/>
          </a:prstGeom>
          <a:solidFill>
            <a:srgbClr val="161D27"/>
          </a:solidFill>
          <a:ln w="9525">
            <a:solidFill>
              <a:srgbClr val="2A34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F62EDC8D-71B6-A73C-A8D7-B87B0CF2F71C}"/>
              </a:ext>
            </a:extLst>
          </p:cNvPr>
          <p:cNvSpPr/>
          <p:nvPr/>
        </p:nvSpPr>
        <p:spPr>
          <a:xfrm>
            <a:off x="6903720" y="3337560"/>
            <a:ext cx="502920" cy="502920"/>
          </a:xfrm>
          <a:prstGeom prst="ellipse">
            <a:avLst/>
          </a:prstGeom>
          <a:solidFill>
            <a:srgbClr val="1E2733"/>
          </a:solidFill>
          <a:ln w="12700">
            <a:solidFill>
              <a:srgbClr val="67E8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84A42C11-2CEB-CB81-2211-046E08F068A6}"/>
              </a:ext>
            </a:extLst>
          </p:cNvPr>
          <p:cNvSpPr/>
          <p:nvPr/>
        </p:nvSpPr>
        <p:spPr>
          <a:xfrm>
            <a:off x="6903720" y="333756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a:extLst>
              <a:ext uri="{FF2B5EF4-FFF2-40B4-BE49-F238E27FC236}">
                <a16:creationId xmlns:a16="http://schemas.microsoft.com/office/drawing/2014/main" id="{28DDD438-25AC-A2B6-6DC2-C7132A26CDA9}"/>
              </a:ext>
            </a:extLst>
          </p:cNvPr>
          <p:cNvSpPr/>
          <p:nvPr/>
        </p:nvSpPr>
        <p:spPr>
          <a:xfrm>
            <a:off x="8503920" y="4846320"/>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675"/>
                </a:solidFill>
                <a:effectLst/>
                <a:uLnTx/>
                <a:uFillTx/>
                <a:latin typeface="Helvetica Neue" pitchFamily="34" charset="0"/>
                <a:ea typeface="Helvetica Neue" pitchFamily="34" charset="-122"/>
                <a:cs typeface="Helvetica Neue"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2">
            <a:extLst>
              <a:ext uri="{FF2B5EF4-FFF2-40B4-BE49-F238E27FC236}">
                <a16:creationId xmlns:a16="http://schemas.microsoft.com/office/drawing/2014/main" id="{A5A75EE3-9DB6-C3EC-3F49-FB09D428F1AB}"/>
              </a:ext>
            </a:extLst>
          </p:cNvPr>
          <p:cNvSpPr/>
          <p:nvPr/>
        </p:nvSpPr>
        <p:spPr>
          <a:xfrm>
            <a:off x="4737100" y="2015490"/>
            <a:ext cx="502920" cy="502920"/>
          </a:xfrm>
          <a:prstGeom prst="ellipse">
            <a:avLst/>
          </a:prstGeom>
          <a:solidFill>
            <a:srgbClr val="1E2733"/>
          </a:solidFill>
          <a:ln w="12700">
            <a:solidFill>
              <a:srgbClr val="67E8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CD7338FC-E7BE-82FD-C129-5E7D8D133135}"/>
              </a:ext>
            </a:extLst>
          </p:cNvPr>
          <p:cNvSpPr/>
          <p:nvPr/>
        </p:nvSpPr>
        <p:spPr>
          <a:xfrm>
            <a:off x="4709160" y="20116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7E8F9"/>
                </a:solidFill>
                <a:effectLst/>
                <a:uLnTx/>
                <a:uFillTx/>
                <a:latin typeface="Helvetica Neue" pitchFamily="34" charset="0"/>
                <a:ea typeface="Helvetica Neue" pitchFamily="34" charset="-122"/>
                <a:cs typeface="+mn-cs"/>
              </a:rPr>
              <a:t>DM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624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5DFEE2-2F7F-FD6F-92BC-4647BBCB197E}"/>
              </a:ext>
            </a:extLst>
          </p:cNvPr>
          <p:cNvSpPr txBox="1"/>
          <p:nvPr/>
        </p:nvSpPr>
        <p:spPr>
          <a:xfrm>
            <a:off x="3112851" y="1686127"/>
            <a:ext cx="2088457" cy="369332"/>
          </a:xfrm>
          <a:prstGeom prst="rect">
            <a:avLst/>
          </a:prstGeom>
          <a:noFill/>
        </p:spPr>
        <p:txBody>
          <a:bodyPr wrap="none" rtlCol="0">
            <a:spAutoFit/>
          </a:bodyPr>
          <a:lstStyle/>
          <a:p>
            <a:r>
              <a:rPr lang="en-AU" dirty="0"/>
              <a:t>Persy – delayed race</a:t>
            </a:r>
          </a:p>
        </p:txBody>
      </p:sp>
      <p:sp>
        <p:nvSpPr>
          <p:cNvPr id="4" name="TextBox 3">
            <a:extLst>
              <a:ext uri="{FF2B5EF4-FFF2-40B4-BE49-F238E27FC236}">
                <a16:creationId xmlns:a16="http://schemas.microsoft.com/office/drawing/2014/main" id="{8C5CCA33-FDF8-5F01-8ADA-DE4AD877CBDE}"/>
              </a:ext>
            </a:extLst>
          </p:cNvPr>
          <p:cNvSpPr txBox="1"/>
          <p:nvPr/>
        </p:nvSpPr>
        <p:spPr>
          <a:xfrm>
            <a:off x="3112851" y="2279514"/>
            <a:ext cx="3010311" cy="923330"/>
          </a:xfrm>
          <a:prstGeom prst="rect">
            <a:avLst/>
          </a:prstGeom>
          <a:noFill/>
        </p:spPr>
        <p:txBody>
          <a:bodyPr wrap="none" rtlCol="0">
            <a:spAutoFit/>
          </a:bodyPr>
          <a:lstStyle/>
          <a:p>
            <a:r>
              <a:rPr lang="en-AU" dirty="0"/>
              <a:t>Demonstrates interaction plus</a:t>
            </a:r>
          </a:p>
          <a:p>
            <a:r>
              <a:rPr lang="en-AU" dirty="0"/>
              <a:t>ChatGPT inferiority</a:t>
            </a:r>
          </a:p>
          <a:p>
            <a:endParaRPr lang="en-AU" dirty="0"/>
          </a:p>
        </p:txBody>
      </p:sp>
      <p:sp>
        <p:nvSpPr>
          <p:cNvPr id="5" name="TextBox 4">
            <a:extLst>
              <a:ext uri="{FF2B5EF4-FFF2-40B4-BE49-F238E27FC236}">
                <a16:creationId xmlns:a16="http://schemas.microsoft.com/office/drawing/2014/main" id="{D2E56E81-C4B3-F34A-450C-75A571CB9457}"/>
              </a:ext>
            </a:extLst>
          </p:cNvPr>
          <p:cNvSpPr txBox="1"/>
          <p:nvPr/>
        </p:nvSpPr>
        <p:spPr>
          <a:xfrm>
            <a:off x="2286000" y="2386678"/>
            <a:ext cx="4572000" cy="369332"/>
          </a:xfrm>
          <a:prstGeom prst="rect">
            <a:avLst/>
          </a:prstGeom>
          <a:noFill/>
        </p:spPr>
        <p:txBody>
          <a:bodyPr wrap="square">
            <a:spAutoFit/>
          </a:bodyPr>
          <a:lstStyle/>
          <a:p>
            <a:r>
              <a:rPr lang="en-US" sz="1800" b="1" dirty="0">
                <a:solidFill>
                  <a:srgbClr val="F4F7FB"/>
                </a:solidFill>
                <a:latin typeface="Helvetica Neue" pitchFamily="34" charset="0"/>
                <a:ea typeface="Helvetica Neue" pitchFamily="34" charset="-122"/>
                <a:cs typeface="Helvetica Neue" pitchFamily="34" charset="-120"/>
              </a:rPr>
              <a:t>Watch it improve.</a:t>
            </a:r>
            <a:endParaRPr lang="en-AU" dirty="0"/>
          </a:p>
        </p:txBody>
      </p:sp>
    </p:spTree>
    <p:extLst>
      <p:ext uri="{BB962C8B-B14F-4D97-AF65-F5344CB8AC3E}">
        <p14:creationId xmlns:p14="http://schemas.microsoft.com/office/powerpoint/2010/main" val="1961257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30C72-3B85-2139-8FEA-DE12317B3B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BB3EBA-A1A2-2253-F08B-31E7D2D69A76}"/>
              </a:ext>
            </a:extLst>
          </p:cNvPr>
          <p:cNvSpPr txBox="1"/>
          <p:nvPr/>
        </p:nvSpPr>
        <p:spPr>
          <a:xfrm>
            <a:off x="2094689" y="1900136"/>
            <a:ext cx="5382307" cy="646331"/>
          </a:xfrm>
          <a:prstGeom prst="rect">
            <a:avLst/>
          </a:prstGeom>
          <a:noFill/>
        </p:spPr>
        <p:txBody>
          <a:bodyPr wrap="none" rtlCol="0">
            <a:spAutoFit/>
          </a:bodyPr>
          <a:lstStyle/>
          <a:p>
            <a:r>
              <a:rPr lang="en-AU" dirty="0"/>
              <a:t>Mia – background + example of interactive feedback vs </a:t>
            </a:r>
          </a:p>
          <a:p>
            <a:r>
              <a:rPr lang="en-AU" dirty="0"/>
              <a:t>Information dump</a:t>
            </a:r>
          </a:p>
        </p:txBody>
      </p:sp>
    </p:spTree>
    <p:extLst>
      <p:ext uri="{BB962C8B-B14F-4D97-AF65-F5344CB8AC3E}">
        <p14:creationId xmlns:p14="http://schemas.microsoft.com/office/powerpoint/2010/main" val="3621659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315E3-E399-F821-09F8-72584C4EA0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9C1FDB-C314-4E4F-EA1A-82B495DD80C0}"/>
              </a:ext>
            </a:extLst>
          </p:cNvPr>
          <p:cNvSpPr txBox="1"/>
          <p:nvPr/>
        </p:nvSpPr>
        <p:spPr>
          <a:xfrm>
            <a:off x="2094689" y="1900136"/>
            <a:ext cx="1736373" cy="923330"/>
          </a:xfrm>
          <a:prstGeom prst="rect">
            <a:avLst/>
          </a:prstGeom>
          <a:noFill/>
        </p:spPr>
        <p:txBody>
          <a:bodyPr wrap="none" rtlCol="0">
            <a:spAutoFit/>
          </a:bodyPr>
          <a:lstStyle/>
          <a:p>
            <a:r>
              <a:rPr lang="en-AU" dirty="0"/>
              <a:t>Matt – triathlete</a:t>
            </a:r>
          </a:p>
          <a:p>
            <a:endParaRPr lang="en-AU" dirty="0"/>
          </a:p>
          <a:p>
            <a:r>
              <a:rPr lang="en-AU" dirty="0"/>
              <a:t>N = 1 options</a:t>
            </a:r>
          </a:p>
        </p:txBody>
      </p:sp>
    </p:spTree>
    <p:extLst>
      <p:ext uri="{BB962C8B-B14F-4D97-AF65-F5344CB8AC3E}">
        <p14:creationId xmlns:p14="http://schemas.microsoft.com/office/powerpoint/2010/main" val="4218294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C26B5-58F4-73F7-D4B5-2EC7082A3C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00A659-B874-35A8-0783-5CA3D918A3A7}"/>
              </a:ext>
            </a:extLst>
          </p:cNvPr>
          <p:cNvSpPr txBox="1"/>
          <p:nvPr/>
        </p:nvSpPr>
        <p:spPr>
          <a:xfrm>
            <a:off x="1413753" y="1926076"/>
            <a:ext cx="6224396" cy="2308324"/>
          </a:xfrm>
          <a:prstGeom prst="rect">
            <a:avLst/>
          </a:prstGeom>
          <a:noFill/>
        </p:spPr>
        <p:txBody>
          <a:bodyPr wrap="none" rtlCol="0">
            <a:spAutoFit/>
          </a:bodyPr>
          <a:lstStyle/>
          <a:p>
            <a:r>
              <a:rPr lang="en-AU" dirty="0"/>
              <a:t>Persy – offer the wisdom of the crowd in the aftermath</a:t>
            </a:r>
          </a:p>
          <a:p>
            <a:endParaRPr lang="en-AU" dirty="0"/>
          </a:p>
          <a:p>
            <a:pPr marL="285750" indent="-285750">
              <a:buFontTx/>
              <a:buChar char="-"/>
            </a:pPr>
            <a:r>
              <a:rPr lang="en-AU" dirty="0"/>
              <a:t>Offer options of speaking to an expert/AI version of an expert</a:t>
            </a:r>
          </a:p>
          <a:p>
            <a:pPr marL="285750" indent="-285750">
              <a:buFontTx/>
              <a:buChar char="-"/>
            </a:pPr>
            <a:r>
              <a:rPr lang="en-AU" dirty="0"/>
              <a:t>Offer options of speaking with a crowd (delayed answers)</a:t>
            </a:r>
          </a:p>
          <a:p>
            <a:pPr marL="285750" indent="-285750">
              <a:buFontTx/>
              <a:buChar char="-"/>
            </a:pPr>
            <a:endParaRPr lang="en-AU" dirty="0"/>
          </a:p>
          <a:p>
            <a:pPr marL="285750" indent="-285750">
              <a:buFontTx/>
              <a:buChar char="-"/>
            </a:pPr>
            <a:endParaRPr lang="en-AU" dirty="0"/>
          </a:p>
          <a:p>
            <a:r>
              <a:rPr lang="en-AU" dirty="0"/>
              <a:t>Compare with Claude who says he doesn’t do Crowd</a:t>
            </a:r>
          </a:p>
          <a:p>
            <a:pPr marL="285750" indent="-285750">
              <a:buFontTx/>
              <a:buChar char="-"/>
            </a:pPr>
            <a:endParaRPr lang="en-AU" dirty="0"/>
          </a:p>
        </p:txBody>
      </p:sp>
    </p:spTree>
    <p:extLst>
      <p:ext uri="{BB962C8B-B14F-4D97-AF65-F5344CB8AC3E}">
        <p14:creationId xmlns:p14="http://schemas.microsoft.com/office/powerpoint/2010/main" val="3393299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365760"/>
            <a:ext cx="1819656"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365760"/>
            <a:ext cx="1819656" cy="274320"/>
          </a:xfrm>
          <a:prstGeom prst="rect">
            <a:avLst/>
          </a:prstGeom>
          <a:noFill/>
          <a:ln/>
        </p:spPr>
        <p:txBody>
          <a:bodyPr wrap="square" lIns="0" tIns="0" rIns="0" bIns="0" rtlCol="0" anchor="ctr"/>
          <a:lstStyle/>
          <a:p>
            <a:pPr marL="0" indent="0" algn="ctr">
              <a:buNone/>
            </a:pPr>
            <a:r>
              <a:rPr lang="en-US" sz="900" b="1" kern="0" spc="600" dirty="0">
                <a:solidFill>
                  <a:srgbClr val="67E8F9"/>
                </a:solidFill>
                <a:latin typeface="Helvetica Neue" pitchFamily="34" charset="0"/>
                <a:ea typeface="Helvetica Neue" pitchFamily="34" charset="-122"/>
                <a:cs typeface="Helvetica Neue" pitchFamily="34" charset="-120"/>
              </a:rPr>
              <a:t>DEMO · 1 OF 4</a:t>
            </a:r>
            <a:endParaRPr lang="en-US" sz="900" dirty="0"/>
          </a:p>
        </p:txBody>
      </p:sp>
      <p:sp>
        <p:nvSpPr>
          <p:cNvPr id="4" name="Text 2"/>
          <p:cNvSpPr/>
          <p:nvPr/>
        </p:nvSpPr>
        <p:spPr>
          <a:xfrm>
            <a:off x="411480" y="777240"/>
            <a:ext cx="8229600" cy="502920"/>
          </a:xfrm>
          <a:prstGeom prst="rect">
            <a:avLst/>
          </a:prstGeom>
          <a:noFill/>
          <a:ln/>
        </p:spPr>
        <p:txBody>
          <a:bodyPr wrap="square" lIns="0" tIns="0" rIns="0" bIns="0" rtlCol="0" anchor="ctr"/>
          <a:lstStyle/>
          <a:p>
            <a:pPr marL="0" indent="0">
              <a:buNone/>
            </a:pPr>
            <a:r>
              <a:rPr lang="en-US" sz="2200" b="1" dirty="0">
                <a:solidFill>
                  <a:srgbClr val="F4F7FB"/>
                </a:solidFill>
                <a:latin typeface="Helvetica Neue" pitchFamily="34" charset="0"/>
                <a:ea typeface="Helvetica Neue" pitchFamily="34" charset="-122"/>
                <a:cs typeface="Helvetica Neue" pitchFamily="34" charset="-120"/>
              </a:rPr>
              <a:t>The athlete dashboard</a:t>
            </a:r>
            <a:endParaRPr lang="en-US" sz="2200" dirty="0"/>
          </a:p>
        </p:txBody>
      </p:sp>
      <p:sp>
        <p:nvSpPr>
          <p:cNvPr id="5" name="Text 3"/>
          <p:cNvSpPr/>
          <p:nvPr/>
        </p:nvSpPr>
        <p:spPr>
          <a:xfrm>
            <a:off x="411480" y="1234440"/>
            <a:ext cx="8229600" cy="365760"/>
          </a:xfrm>
          <a:prstGeom prst="rect">
            <a:avLst/>
          </a:prstGeom>
          <a:noFill/>
          <a:ln/>
        </p:spPr>
        <p:txBody>
          <a:bodyPr wrap="square" lIns="0" tIns="0" rIns="0" bIns="0" rtlCol="0" anchor="ctr"/>
          <a:lstStyle/>
          <a:p>
            <a:pPr marL="0" indent="0">
              <a:buNone/>
            </a:pPr>
            <a:r>
              <a:rPr lang="en-US" sz="1200" dirty="0">
                <a:solidFill>
                  <a:srgbClr val="8B96A6"/>
                </a:solidFill>
                <a:latin typeface="Calibri" pitchFamily="34" charset="0"/>
                <a:ea typeface="Calibri" pitchFamily="34" charset="-122"/>
                <a:cs typeface="Calibri" pitchFamily="34" charset="-120"/>
              </a:rPr>
              <a:t>Sarah, 52, is preparing for a marathon in the heat. George has already recommended her caffeine protocol. Now she’s 18 days into her personalised N-of-1 trial — everything lives on one screen.</a:t>
            </a:r>
            <a:endParaRPr lang="en-US" sz="1200" dirty="0"/>
          </a:p>
        </p:txBody>
      </p:sp>
      <p:sp>
        <p:nvSpPr>
          <p:cNvPr id="6" name="Shape 4"/>
          <p:cNvSpPr/>
          <p:nvPr/>
        </p:nvSpPr>
        <p:spPr>
          <a:xfrm>
            <a:off x="3712464" y="1783080"/>
            <a:ext cx="5349240" cy="2834640"/>
          </a:xfrm>
          <a:prstGeom prst="rect">
            <a:avLst/>
          </a:prstGeom>
          <a:solidFill>
            <a:srgbClr val="000000">
              <a:alpha val="40000"/>
            </a:srgbClr>
          </a:solidFill>
          <a:ln w="12700">
            <a:solidFill>
              <a:srgbClr val="000000">
                <a:alpha val="0"/>
              </a:srgbClr>
            </a:solidFill>
            <a:prstDash val="solid"/>
          </a:ln>
        </p:spPr>
        <p:txBody>
          <a:bodyPr/>
          <a:lstStyle/>
          <a:p>
            <a:endParaRPr lang="en-US"/>
          </a:p>
        </p:txBody>
      </p:sp>
      <p:pic>
        <p:nvPicPr>
          <p:cNvPr id="7" name="Image 0" descr="/sessions/brave-admiring-clarke/mnt/outputs/screen-dashboard.png"/>
          <p:cNvPicPr>
            <a:picLocks noChangeAspect="1"/>
          </p:cNvPicPr>
          <p:nvPr/>
        </p:nvPicPr>
        <p:blipFill>
          <a:blip r:embed="rId3"/>
          <a:srcRect/>
          <a:stretch/>
        </p:blipFill>
        <p:spPr>
          <a:xfrm>
            <a:off x="3657600" y="1691640"/>
            <a:ext cx="5349240" cy="2834640"/>
          </a:xfrm>
          <a:prstGeom prst="rect">
            <a:avLst/>
          </a:prstGeom>
        </p:spPr>
      </p:pic>
      <p:sp>
        <p:nvSpPr>
          <p:cNvPr id="8" name="Shape 5"/>
          <p:cNvSpPr/>
          <p:nvPr/>
        </p:nvSpPr>
        <p:spPr>
          <a:xfrm>
            <a:off x="3657600" y="1691640"/>
            <a:ext cx="5349240" cy="27432"/>
          </a:xfrm>
          <a:prstGeom prst="rect">
            <a:avLst/>
          </a:prstGeom>
          <a:solidFill>
            <a:srgbClr val="B6F569"/>
          </a:solidFill>
          <a:ln w="12700">
            <a:solidFill>
              <a:srgbClr val="B6F569"/>
            </a:solidFill>
            <a:prstDash val="solid"/>
          </a:ln>
        </p:spPr>
        <p:txBody>
          <a:bodyPr/>
          <a:lstStyle/>
          <a:p>
            <a:endParaRPr lang="en-US"/>
          </a:p>
        </p:txBody>
      </p:sp>
      <p:sp>
        <p:nvSpPr>
          <p:cNvPr id="9" name="Text 6"/>
          <p:cNvSpPr/>
          <p:nvPr/>
        </p:nvSpPr>
        <p:spPr>
          <a:xfrm>
            <a:off x="411480" y="178308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Apps she already uses</a:t>
            </a:r>
            <a:endParaRPr lang="en-US" sz="1250" dirty="0"/>
          </a:p>
        </p:txBody>
      </p:sp>
      <p:sp>
        <p:nvSpPr>
          <p:cNvPr id="10" name="Text 7"/>
          <p:cNvSpPr/>
          <p:nvPr/>
        </p:nvSpPr>
        <p:spPr>
          <a:xfrm>
            <a:off x="411480" y="205740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Garmin, Strava, Zwift, Whoop pre-connected. No new device, no extra workouts.</a:t>
            </a:r>
            <a:endParaRPr lang="en-US" sz="1050" dirty="0"/>
          </a:p>
        </p:txBody>
      </p:sp>
      <p:sp>
        <p:nvSpPr>
          <p:cNvPr id="11" name="Text 8"/>
          <p:cNvSpPr/>
          <p:nvPr/>
        </p:nvSpPr>
        <p:spPr>
          <a:xfrm>
            <a:off x="411480" y="265176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A trial in flight</a:t>
            </a:r>
            <a:endParaRPr lang="en-US" sz="1250" dirty="0"/>
          </a:p>
        </p:txBody>
      </p:sp>
      <p:sp>
        <p:nvSpPr>
          <p:cNvPr id="12" name="Text 9"/>
          <p:cNvSpPr/>
          <p:nvPr/>
        </p:nvSpPr>
        <p:spPr>
          <a:xfrm>
            <a:off x="411480" y="292608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Double-blind crossover, 3 bicarb / 3 placebo sessions, hydrogel capsules to keep blinding intact.</a:t>
            </a:r>
            <a:endParaRPr lang="en-US" sz="1050" dirty="0"/>
          </a:p>
        </p:txBody>
      </p:sp>
      <p:sp>
        <p:nvSpPr>
          <p:cNvPr id="13" name="Text 10"/>
          <p:cNvSpPr/>
          <p:nvPr/>
        </p:nvSpPr>
        <p:spPr>
          <a:xfrm>
            <a:off x="411480" y="352044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George in the loop</a:t>
            </a:r>
            <a:endParaRPr lang="en-US" sz="1250" dirty="0"/>
          </a:p>
        </p:txBody>
      </p:sp>
      <p:sp>
        <p:nvSpPr>
          <p:cNvPr id="14" name="Text 11"/>
          <p:cNvSpPr/>
          <p:nvPr/>
        </p:nvSpPr>
        <p:spPr>
          <a:xfrm>
            <a:off x="411480" y="379476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George monitors Sarah’s interactions and trial data, refining her supplement recommendations as her race approaches and conditions change.</a:t>
            </a:r>
            <a:endParaRPr lang="en-US" sz="1050" dirty="0"/>
          </a:p>
        </p:txBody>
      </p:sp>
      <p:sp>
        <p:nvSpPr>
          <p:cNvPr id="15" name="Text 12"/>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16" name="Text 13"/>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365760"/>
            <a:ext cx="1819656"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365760"/>
            <a:ext cx="1819656" cy="274320"/>
          </a:xfrm>
          <a:prstGeom prst="rect">
            <a:avLst/>
          </a:prstGeom>
          <a:noFill/>
          <a:ln/>
        </p:spPr>
        <p:txBody>
          <a:bodyPr wrap="square" lIns="0" tIns="0" rIns="0" bIns="0" rtlCol="0" anchor="ctr"/>
          <a:lstStyle/>
          <a:p>
            <a:pPr marL="0" indent="0" algn="ctr">
              <a:buNone/>
            </a:pPr>
            <a:r>
              <a:rPr lang="en-US" sz="900" b="1" kern="0" spc="600" dirty="0">
                <a:solidFill>
                  <a:srgbClr val="67E8F9"/>
                </a:solidFill>
                <a:latin typeface="Helvetica Neue" pitchFamily="34" charset="0"/>
                <a:ea typeface="Helvetica Neue" pitchFamily="34" charset="-122"/>
                <a:cs typeface="Helvetica Neue" pitchFamily="34" charset="-120"/>
              </a:rPr>
              <a:t>DEMO · 2 OF 4</a:t>
            </a:r>
            <a:endParaRPr lang="en-US" sz="900" dirty="0"/>
          </a:p>
        </p:txBody>
      </p:sp>
      <p:sp>
        <p:nvSpPr>
          <p:cNvPr id="4" name="Text 2"/>
          <p:cNvSpPr/>
          <p:nvPr/>
        </p:nvSpPr>
        <p:spPr>
          <a:xfrm>
            <a:off x="411480" y="777240"/>
            <a:ext cx="8229600" cy="502920"/>
          </a:xfrm>
          <a:prstGeom prst="rect">
            <a:avLst/>
          </a:prstGeom>
          <a:noFill/>
          <a:ln/>
        </p:spPr>
        <p:txBody>
          <a:bodyPr wrap="square" lIns="0" tIns="0" rIns="0" bIns="0" rtlCol="0" anchor="ctr"/>
          <a:lstStyle/>
          <a:p>
            <a:pPr marL="0" indent="0">
              <a:buNone/>
            </a:pPr>
            <a:r>
              <a:rPr lang="en-US" sz="2200" b="1" dirty="0">
                <a:solidFill>
                  <a:srgbClr val="F4F7FB"/>
                </a:solidFill>
                <a:latin typeface="Helvetica Neue" pitchFamily="34" charset="0"/>
                <a:ea typeface="Helvetica Neue" pitchFamily="34" charset="-122"/>
                <a:cs typeface="Helvetica Neue" pitchFamily="34" charset="-120"/>
              </a:rPr>
              <a:t>Test day — the rigor moment</a:t>
            </a:r>
            <a:endParaRPr lang="en-US" sz="2200" dirty="0"/>
          </a:p>
        </p:txBody>
      </p:sp>
      <p:sp>
        <p:nvSpPr>
          <p:cNvPr id="5" name="Text 3"/>
          <p:cNvSpPr/>
          <p:nvPr/>
        </p:nvSpPr>
        <p:spPr>
          <a:xfrm>
            <a:off x="411480" y="1234440"/>
            <a:ext cx="8229600" cy="365760"/>
          </a:xfrm>
          <a:prstGeom prst="rect">
            <a:avLst/>
          </a:prstGeom>
          <a:noFill/>
          <a:ln/>
        </p:spPr>
        <p:txBody>
          <a:bodyPr wrap="square" lIns="0" tIns="0" rIns="0" bIns="0" rtlCol="0" anchor="ctr"/>
          <a:lstStyle/>
          <a:p>
            <a:pPr marL="0" indent="0">
              <a:buNone/>
            </a:pPr>
            <a:r>
              <a:rPr lang="en-US" sz="1200" dirty="0">
                <a:solidFill>
                  <a:srgbClr val="8B96A6"/>
                </a:solidFill>
                <a:latin typeface="Calibri" pitchFamily="34" charset="0"/>
                <a:ea typeface="Calibri" pitchFamily="34" charset="-122"/>
                <a:cs typeface="Calibri" pitchFamily="34" charset="-120"/>
              </a:rPr>
              <a:t>Capsule code, ingestion timestamp, conditions match, device sync — all locked before she pushes a watt.</a:t>
            </a:r>
            <a:endParaRPr lang="en-US" sz="1200" dirty="0"/>
          </a:p>
        </p:txBody>
      </p:sp>
      <p:sp>
        <p:nvSpPr>
          <p:cNvPr id="6" name="Shape 4"/>
          <p:cNvSpPr/>
          <p:nvPr/>
        </p:nvSpPr>
        <p:spPr>
          <a:xfrm>
            <a:off x="3712464" y="1783080"/>
            <a:ext cx="5349240" cy="2834640"/>
          </a:xfrm>
          <a:prstGeom prst="rect">
            <a:avLst/>
          </a:prstGeom>
          <a:solidFill>
            <a:srgbClr val="000000">
              <a:alpha val="40000"/>
            </a:srgbClr>
          </a:solidFill>
          <a:ln w="12700">
            <a:solidFill>
              <a:srgbClr val="000000">
                <a:alpha val="0"/>
              </a:srgbClr>
            </a:solidFill>
            <a:prstDash val="solid"/>
          </a:ln>
        </p:spPr>
        <p:txBody>
          <a:bodyPr/>
          <a:lstStyle/>
          <a:p>
            <a:endParaRPr lang="en-US"/>
          </a:p>
        </p:txBody>
      </p:sp>
      <p:pic>
        <p:nvPicPr>
          <p:cNvPr id="7" name="Image 0" descr="/sessions/brave-admiring-clarke/mnt/outputs/screen-testday.png"/>
          <p:cNvPicPr>
            <a:picLocks noChangeAspect="1"/>
          </p:cNvPicPr>
          <p:nvPr/>
        </p:nvPicPr>
        <p:blipFill>
          <a:blip r:embed="rId3"/>
          <a:srcRect/>
          <a:stretch/>
        </p:blipFill>
        <p:spPr>
          <a:xfrm>
            <a:off x="3657600" y="1691640"/>
            <a:ext cx="5349240" cy="2834640"/>
          </a:xfrm>
          <a:prstGeom prst="rect">
            <a:avLst/>
          </a:prstGeom>
        </p:spPr>
      </p:pic>
      <p:sp>
        <p:nvSpPr>
          <p:cNvPr id="8" name="Shape 5"/>
          <p:cNvSpPr/>
          <p:nvPr/>
        </p:nvSpPr>
        <p:spPr>
          <a:xfrm>
            <a:off x="3657600" y="1691640"/>
            <a:ext cx="5349240" cy="27432"/>
          </a:xfrm>
          <a:prstGeom prst="rect">
            <a:avLst/>
          </a:prstGeom>
          <a:solidFill>
            <a:srgbClr val="B6F569"/>
          </a:solidFill>
          <a:ln w="12700">
            <a:solidFill>
              <a:srgbClr val="B6F569"/>
            </a:solidFill>
            <a:prstDash val="solid"/>
          </a:ln>
        </p:spPr>
        <p:txBody>
          <a:bodyPr/>
          <a:lstStyle/>
          <a:p>
            <a:endParaRPr lang="en-US"/>
          </a:p>
        </p:txBody>
      </p:sp>
      <p:sp>
        <p:nvSpPr>
          <p:cNvPr id="9" name="Text 6"/>
          <p:cNvSpPr/>
          <p:nvPr/>
        </p:nvSpPr>
        <p:spPr>
          <a:xfrm>
            <a:off x="411480" y="178308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Standardized every time</a:t>
            </a:r>
            <a:endParaRPr lang="en-US" sz="1250" dirty="0"/>
          </a:p>
        </p:txBody>
      </p:sp>
      <p:sp>
        <p:nvSpPr>
          <p:cNvPr id="10" name="Text 7"/>
          <p:cNvSpPr/>
          <p:nvPr/>
        </p:nvSpPr>
        <p:spPr>
          <a:xfrm>
            <a:off x="411480" y="205740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Same pre-effort meal, same warm-up, same Zwift workout file. Blinding holds.</a:t>
            </a:r>
            <a:endParaRPr lang="en-US" sz="1050" dirty="0"/>
          </a:p>
        </p:txBody>
      </p:sp>
      <p:sp>
        <p:nvSpPr>
          <p:cNvPr id="11" name="Text 8"/>
          <p:cNvSpPr/>
          <p:nvPr/>
        </p:nvSpPr>
        <p:spPr>
          <a:xfrm>
            <a:off x="411480" y="265176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Live device telemetry</a:t>
            </a:r>
            <a:endParaRPr lang="en-US" sz="1250" dirty="0"/>
          </a:p>
        </p:txBody>
      </p:sp>
      <p:sp>
        <p:nvSpPr>
          <p:cNvPr id="12" name="Text 9"/>
          <p:cNvSpPr/>
          <p:nvPr/>
        </p:nvSpPr>
        <p:spPr>
          <a:xfrm>
            <a:off x="411480" y="292608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Power and HR stream from her Edge to her record. Activity auto-tags as Session 4.</a:t>
            </a:r>
            <a:endParaRPr lang="en-US" sz="1050" dirty="0"/>
          </a:p>
        </p:txBody>
      </p:sp>
      <p:sp>
        <p:nvSpPr>
          <p:cNvPr id="13" name="Text 10"/>
          <p:cNvSpPr/>
          <p:nvPr/>
        </p:nvSpPr>
        <p:spPr>
          <a:xfrm>
            <a:off x="411480" y="352044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Honest about the hard part</a:t>
            </a:r>
            <a:endParaRPr lang="en-US" sz="1250" dirty="0"/>
          </a:p>
        </p:txBody>
      </p:sp>
      <p:sp>
        <p:nvSpPr>
          <p:cNvPr id="14" name="Text 11"/>
          <p:cNvSpPr/>
          <p:nvPr/>
        </p:nvSpPr>
        <p:spPr>
          <a:xfrm>
            <a:off x="411480" y="379476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GI symptom score logged every time. Tells us if blinding is broken — and protects her data.</a:t>
            </a:r>
            <a:endParaRPr lang="en-US" sz="1050" dirty="0"/>
          </a:p>
        </p:txBody>
      </p:sp>
      <p:sp>
        <p:nvSpPr>
          <p:cNvPr id="15" name="Text 12"/>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16" name="Text 13"/>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365760"/>
            <a:ext cx="1819656"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365760"/>
            <a:ext cx="1819656" cy="274320"/>
          </a:xfrm>
          <a:prstGeom prst="rect">
            <a:avLst/>
          </a:prstGeom>
          <a:noFill/>
          <a:ln/>
        </p:spPr>
        <p:txBody>
          <a:bodyPr wrap="square" lIns="0" tIns="0" rIns="0" bIns="0" rtlCol="0" anchor="ctr"/>
          <a:lstStyle/>
          <a:p>
            <a:pPr marL="0" indent="0" algn="ctr">
              <a:buNone/>
            </a:pPr>
            <a:r>
              <a:rPr lang="en-US" sz="900" b="1" kern="0" spc="600" dirty="0">
                <a:solidFill>
                  <a:srgbClr val="67E8F9"/>
                </a:solidFill>
                <a:latin typeface="Helvetica Neue" pitchFamily="34" charset="0"/>
                <a:ea typeface="Helvetica Neue" pitchFamily="34" charset="-122"/>
                <a:cs typeface="Helvetica Neue" pitchFamily="34" charset="-120"/>
              </a:rPr>
              <a:t>DEMO · 3 OF 4</a:t>
            </a:r>
            <a:endParaRPr lang="en-US" sz="900" dirty="0"/>
          </a:p>
        </p:txBody>
      </p:sp>
      <p:sp>
        <p:nvSpPr>
          <p:cNvPr id="4" name="Text 2"/>
          <p:cNvSpPr/>
          <p:nvPr/>
        </p:nvSpPr>
        <p:spPr>
          <a:xfrm>
            <a:off x="411480" y="777240"/>
            <a:ext cx="8229600" cy="502920"/>
          </a:xfrm>
          <a:prstGeom prst="rect">
            <a:avLst/>
          </a:prstGeom>
          <a:noFill/>
          <a:ln/>
        </p:spPr>
        <p:txBody>
          <a:bodyPr wrap="square" lIns="0" tIns="0" rIns="0" bIns="0" rtlCol="0" anchor="ctr"/>
          <a:lstStyle/>
          <a:p>
            <a:pPr marL="0" indent="0">
              <a:buNone/>
            </a:pPr>
            <a:r>
              <a:rPr lang="en-US" sz="2200" b="1" dirty="0">
                <a:solidFill>
                  <a:srgbClr val="F4F7FB"/>
                </a:solidFill>
                <a:latin typeface="Helvetica Neue" pitchFamily="34" charset="0"/>
                <a:ea typeface="Helvetica Neue" pitchFamily="34" charset="-122"/>
                <a:cs typeface="Helvetica Neue" pitchFamily="34" charset="-120"/>
              </a:rPr>
              <a:t>The personal verdict</a:t>
            </a:r>
            <a:endParaRPr lang="en-US" sz="2200" dirty="0"/>
          </a:p>
        </p:txBody>
      </p:sp>
      <p:sp>
        <p:nvSpPr>
          <p:cNvPr id="5" name="Text 3"/>
          <p:cNvSpPr/>
          <p:nvPr/>
        </p:nvSpPr>
        <p:spPr>
          <a:xfrm>
            <a:off x="411480" y="1234440"/>
            <a:ext cx="8229600" cy="365760"/>
          </a:xfrm>
          <a:prstGeom prst="rect">
            <a:avLst/>
          </a:prstGeom>
          <a:noFill/>
          <a:ln/>
        </p:spPr>
        <p:txBody>
          <a:bodyPr wrap="square" lIns="0" tIns="0" rIns="0" bIns="0" rtlCol="0" anchor="ctr"/>
          <a:lstStyle/>
          <a:p>
            <a:pPr marL="0" indent="0">
              <a:buNone/>
            </a:pPr>
            <a:r>
              <a:rPr lang="en-US" sz="1200" dirty="0">
                <a:solidFill>
                  <a:srgbClr val="8B96A6"/>
                </a:solidFill>
                <a:latin typeface="Calibri" pitchFamily="34" charset="0"/>
                <a:ea typeface="Calibri" pitchFamily="34" charset="-122"/>
                <a:cs typeface="Calibri" pitchFamily="34" charset="-120"/>
              </a:rPr>
              <a:t>After 6 sessions, Sarah doesn't get a meta-analysis. She gets her own answer.</a:t>
            </a:r>
            <a:endParaRPr lang="en-US" sz="1200" dirty="0"/>
          </a:p>
        </p:txBody>
      </p:sp>
      <p:sp>
        <p:nvSpPr>
          <p:cNvPr id="6" name="Shape 4"/>
          <p:cNvSpPr/>
          <p:nvPr/>
        </p:nvSpPr>
        <p:spPr>
          <a:xfrm>
            <a:off x="3712464" y="1783080"/>
            <a:ext cx="5349240" cy="2834640"/>
          </a:xfrm>
          <a:prstGeom prst="rect">
            <a:avLst/>
          </a:prstGeom>
          <a:solidFill>
            <a:srgbClr val="000000">
              <a:alpha val="40000"/>
            </a:srgbClr>
          </a:solidFill>
          <a:ln w="12700">
            <a:solidFill>
              <a:srgbClr val="000000">
                <a:alpha val="0"/>
              </a:srgbClr>
            </a:solidFill>
            <a:prstDash val="solid"/>
          </a:ln>
        </p:spPr>
        <p:txBody>
          <a:bodyPr/>
          <a:lstStyle/>
          <a:p>
            <a:endParaRPr lang="en-US"/>
          </a:p>
        </p:txBody>
      </p:sp>
      <p:pic>
        <p:nvPicPr>
          <p:cNvPr id="7" name="Image 0" descr="/sessions/brave-admiring-clarke/mnt/outputs/screen-results.png"/>
          <p:cNvPicPr>
            <a:picLocks noChangeAspect="1"/>
          </p:cNvPicPr>
          <p:nvPr/>
        </p:nvPicPr>
        <p:blipFill>
          <a:blip r:embed="rId3"/>
          <a:srcRect/>
          <a:stretch/>
        </p:blipFill>
        <p:spPr>
          <a:xfrm>
            <a:off x="3657600" y="1691640"/>
            <a:ext cx="5349240" cy="2834640"/>
          </a:xfrm>
          <a:prstGeom prst="rect">
            <a:avLst/>
          </a:prstGeom>
        </p:spPr>
      </p:pic>
      <p:sp>
        <p:nvSpPr>
          <p:cNvPr id="8" name="Shape 5"/>
          <p:cNvSpPr/>
          <p:nvPr/>
        </p:nvSpPr>
        <p:spPr>
          <a:xfrm>
            <a:off x="3657600" y="1691640"/>
            <a:ext cx="5349240" cy="27432"/>
          </a:xfrm>
          <a:prstGeom prst="rect">
            <a:avLst/>
          </a:prstGeom>
          <a:solidFill>
            <a:srgbClr val="B6F569"/>
          </a:solidFill>
          <a:ln w="12700">
            <a:solidFill>
              <a:srgbClr val="B6F569"/>
            </a:solidFill>
            <a:prstDash val="solid"/>
          </a:ln>
        </p:spPr>
        <p:txBody>
          <a:bodyPr/>
          <a:lstStyle/>
          <a:p>
            <a:endParaRPr lang="en-US"/>
          </a:p>
        </p:txBody>
      </p:sp>
      <p:sp>
        <p:nvSpPr>
          <p:cNvPr id="9" name="Text 6"/>
          <p:cNvSpPr/>
          <p:nvPr/>
        </p:nvSpPr>
        <p:spPr>
          <a:xfrm>
            <a:off x="411480" y="178308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A number she can act on</a:t>
            </a:r>
            <a:endParaRPr lang="en-US" sz="1250" dirty="0"/>
          </a:p>
        </p:txBody>
      </p:sp>
      <p:sp>
        <p:nvSpPr>
          <p:cNvPr id="10" name="Text 7"/>
          <p:cNvSpPr/>
          <p:nvPr/>
        </p:nvSpPr>
        <p:spPr>
          <a:xfrm>
            <a:off x="411480" y="205740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Bicarbonate cuts ~4 seconds off her 2 km TT — 1.4% faster, with a tight credible interval.</a:t>
            </a:r>
            <a:endParaRPr lang="en-US" sz="1050" dirty="0"/>
          </a:p>
        </p:txBody>
      </p:sp>
      <p:sp>
        <p:nvSpPr>
          <p:cNvPr id="11" name="Text 8"/>
          <p:cNvSpPr/>
          <p:nvPr/>
        </p:nvSpPr>
        <p:spPr>
          <a:xfrm>
            <a:off x="411480" y="265176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A verdict, not a chart</a:t>
            </a:r>
            <a:endParaRPr lang="en-US" sz="1250" dirty="0"/>
          </a:p>
        </p:txBody>
      </p:sp>
      <p:sp>
        <p:nvSpPr>
          <p:cNvPr id="12" name="Text 9"/>
          <p:cNvSpPr/>
          <p:nvPr/>
        </p:nvSpPr>
        <p:spPr>
          <a:xfrm>
            <a:off x="411480" y="292608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"Likely responder" with the integrity checks that earned the call: blinding, balance, carryover.</a:t>
            </a:r>
            <a:endParaRPr lang="en-US" sz="1050" dirty="0"/>
          </a:p>
        </p:txBody>
      </p:sp>
      <p:sp>
        <p:nvSpPr>
          <p:cNvPr id="13" name="Text 10"/>
          <p:cNvSpPr/>
          <p:nvPr/>
        </p:nvSpPr>
        <p:spPr>
          <a:xfrm>
            <a:off x="411480" y="352044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Translated to her racing</a:t>
            </a:r>
            <a:endParaRPr lang="en-US" sz="1250" dirty="0"/>
          </a:p>
        </p:txBody>
      </p:sp>
      <p:sp>
        <p:nvSpPr>
          <p:cNvPr id="14" name="Text 11"/>
          <p:cNvSpPr/>
          <p:nvPr/>
        </p:nvSpPr>
        <p:spPr>
          <a:xfrm>
            <a:off x="411480" y="379476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Use it for crit prologues. Skip it for road races &gt; 90 min. Re-test in 6 months.</a:t>
            </a:r>
            <a:endParaRPr lang="en-US" sz="1050" dirty="0"/>
          </a:p>
        </p:txBody>
      </p:sp>
      <p:sp>
        <p:nvSpPr>
          <p:cNvPr id="15" name="Text 12"/>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16" name="Text 13"/>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365760"/>
            <a:ext cx="1819656"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365760"/>
            <a:ext cx="1819656" cy="274320"/>
          </a:xfrm>
          <a:prstGeom prst="rect">
            <a:avLst/>
          </a:prstGeom>
          <a:noFill/>
          <a:ln/>
        </p:spPr>
        <p:txBody>
          <a:bodyPr wrap="square" lIns="0" tIns="0" rIns="0" bIns="0" rtlCol="0" anchor="ctr"/>
          <a:lstStyle/>
          <a:p>
            <a:pPr marL="0" indent="0" algn="ctr">
              <a:buNone/>
            </a:pPr>
            <a:r>
              <a:rPr lang="en-US" sz="900" b="1" kern="0" spc="600" dirty="0">
                <a:solidFill>
                  <a:srgbClr val="67E8F9"/>
                </a:solidFill>
                <a:latin typeface="Helvetica Neue" pitchFamily="34" charset="0"/>
                <a:ea typeface="Helvetica Neue" pitchFamily="34" charset="-122"/>
                <a:cs typeface="Helvetica Neue" pitchFamily="34" charset="-120"/>
              </a:rPr>
              <a:t>DEMO · 4 OF 4</a:t>
            </a:r>
            <a:endParaRPr lang="en-US" sz="900" dirty="0"/>
          </a:p>
        </p:txBody>
      </p:sp>
      <p:sp>
        <p:nvSpPr>
          <p:cNvPr id="4" name="Text 2"/>
          <p:cNvSpPr/>
          <p:nvPr/>
        </p:nvSpPr>
        <p:spPr>
          <a:xfrm>
            <a:off x="411480" y="777240"/>
            <a:ext cx="8229600" cy="502920"/>
          </a:xfrm>
          <a:prstGeom prst="rect">
            <a:avLst/>
          </a:prstGeom>
          <a:noFill/>
          <a:ln/>
        </p:spPr>
        <p:txBody>
          <a:bodyPr wrap="square" lIns="0" tIns="0" rIns="0" bIns="0" rtlCol="0" anchor="ctr"/>
          <a:lstStyle/>
          <a:p>
            <a:pPr marL="0" indent="0">
              <a:buNone/>
            </a:pPr>
            <a:r>
              <a:rPr lang="en-US" sz="2200" b="1" dirty="0">
                <a:solidFill>
                  <a:srgbClr val="F4F7FB"/>
                </a:solidFill>
                <a:latin typeface="Helvetica Neue" pitchFamily="34" charset="0"/>
                <a:ea typeface="Helvetica Neue" pitchFamily="34" charset="-122"/>
                <a:cs typeface="Helvetica Neue" pitchFamily="34" charset="-120"/>
              </a:rPr>
              <a:t>George + the network effect</a:t>
            </a:r>
            <a:endParaRPr lang="en-US" sz="2200" dirty="0"/>
          </a:p>
        </p:txBody>
      </p:sp>
      <p:sp>
        <p:nvSpPr>
          <p:cNvPr id="5" name="Text 3"/>
          <p:cNvSpPr/>
          <p:nvPr/>
        </p:nvSpPr>
        <p:spPr>
          <a:xfrm>
            <a:off x="411480" y="1234440"/>
            <a:ext cx="8229600" cy="365760"/>
          </a:xfrm>
          <a:prstGeom prst="rect">
            <a:avLst/>
          </a:prstGeom>
          <a:noFill/>
          <a:ln/>
        </p:spPr>
        <p:txBody>
          <a:bodyPr wrap="square" lIns="0" tIns="0" rIns="0" bIns="0" rtlCol="0" anchor="ctr"/>
          <a:lstStyle/>
          <a:p>
            <a:pPr marL="0" indent="0">
              <a:buNone/>
            </a:pPr>
            <a:r>
              <a:rPr lang="en-US" sz="1200" dirty="0">
                <a:solidFill>
                  <a:srgbClr val="8B96A6"/>
                </a:solidFill>
                <a:latin typeface="Calibri" pitchFamily="34" charset="0"/>
                <a:ea typeface="Calibri" pitchFamily="34" charset="-122"/>
                <a:cs typeface="Calibri" pitchFamily="34" charset="-120"/>
              </a:rPr>
              <a:t>Every athlete interaction — opted-in and anonymised — makes George smarter for the next athlete.</a:t>
            </a:r>
            <a:endParaRPr lang="en-US" sz="1200" dirty="0"/>
          </a:p>
        </p:txBody>
      </p:sp>
      <p:sp>
        <p:nvSpPr>
          <p:cNvPr id="6" name="Shape 4"/>
          <p:cNvSpPr/>
          <p:nvPr/>
        </p:nvSpPr>
        <p:spPr>
          <a:xfrm>
            <a:off x="3712464" y="1783080"/>
            <a:ext cx="5349240" cy="2834640"/>
          </a:xfrm>
          <a:prstGeom prst="rect">
            <a:avLst/>
          </a:prstGeom>
          <a:solidFill>
            <a:srgbClr val="000000">
              <a:alpha val="40000"/>
            </a:srgbClr>
          </a:solidFill>
          <a:ln w="12700">
            <a:solidFill>
              <a:srgbClr val="000000">
                <a:alpha val="0"/>
              </a:srgbClr>
            </a:solidFill>
            <a:prstDash val="solid"/>
          </a:ln>
        </p:spPr>
        <p:txBody>
          <a:bodyPr/>
          <a:lstStyle/>
          <a:p>
            <a:endParaRPr lang="en-US"/>
          </a:p>
        </p:txBody>
      </p:sp>
      <p:pic>
        <p:nvPicPr>
          <p:cNvPr id="7" name="Image 0" descr="/sessions/brave-admiring-clarke/mnt/outputs/screen-coach.png"/>
          <p:cNvPicPr>
            <a:picLocks noChangeAspect="1"/>
          </p:cNvPicPr>
          <p:nvPr/>
        </p:nvPicPr>
        <p:blipFill>
          <a:blip r:embed="rId3"/>
          <a:srcRect/>
          <a:stretch/>
        </p:blipFill>
        <p:spPr>
          <a:xfrm>
            <a:off x="3657600" y="1691640"/>
            <a:ext cx="5349240" cy="2834640"/>
          </a:xfrm>
          <a:prstGeom prst="rect">
            <a:avLst/>
          </a:prstGeom>
        </p:spPr>
      </p:pic>
      <p:sp>
        <p:nvSpPr>
          <p:cNvPr id="8" name="Shape 5"/>
          <p:cNvSpPr/>
          <p:nvPr/>
        </p:nvSpPr>
        <p:spPr>
          <a:xfrm>
            <a:off x="3657600" y="1691640"/>
            <a:ext cx="5349240" cy="27432"/>
          </a:xfrm>
          <a:prstGeom prst="rect">
            <a:avLst/>
          </a:prstGeom>
          <a:solidFill>
            <a:srgbClr val="B6F569"/>
          </a:solidFill>
          <a:ln w="12700">
            <a:solidFill>
              <a:srgbClr val="B6F569"/>
            </a:solidFill>
            <a:prstDash val="solid"/>
          </a:ln>
        </p:spPr>
        <p:txBody>
          <a:bodyPr/>
          <a:lstStyle/>
          <a:p>
            <a:endParaRPr lang="en-US"/>
          </a:p>
        </p:txBody>
      </p:sp>
      <p:sp>
        <p:nvSpPr>
          <p:cNvPr id="9" name="Text 6"/>
          <p:cNvSpPr/>
          <p:nvPr/>
        </p:nvSpPr>
        <p:spPr>
          <a:xfrm>
            <a:off x="411480" y="178308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A workbench for the dietitian</a:t>
            </a:r>
            <a:endParaRPr lang="en-US" sz="1250" dirty="0"/>
          </a:p>
        </p:txBody>
      </p:sp>
      <p:sp>
        <p:nvSpPr>
          <p:cNvPr id="10" name="Text 7"/>
          <p:cNvSpPr/>
          <p:nvPr/>
        </p:nvSpPr>
        <p:spPr>
          <a:xfrm>
            <a:off x="411480" y="205740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All their athletes' active trials in one panel. Adjust protocols. Read the science panel's notes.</a:t>
            </a:r>
            <a:endParaRPr lang="en-US" sz="1050" dirty="0"/>
          </a:p>
        </p:txBody>
      </p:sp>
      <p:sp>
        <p:nvSpPr>
          <p:cNvPr id="11" name="Text 8"/>
          <p:cNvSpPr/>
          <p:nvPr/>
        </p:nvSpPr>
        <p:spPr>
          <a:xfrm>
            <a:off x="411480" y="265176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A real-world evidence engine</a:t>
            </a:r>
            <a:endParaRPr lang="en-US" sz="1250" dirty="0"/>
          </a:p>
        </p:txBody>
      </p:sp>
      <p:sp>
        <p:nvSpPr>
          <p:cNvPr id="12" name="Text 9"/>
          <p:cNvSpPr/>
          <p:nvPr/>
        </p:nvSpPr>
        <p:spPr>
          <a:xfrm>
            <a:off x="411480" y="292608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Aggregated bicarb data across hundreds of athletes — responder distributions, not just averages.</a:t>
            </a:r>
            <a:endParaRPr lang="en-US" sz="1050" dirty="0"/>
          </a:p>
        </p:txBody>
      </p:sp>
      <p:sp>
        <p:nvSpPr>
          <p:cNvPr id="13" name="Text 10"/>
          <p:cNvSpPr/>
          <p:nvPr/>
        </p:nvSpPr>
        <p:spPr>
          <a:xfrm>
            <a:off x="411480" y="3520440"/>
            <a:ext cx="301752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Defensible compounding moat</a:t>
            </a:r>
            <a:endParaRPr lang="en-US" sz="1250" dirty="0"/>
          </a:p>
        </p:txBody>
      </p:sp>
      <p:sp>
        <p:nvSpPr>
          <p:cNvPr id="14" name="Text 11"/>
          <p:cNvSpPr/>
          <p:nvPr/>
        </p:nvSpPr>
        <p:spPr>
          <a:xfrm>
            <a:off x="411480" y="3794760"/>
            <a:ext cx="3017520" cy="59436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George compounds in intelligence — and defensibility — with every athlete who joins the platform.</a:t>
            </a:r>
            <a:endParaRPr lang="en-US" sz="1050" dirty="0"/>
          </a:p>
        </p:txBody>
      </p:sp>
      <p:sp>
        <p:nvSpPr>
          <p:cNvPr id="15" name="Text 12"/>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16" name="Text 13"/>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10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1581912"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411480"/>
            <a:ext cx="1581912"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METHODOLOGY</a:t>
            </a:r>
            <a:endParaRPr lang="en-US" sz="900" dirty="0"/>
          </a:p>
        </p:txBody>
      </p:sp>
      <p:sp>
        <p:nvSpPr>
          <p:cNvPr id="4" name="Text 2"/>
          <p:cNvSpPr/>
          <p:nvPr/>
        </p:nvSpPr>
        <p:spPr>
          <a:xfrm>
            <a:off x="411480" y="822960"/>
            <a:ext cx="8229600" cy="502920"/>
          </a:xfrm>
          <a:prstGeom prst="rect">
            <a:avLst/>
          </a:prstGeom>
          <a:noFill/>
          <a:ln/>
        </p:spPr>
        <p:txBody>
          <a:bodyPr wrap="square" lIns="0" tIns="0" rIns="0" bIns="0" rtlCol="0" anchor="ctr"/>
          <a:lstStyle/>
          <a:p>
            <a:pPr marL="0" indent="0">
              <a:buNone/>
            </a:pPr>
            <a:r>
              <a:rPr lang="en-US" sz="2400" b="1" dirty="0">
                <a:solidFill>
                  <a:srgbClr val="F4F7FB"/>
                </a:solidFill>
                <a:latin typeface="Helvetica Neue" pitchFamily="34" charset="0"/>
                <a:ea typeface="Helvetica Neue" pitchFamily="34" charset="-122"/>
                <a:cs typeface="Helvetica Neue" pitchFamily="34" charset="-120"/>
              </a:rPr>
              <a:t>Built like a clinical trial. Felt like an app.</a:t>
            </a:r>
            <a:endParaRPr lang="en-US" sz="2400" dirty="0"/>
          </a:p>
        </p:txBody>
      </p:sp>
      <p:sp>
        <p:nvSpPr>
          <p:cNvPr id="5" name="Text 3"/>
          <p:cNvSpPr/>
          <p:nvPr/>
        </p:nvSpPr>
        <p:spPr>
          <a:xfrm>
            <a:off x="411480" y="1325880"/>
            <a:ext cx="8229600" cy="365760"/>
          </a:xfrm>
          <a:prstGeom prst="rect">
            <a:avLst/>
          </a:prstGeom>
          <a:noFill/>
          <a:ln/>
        </p:spPr>
        <p:txBody>
          <a:bodyPr wrap="square" lIns="0" tIns="0" rIns="0" bIns="0" rtlCol="0" anchor="ctr"/>
          <a:lstStyle/>
          <a:p>
            <a:pPr marL="0" indent="0">
              <a:buNone/>
            </a:pPr>
            <a:r>
              <a:rPr lang="en-US" sz="1200" dirty="0">
                <a:solidFill>
                  <a:srgbClr val="8B96A6"/>
                </a:solidFill>
                <a:latin typeface="Calibri" pitchFamily="34" charset="0"/>
                <a:ea typeface="Calibri" pitchFamily="34" charset="-122"/>
                <a:cs typeface="Calibri" pitchFamily="34" charset="-120"/>
              </a:rPr>
              <a:t>Every protocol on the platform passes the same six checks. The science panel signs off on each one.</a:t>
            </a:r>
            <a:endParaRPr lang="en-US" sz="1200" dirty="0"/>
          </a:p>
        </p:txBody>
      </p:sp>
      <p:sp>
        <p:nvSpPr>
          <p:cNvPr id="6" name="Shape 4"/>
          <p:cNvSpPr/>
          <p:nvPr/>
        </p:nvSpPr>
        <p:spPr>
          <a:xfrm>
            <a:off x="411480" y="1874520"/>
            <a:ext cx="4114800" cy="868680"/>
          </a:xfrm>
          <a:prstGeom prst="rect">
            <a:avLst/>
          </a:prstGeom>
          <a:solidFill>
            <a:srgbClr val="161D27"/>
          </a:solidFill>
          <a:ln w="9525">
            <a:solidFill>
              <a:srgbClr val="2A3441"/>
            </a:solidFill>
            <a:prstDash val="solid"/>
          </a:ln>
        </p:spPr>
        <p:txBody>
          <a:bodyPr/>
          <a:lstStyle/>
          <a:p>
            <a:endParaRPr lang="en-US"/>
          </a:p>
        </p:txBody>
      </p:sp>
      <p:sp>
        <p:nvSpPr>
          <p:cNvPr id="7" name="Shape 5"/>
          <p:cNvSpPr/>
          <p:nvPr/>
        </p:nvSpPr>
        <p:spPr>
          <a:xfrm>
            <a:off x="411480" y="1874520"/>
            <a:ext cx="64008" cy="868680"/>
          </a:xfrm>
          <a:prstGeom prst="rect">
            <a:avLst/>
          </a:prstGeom>
          <a:solidFill>
            <a:srgbClr val="B6F569"/>
          </a:solidFill>
          <a:ln w="12700">
            <a:solidFill>
              <a:srgbClr val="B6F569"/>
            </a:solidFill>
            <a:prstDash val="solid"/>
          </a:ln>
        </p:spPr>
        <p:txBody>
          <a:bodyPr/>
          <a:lstStyle/>
          <a:p>
            <a:endParaRPr lang="en-US"/>
          </a:p>
        </p:txBody>
      </p:sp>
      <p:sp>
        <p:nvSpPr>
          <p:cNvPr id="8" name="Text 6"/>
          <p:cNvSpPr/>
          <p:nvPr/>
        </p:nvSpPr>
        <p:spPr>
          <a:xfrm>
            <a:off x="594360" y="1965960"/>
            <a:ext cx="384048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Pre-registered design</a:t>
            </a:r>
            <a:endParaRPr lang="en-US" sz="1250" dirty="0"/>
          </a:p>
        </p:txBody>
      </p:sp>
      <p:sp>
        <p:nvSpPr>
          <p:cNvPr id="9" name="Text 7"/>
          <p:cNvSpPr/>
          <p:nvPr/>
        </p:nvSpPr>
        <p:spPr>
          <a:xfrm>
            <a:off x="594360" y="2258568"/>
            <a:ext cx="3840480" cy="45720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Endpoint, dose, washout, exclusion criteria locked before session 1.</a:t>
            </a:r>
            <a:endParaRPr lang="en-US" sz="1050" dirty="0"/>
          </a:p>
        </p:txBody>
      </p:sp>
      <p:sp>
        <p:nvSpPr>
          <p:cNvPr id="10" name="Shape 8"/>
          <p:cNvSpPr/>
          <p:nvPr/>
        </p:nvSpPr>
        <p:spPr>
          <a:xfrm>
            <a:off x="4663440" y="1874520"/>
            <a:ext cx="4114800" cy="868680"/>
          </a:xfrm>
          <a:prstGeom prst="rect">
            <a:avLst/>
          </a:prstGeom>
          <a:solidFill>
            <a:srgbClr val="161D27"/>
          </a:solidFill>
          <a:ln w="9525">
            <a:solidFill>
              <a:srgbClr val="2A3441"/>
            </a:solidFill>
            <a:prstDash val="solid"/>
          </a:ln>
        </p:spPr>
        <p:txBody>
          <a:bodyPr/>
          <a:lstStyle/>
          <a:p>
            <a:endParaRPr lang="en-US"/>
          </a:p>
        </p:txBody>
      </p:sp>
      <p:sp>
        <p:nvSpPr>
          <p:cNvPr id="11" name="Shape 9"/>
          <p:cNvSpPr/>
          <p:nvPr/>
        </p:nvSpPr>
        <p:spPr>
          <a:xfrm>
            <a:off x="4663440" y="1874520"/>
            <a:ext cx="64008" cy="868680"/>
          </a:xfrm>
          <a:prstGeom prst="rect">
            <a:avLst/>
          </a:prstGeom>
          <a:solidFill>
            <a:srgbClr val="B6F569"/>
          </a:solidFill>
          <a:ln w="12700">
            <a:solidFill>
              <a:srgbClr val="B6F569"/>
            </a:solidFill>
            <a:prstDash val="solid"/>
          </a:ln>
        </p:spPr>
        <p:txBody>
          <a:bodyPr/>
          <a:lstStyle/>
          <a:p>
            <a:endParaRPr lang="en-US"/>
          </a:p>
        </p:txBody>
      </p:sp>
      <p:sp>
        <p:nvSpPr>
          <p:cNvPr id="12" name="Text 10"/>
          <p:cNvSpPr/>
          <p:nvPr/>
        </p:nvSpPr>
        <p:spPr>
          <a:xfrm>
            <a:off x="4846320" y="1965960"/>
            <a:ext cx="384048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Double-blind crossover</a:t>
            </a:r>
            <a:endParaRPr lang="en-US" sz="1250" dirty="0"/>
          </a:p>
        </p:txBody>
      </p:sp>
      <p:sp>
        <p:nvSpPr>
          <p:cNvPr id="13" name="Text 11"/>
          <p:cNvSpPr/>
          <p:nvPr/>
        </p:nvSpPr>
        <p:spPr>
          <a:xfrm>
            <a:off x="4846320" y="2258568"/>
            <a:ext cx="3840480" cy="45720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Numbered, identical-looking capsules. Sequence locked in a sealed record.</a:t>
            </a:r>
            <a:endParaRPr lang="en-US" sz="1050" dirty="0"/>
          </a:p>
        </p:txBody>
      </p:sp>
      <p:sp>
        <p:nvSpPr>
          <p:cNvPr id="14" name="Shape 12"/>
          <p:cNvSpPr/>
          <p:nvPr/>
        </p:nvSpPr>
        <p:spPr>
          <a:xfrm>
            <a:off x="411480" y="2834640"/>
            <a:ext cx="4114800" cy="868680"/>
          </a:xfrm>
          <a:prstGeom prst="rect">
            <a:avLst/>
          </a:prstGeom>
          <a:solidFill>
            <a:srgbClr val="161D27"/>
          </a:solidFill>
          <a:ln w="9525">
            <a:solidFill>
              <a:srgbClr val="2A3441"/>
            </a:solidFill>
            <a:prstDash val="solid"/>
          </a:ln>
        </p:spPr>
        <p:txBody>
          <a:bodyPr/>
          <a:lstStyle/>
          <a:p>
            <a:endParaRPr lang="en-US"/>
          </a:p>
        </p:txBody>
      </p:sp>
      <p:sp>
        <p:nvSpPr>
          <p:cNvPr id="15" name="Shape 13"/>
          <p:cNvSpPr/>
          <p:nvPr/>
        </p:nvSpPr>
        <p:spPr>
          <a:xfrm>
            <a:off x="411480" y="2834640"/>
            <a:ext cx="64008" cy="868680"/>
          </a:xfrm>
          <a:prstGeom prst="rect">
            <a:avLst/>
          </a:prstGeom>
          <a:solidFill>
            <a:srgbClr val="B6F569"/>
          </a:solidFill>
          <a:ln w="12700">
            <a:solidFill>
              <a:srgbClr val="B6F569"/>
            </a:solidFill>
            <a:prstDash val="solid"/>
          </a:ln>
        </p:spPr>
        <p:txBody>
          <a:bodyPr/>
          <a:lstStyle/>
          <a:p>
            <a:endParaRPr lang="en-US"/>
          </a:p>
        </p:txBody>
      </p:sp>
      <p:sp>
        <p:nvSpPr>
          <p:cNvPr id="16" name="Text 14"/>
          <p:cNvSpPr/>
          <p:nvPr/>
        </p:nvSpPr>
        <p:spPr>
          <a:xfrm>
            <a:off x="594360" y="2926080"/>
            <a:ext cx="384048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Powered for individual decisions</a:t>
            </a:r>
            <a:endParaRPr lang="en-US" sz="1250" dirty="0"/>
          </a:p>
        </p:txBody>
      </p:sp>
      <p:sp>
        <p:nvSpPr>
          <p:cNvPr id="17" name="Text 15"/>
          <p:cNvSpPr/>
          <p:nvPr/>
        </p:nvSpPr>
        <p:spPr>
          <a:xfrm>
            <a:off x="594360" y="3218688"/>
            <a:ext cx="3840480" cy="45720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N of sessions chosen for each athlete's session-to-session variability.</a:t>
            </a:r>
            <a:endParaRPr lang="en-US" sz="1050" dirty="0"/>
          </a:p>
        </p:txBody>
      </p:sp>
      <p:sp>
        <p:nvSpPr>
          <p:cNvPr id="18" name="Shape 16"/>
          <p:cNvSpPr/>
          <p:nvPr/>
        </p:nvSpPr>
        <p:spPr>
          <a:xfrm>
            <a:off x="4663440" y="2834640"/>
            <a:ext cx="4114800" cy="868680"/>
          </a:xfrm>
          <a:prstGeom prst="rect">
            <a:avLst/>
          </a:prstGeom>
          <a:solidFill>
            <a:srgbClr val="161D27"/>
          </a:solidFill>
          <a:ln w="9525">
            <a:solidFill>
              <a:srgbClr val="2A3441"/>
            </a:solidFill>
            <a:prstDash val="solid"/>
          </a:ln>
        </p:spPr>
        <p:txBody>
          <a:bodyPr/>
          <a:lstStyle/>
          <a:p>
            <a:endParaRPr lang="en-US"/>
          </a:p>
        </p:txBody>
      </p:sp>
      <p:sp>
        <p:nvSpPr>
          <p:cNvPr id="19" name="Shape 17"/>
          <p:cNvSpPr/>
          <p:nvPr/>
        </p:nvSpPr>
        <p:spPr>
          <a:xfrm>
            <a:off x="4663440" y="2834640"/>
            <a:ext cx="64008" cy="868680"/>
          </a:xfrm>
          <a:prstGeom prst="rect">
            <a:avLst/>
          </a:prstGeom>
          <a:solidFill>
            <a:srgbClr val="B6F569"/>
          </a:solidFill>
          <a:ln w="12700">
            <a:solidFill>
              <a:srgbClr val="B6F569"/>
            </a:solidFill>
            <a:prstDash val="solid"/>
          </a:ln>
        </p:spPr>
        <p:txBody>
          <a:bodyPr/>
          <a:lstStyle/>
          <a:p>
            <a:endParaRPr lang="en-US"/>
          </a:p>
        </p:txBody>
      </p:sp>
      <p:sp>
        <p:nvSpPr>
          <p:cNvPr id="20" name="Text 18"/>
          <p:cNvSpPr/>
          <p:nvPr/>
        </p:nvSpPr>
        <p:spPr>
          <a:xfrm>
            <a:off x="4846320" y="2926080"/>
            <a:ext cx="384048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Hierarchical Bayesian inference</a:t>
            </a:r>
            <a:endParaRPr lang="en-US" sz="1250" dirty="0"/>
          </a:p>
        </p:txBody>
      </p:sp>
      <p:sp>
        <p:nvSpPr>
          <p:cNvPr id="21" name="Text 19"/>
          <p:cNvSpPr/>
          <p:nvPr/>
        </p:nvSpPr>
        <p:spPr>
          <a:xfrm>
            <a:off x="4846320" y="3218688"/>
            <a:ext cx="3840480" cy="45720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Personal effect estimate borrows strength from the cohort prior, with credible intervals.</a:t>
            </a:r>
            <a:endParaRPr lang="en-US" sz="1050" dirty="0"/>
          </a:p>
        </p:txBody>
      </p:sp>
      <p:sp>
        <p:nvSpPr>
          <p:cNvPr id="22" name="Shape 20"/>
          <p:cNvSpPr/>
          <p:nvPr/>
        </p:nvSpPr>
        <p:spPr>
          <a:xfrm>
            <a:off x="411480" y="3794760"/>
            <a:ext cx="4114800" cy="868680"/>
          </a:xfrm>
          <a:prstGeom prst="rect">
            <a:avLst/>
          </a:prstGeom>
          <a:solidFill>
            <a:srgbClr val="161D27"/>
          </a:solidFill>
          <a:ln w="9525">
            <a:solidFill>
              <a:srgbClr val="2A3441"/>
            </a:solidFill>
            <a:prstDash val="solid"/>
          </a:ln>
        </p:spPr>
        <p:txBody>
          <a:bodyPr/>
          <a:lstStyle/>
          <a:p>
            <a:endParaRPr lang="en-US"/>
          </a:p>
        </p:txBody>
      </p:sp>
      <p:sp>
        <p:nvSpPr>
          <p:cNvPr id="23" name="Shape 21"/>
          <p:cNvSpPr/>
          <p:nvPr/>
        </p:nvSpPr>
        <p:spPr>
          <a:xfrm>
            <a:off x="411480" y="3794760"/>
            <a:ext cx="64008" cy="868680"/>
          </a:xfrm>
          <a:prstGeom prst="rect">
            <a:avLst/>
          </a:prstGeom>
          <a:solidFill>
            <a:srgbClr val="B6F569"/>
          </a:solidFill>
          <a:ln w="12700">
            <a:solidFill>
              <a:srgbClr val="B6F569"/>
            </a:solidFill>
            <a:prstDash val="solid"/>
          </a:ln>
        </p:spPr>
        <p:txBody>
          <a:bodyPr/>
          <a:lstStyle/>
          <a:p>
            <a:endParaRPr lang="en-US"/>
          </a:p>
        </p:txBody>
      </p:sp>
      <p:sp>
        <p:nvSpPr>
          <p:cNvPr id="24" name="Text 22"/>
          <p:cNvSpPr/>
          <p:nvPr/>
        </p:nvSpPr>
        <p:spPr>
          <a:xfrm>
            <a:off x="594360" y="3886200"/>
            <a:ext cx="384048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Blinding integrity checks</a:t>
            </a:r>
            <a:endParaRPr lang="en-US" sz="1250" dirty="0"/>
          </a:p>
        </p:txBody>
      </p:sp>
      <p:sp>
        <p:nvSpPr>
          <p:cNvPr id="25" name="Text 23"/>
          <p:cNvSpPr/>
          <p:nvPr/>
        </p:nvSpPr>
        <p:spPr>
          <a:xfrm>
            <a:off x="594360" y="4178808"/>
            <a:ext cx="3840480" cy="45720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Post-trial guess + GI symptom log scored for blinding fidelity.</a:t>
            </a:r>
            <a:endParaRPr lang="en-US" sz="1050" dirty="0"/>
          </a:p>
        </p:txBody>
      </p:sp>
      <p:sp>
        <p:nvSpPr>
          <p:cNvPr id="26" name="Shape 24"/>
          <p:cNvSpPr/>
          <p:nvPr/>
        </p:nvSpPr>
        <p:spPr>
          <a:xfrm>
            <a:off x="4663440" y="3794760"/>
            <a:ext cx="4114800" cy="868680"/>
          </a:xfrm>
          <a:prstGeom prst="rect">
            <a:avLst/>
          </a:prstGeom>
          <a:solidFill>
            <a:srgbClr val="161D27"/>
          </a:solidFill>
          <a:ln w="9525">
            <a:solidFill>
              <a:srgbClr val="2A3441"/>
            </a:solidFill>
            <a:prstDash val="solid"/>
          </a:ln>
        </p:spPr>
        <p:txBody>
          <a:bodyPr/>
          <a:lstStyle/>
          <a:p>
            <a:endParaRPr lang="en-US"/>
          </a:p>
        </p:txBody>
      </p:sp>
      <p:sp>
        <p:nvSpPr>
          <p:cNvPr id="27" name="Shape 25"/>
          <p:cNvSpPr/>
          <p:nvPr/>
        </p:nvSpPr>
        <p:spPr>
          <a:xfrm>
            <a:off x="4663440" y="3794760"/>
            <a:ext cx="64008" cy="868680"/>
          </a:xfrm>
          <a:prstGeom prst="rect">
            <a:avLst/>
          </a:prstGeom>
          <a:solidFill>
            <a:srgbClr val="B6F569"/>
          </a:solidFill>
          <a:ln w="12700">
            <a:solidFill>
              <a:srgbClr val="B6F569"/>
            </a:solidFill>
            <a:prstDash val="solid"/>
          </a:ln>
        </p:spPr>
        <p:txBody>
          <a:bodyPr/>
          <a:lstStyle/>
          <a:p>
            <a:endParaRPr lang="en-US"/>
          </a:p>
        </p:txBody>
      </p:sp>
      <p:sp>
        <p:nvSpPr>
          <p:cNvPr id="28" name="Text 26"/>
          <p:cNvSpPr/>
          <p:nvPr/>
        </p:nvSpPr>
        <p:spPr>
          <a:xfrm>
            <a:off x="4846320" y="3886200"/>
            <a:ext cx="3840480" cy="274320"/>
          </a:xfrm>
          <a:prstGeom prst="rect">
            <a:avLst/>
          </a:prstGeom>
          <a:noFill/>
          <a:ln/>
        </p:spPr>
        <p:txBody>
          <a:bodyPr wrap="square" lIns="0" tIns="0" rIns="0" bIns="0" rtlCol="0" anchor="ctr"/>
          <a:lstStyle/>
          <a:p>
            <a:pPr marL="0" indent="0">
              <a:buNone/>
            </a:pPr>
            <a:r>
              <a:rPr lang="en-US" sz="1250" b="1" dirty="0">
                <a:solidFill>
                  <a:srgbClr val="F4F7FB"/>
                </a:solidFill>
                <a:latin typeface="Helvetica Neue" pitchFamily="34" charset="0"/>
                <a:ea typeface="Helvetica Neue" pitchFamily="34" charset="-122"/>
                <a:cs typeface="Helvetica Neue" pitchFamily="34" charset="-120"/>
              </a:rPr>
              <a:t>Pre-set exit criteria</a:t>
            </a:r>
            <a:endParaRPr lang="en-US" sz="1250" dirty="0"/>
          </a:p>
        </p:txBody>
      </p:sp>
      <p:sp>
        <p:nvSpPr>
          <p:cNvPr id="29" name="Text 27"/>
          <p:cNvSpPr/>
          <p:nvPr/>
        </p:nvSpPr>
        <p:spPr>
          <a:xfrm>
            <a:off x="4846320" y="4178808"/>
            <a:ext cx="3840480" cy="457200"/>
          </a:xfrm>
          <a:prstGeom prst="rect">
            <a:avLst/>
          </a:prstGeom>
          <a:noFill/>
          <a:ln/>
        </p:spPr>
        <p:txBody>
          <a:bodyPr wrap="square" lIns="0" tIns="0" rIns="0" bIns="0" rtlCol="0" anchor="ctr"/>
          <a:lstStyle/>
          <a:p>
            <a:pPr marL="0" indent="0">
              <a:buNone/>
            </a:pPr>
            <a:r>
              <a:rPr lang="en-US" sz="1050" dirty="0">
                <a:solidFill>
                  <a:srgbClr val="8B96A6"/>
                </a:solidFill>
                <a:latin typeface="Calibri" pitchFamily="34" charset="0"/>
                <a:ea typeface="Calibri" pitchFamily="34" charset="-122"/>
                <a:cs typeface="Calibri" pitchFamily="34" charset="-120"/>
              </a:rPr>
              <a:t>Illness, training-load spikes, or athlete request automatically pause the trial.</a:t>
            </a:r>
            <a:endParaRPr lang="en-US" sz="1050" dirty="0"/>
          </a:p>
        </p:txBody>
      </p:sp>
      <p:sp>
        <p:nvSpPr>
          <p:cNvPr id="30" name="Text 28"/>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31" name="Text 29"/>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11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1819656"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411480"/>
            <a:ext cx="1819656"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SCIENCE PANEL</a:t>
            </a:r>
            <a:endParaRPr lang="en-US" sz="900" dirty="0"/>
          </a:p>
        </p:txBody>
      </p:sp>
      <p:sp>
        <p:nvSpPr>
          <p:cNvPr id="4" name="Text 2"/>
          <p:cNvSpPr/>
          <p:nvPr/>
        </p:nvSpPr>
        <p:spPr>
          <a:xfrm>
            <a:off x="411480" y="822960"/>
            <a:ext cx="8229600" cy="502920"/>
          </a:xfrm>
          <a:prstGeom prst="rect">
            <a:avLst/>
          </a:prstGeom>
          <a:noFill/>
          <a:ln/>
        </p:spPr>
        <p:txBody>
          <a:bodyPr wrap="square" lIns="0" tIns="0" rIns="0" bIns="0" rtlCol="0" anchor="ctr"/>
          <a:lstStyle/>
          <a:p>
            <a:pPr marL="0" indent="0">
              <a:buNone/>
            </a:pPr>
            <a:r>
              <a:rPr lang="en-US" sz="2200" b="1" dirty="0">
                <a:solidFill>
                  <a:srgbClr val="F4F7FB"/>
                </a:solidFill>
                <a:latin typeface="Helvetica Neue" pitchFamily="34" charset="0"/>
                <a:ea typeface="Helvetica Neue" pitchFamily="34" charset="-122"/>
                <a:cs typeface="Helvetica Neue" pitchFamily="34" charset="-120"/>
              </a:rPr>
              <a:t>Chaired by the most cited sports-nutrition scientist alive.</a:t>
            </a:r>
            <a:endParaRPr lang="en-US" sz="2200" dirty="0"/>
          </a:p>
        </p:txBody>
      </p:sp>
      <p:sp>
        <p:nvSpPr>
          <p:cNvPr id="5" name="Text 3"/>
          <p:cNvSpPr/>
          <p:nvPr/>
        </p:nvSpPr>
        <p:spPr>
          <a:xfrm>
            <a:off x="411480" y="1325880"/>
            <a:ext cx="8229600" cy="320040"/>
          </a:xfrm>
          <a:prstGeom prst="rect">
            <a:avLst/>
          </a:prstGeom>
          <a:noFill/>
          <a:ln/>
        </p:spPr>
        <p:txBody>
          <a:bodyPr wrap="square" lIns="0" tIns="0" rIns="0" bIns="0" rtlCol="0" anchor="ctr"/>
          <a:lstStyle/>
          <a:p>
            <a:pPr marL="0" indent="0">
              <a:buNone/>
            </a:pPr>
            <a:r>
              <a:rPr lang="en-US" sz="1200" dirty="0">
                <a:solidFill>
                  <a:srgbClr val="8B96A6"/>
                </a:solidFill>
                <a:latin typeface="Calibri" pitchFamily="34" charset="0"/>
                <a:ea typeface="Calibri" pitchFamily="34" charset="-122"/>
                <a:cs typeface="Calibri" pitchFamily="34" charset="-120"/>
              </a:rPr>
              <a:t>Every protocol, every statistical decision, every athlete-facing claim passes through this panel.</a:t>
            </a:r>
            <a:endParaRPr lang="en-US" sz="1200" dirty="0"/>
          </a:p>
        </p:txBody>
      </p:sp>
      <p:sp>
        <p:nvSpPr>
          <p:cNvPr id="6" name="Shape 4"/>
          <p:cNvSpPr/>
          <p:nvPr/>
        </p:nvSpPr>
        <p:spPr>
          <a:xfrm>
            <a:off x="411480" y="1828800"/>
            <a:ext cx="3931920" cy="2743200"/>
          </a:xfrm>
          <a:prstGeom prst="rect">
            <a:avLst/>
          </a:prstGeom>
          <a:solidFill>
            <a:srgbClr val="161D27"/>
          </a:solidFill>
          <a:ln w="9525">
            <a:solidFill>
              <a:srgbClr val="2A3441"/>
            </a:solidFill>
            <a:prstDash val="solid"/>
          </a:ln>
        </p:spPr>
        <p:txBody>
          <a:bodyPr/>
          <a:lstStyle/>
          <a:p>
            <a:endParaRPr lang="en-US"/>
          </a:p>
        </p:txBody>
      </p:sp>
      <p:sp>
        <p:nvSpPr>
          <p:cNvPr id="7" name="Shape 5"/>
          <p:cNvSpPr/>
          <p:nvPr/>
        </p:nvSpPr>
        <p:spPr>
          <a:xfrm>
            <a:off x="411480" y="1828800"/>
            <a:ext cx="3931920" cy="54864"/>
          </a:xfrm>
          <a:prstGeom prst="rect">
            <a:avLst/>
          </a:prstGeom>
          <a:solidFill>
            <a:srgbClr val="B6F569"/>
          </a:solidFill>
          <a:ln w="12700">
            <a:solidFill>
              <a:srgbClr val="B6F569"/>
            </a:solidFill>
            <a:prstDash val="solid"/>
          </a:ln>
        </p:spPr>
        <p:txBody>
          <a:bodyPr/>
          <a:lstStyle/>
          <a:p>
            <a:endParaRPr lang="en-US"/>
          </a:p>
        </p:txBody>
      </p:sp>
      <p:sp>
        <p:nvSpPr>
          <p:cNvPr id="8" name="Shape 6"/>
          <p:cNvSpPr/>
          <p:nvPr/>
        </p:nvSpPr>
        <p:spPr>
          <a:xfrm>
            <a:off x="594360" y="2057400"/>
            <a:ext cx="960120" cy="960120"/>
          </a:xfrm>
          <a:prstGeom prst="ellipse">
            <a:avLst/>
          </a:prstGeom>
          <a:solidFill>
            <a:srgbClr val="1E2733"/>
          </a:solidFill>
          <a:ln w="19050">
            <a:solidFill>
              <a:srgbClr val="B6F569"/>
            </a:solidFill>
            <a:prstDash val="solid"/>
          </a:ln>
        </p:spPr>
        <p:txBody>
          <a:bodyPr/>
          <a:lstStyle/>
          <a:p>
            <a:endParaRPr lang="en-US"/>
          </a:p>
        </p:txBody>
      </p:sp>
      <p:sp>
        <p:nvSpPr>
          <p:cNvPr id="9" name="Text 7"/>
          <p:cNvSpPr/>
          <p:nvPr/>
        </p:nvSpPr>
        <p:spPr>
          <a:xfrm>
            <a:off x="594360" y="2057400"/>
            <a:ext cx="960120" cy="960120"/>
          </a:xfrm>
          <a:prstGeom prst="rect">
            <a:avLst/>
          </a:prstGeom>
          <a:noFill/>
          <a:ln/>
        </p:spPr>
        <p:txBody>
          <a:bodyPr wrap="square" lIns="0" tIns="0" rIns="0" bIns="0" rtlCol="0" anchor="ctr"/>
          <a:lstStyle/>
          <a:p>
            <a:pPr marL="0" indent="0" algn="ctr">
              <a:buNone/>
            </a:pPr>
            <a:r>
              <a:rPr lang="en-US" sz="3000" b="1" dirty="0">
                <a:solidFill>
                  <a:srgbClr val="B6F569"/>
                </a:solidFill>
                <a:latin typeface="Helvetica Neue" pitchFamily="34" charset="0"/>
                <a:ea typeface="Helvetica Neue" pitchFamily="34" charset="-122"/>
                <a:cs typeface="Helvetica Neue" pitchFamily="34" charset="-120"/>
              </a:rPr>
              <a:t>LB</a:t>
            </a:r>
            <a:endParaRPr lang="en-US" sz="3000" dirty="0"/>
          </a:p>
        </p:txBody>
      </p:sp>
      <p:sp>
        <p:nvSpPr>
          <p:cNvPr id="10" name="Text 8"/>
          <p:cNvSpPr/>
          <p:nvPr/>
        </p:nvSpPr>
        <p:spPr>
          <a:xfrm>
            <a:off x="1691640" y="2103120"/>
            <a:ext cx="2286000" cy="228600"/>
          </a:xfrm>
          <a:prstGeom prst="rect">
            <a:avLst/>
          </a:prstGeom>
          <a:noFill/>
          <a:ln/>
        </p:spPr>
        <p:txBody>
          <a:bodyPr wrap="square" lIns="0" tIns="0" rIns="0" bIns="0" rtlCol="0" anchor="ctr"/>
          <a:lstStyle/>
          <a:p>
            <a:pPr marL="0" indent="0">
              <a:buNone/>
            </a:pPr>
            <a:r>
              <a:rPr lang="en-US" sz="900" b="1" kern="0" spc="600" dirty="0">
                <a:solidFill>
                  <a:srgbClr val="B6F569"/>
                </a:solidFill>
                <a:latin typeface="Helvetica Neue" pitchFamily="34" charset="0"/>
                <a:ea typeface="Helvetica Neue" pitchFamily="34" charset="-122"/>
                <a:cs typeface="Helvetica Neue" pitchFamily="34" charset="-120"/>
              </a:rPr>
              <a:t>CHAIR</a:t>
            </a:r>
            <a:endParaRPr lang="en-US" sz="900" dirty="0"/>
          </a:p>
        </p:txBody>
      </p:sp>
      <p:sp>
        <p:nvSpPr>
          <p:cNvPr id="11" name="Text 9"/>
          <p:cNvSpPr/>
          <p:nvPr/>
        </p:nvSpPr>
        <p:spPr>
          <a:xfrm>
            <a:off x="1691640" y="2331720"/>
            <a:ext cx="2606040" cy="365760"/>
          </a:xfrm>
          <a:prstGeom prst="rect">
            <a:avLst/>
          </a:prstGeom>
          <a:noFill/>
          <a:ln/>
        </p:spPr>
        <p:txBody>
          <a:bodyPr wrap="square" lIns="0" tIns="0" rIns="0" bIns="0" rtlCol="0" anchor="ctr"/>
          <a:lstStyle/>
          <a:p>
            <a:pPr marL="0" indent="0">
              <a:buNone/>
            </a:pPr>
            <a:r>
              <a:rPr lang="en-US" sz="1400" b="1" dirty="0">
                <a:solidFill>
                  <a:srgbClr val="F4F7FB"/>
                </a:solidFill>
                <a:latin typeface="Helvetica Neue" pitchFamily="34" charset="0"/>
                <a:ea typeface="Helvetica Neue" pitchFamily="34" charset="-122"/>
                <a:cs typeface="Helvetica Neue" pitchFamily="34" charset="-120"/>
              </a:rPr>
              <a:t>Prof. Louise Burke AO</a:t>
            </a:r>
            <a:endParaRPr lang="en-US" sz="1400" dirty="0"/>
          </a:p>
        </p:txBody>
      </p:sp>
      <p:sp>
        <p:nvSpPr>
          <p:cNvPr id="12" name="Text 10"/>
          <p:cNvSpPr/>
          <p:nvPr/>
        </p:nvSpPr>
        <p:spPr>
          <a:xfrm>
            <a:off x="594360" y="3154680"/>
            <a:ext cx="3657600" cy="1325880"/>
          </a:xfrm>
          <a:prstGeom prst="rect">
            <a:avLst/>
          </a:prstGeom>
          <a:noFill/>
          <a:ln/>
        </p:spPr>
        <p:txBody>
          <a:bodyPr wrap="square" lIns="0" tIns="0" rIns="0" bIns="0" rtlCol="0" anchor="ctr"/>
          <a:lstStyle/>
          <a:p>
            <a:pPr marL="0" indent="0">
              <a:buNone/>
            </a:pPr>
            <a:r>
              <a:rPr lang="en-US" sz="1050" dirty="0">
                <a:solidFill>
                  <a:srgbClr val="C8D1DD"/>
                </a:solidFill>
                <a:latin typeface="Calibri" pitchFamily="34" charset="0"/>
                <a:ea typeface="Calibri" pitchFamily="34" charset="-122"/>
                <a:cs typeface="Calibri" pitchFamily="34" charset="-120"/>
              </a:rPr>
              <a:t>Former Head of Sports Nutrition, Australian Institute of Sport. Chief dietitian for five Australian Olympic teams. Author of the foundational textbook in the field. ~600 peer-reviewed publications.</a:t>
            </a:r>
            <a:endParaRPr lang="en-US" sz="1050" dirty="0"/>
          </a:p>
        </p:txBody>
      </p:sp>
      <p:sp>
        <p:nvSpPr>
          <p:cNvPr id="13" name="Shape 11"/>
          <p:cNvSpPr/>
          <p:nvPr/>
        </p:nvSpPr>
        <p:spPr>
          <a:xfrm>
            <a:off x="4572000" y="1828800"/>
            <a:ext cx="2103120" cy="1188720"/>
          </a:xfrm>
          <a:prstGeom prst="rect">
            <a:avLst/>
          </a:prstGeom>
          <a:solidFill>
            <a:srgbClr val="161D27"/>
          </a:solidFill>
          <a:ln w="9525">
            <a:solidFill>
              <a:srgbClr val="2A3441"/>
            </a:solidFill>
            <a:prstDash val="solid"/>
          </a:ln>
        </p:spPr>
        <p:txBody>
          <a:bodyPr/>
          <a:lstStyle/>
          <a:p>
            <a:endParaRPr lang="en-US"/>
          </a:p>
        </p:txBody>
      </p:sp>
      <p:sp>
        <p:nvSpPr>
          <p:cNvPr id="14" name="Shape 12"/>
          <p:cNvSpPr/>
          <p:nvPr/>
        </p:nvSpPr>
        <p:spPr>
          <a:xfrm>
            <a:off x="4709160" y="2011680"/>
            <a:ext cx="502920" cy="502920"/>
          </a:xfrm>
          <a:prstGeom prst="ellipse">
            <a:avLst/>
          </a:prstGeom>
          <a:solidFill>
            <a:srgbClr val="1E2733"/>
          </a:solidFill>
          <a:ln w="12700">
            <a:solidFill>
              <a:srgbClr val="67E8F9"/>
            </a:solidFill>
            <a:prstDash val="solid"/>
          </a:ln>
        </p:spPr>
        <p:txBody>
          <a:bodyPr/>
          <a:lstStyle/>
          <a:p>
            <a:endParaRPr lang="en-US"/>
          </a:p>
        </p:txBody>
      </p:sp>
      <p:sp>
        <p:nvSpPr>
          <p:cNvPr id="15" name="Text 13"/>
          <p:cNvSpPr/>
          <p:nvPr/>
        </p:nvSpPr>
        <p:spPr>
          <a:xfrm>
            <a:off x="4709160" y="2011680"/>
            <a:ext cx="502920" cy="502920"/>
          </a:xfrm>
          <a:prstGeom prst="rect">
            <a:avLst/>
          </a:prstGeom>
          <a:noFill/>
          <a:ln/>
        </p:spPr>
        <p:txBody>
          <a:bodyPr wrap="square" lIns="0" tIns="0" rIns="0" bIns="0" rtlCol="0" anchor="ctr"/>
          <a:lstStyle/>
          <a:p>
            <a:pPr marL="0" indent="0" algn="ctr">
              <a:buNone/>
            </a:pPr>
            <a:r>
              <a:rPr lang="en-US" sz="1200" b="1" dirty="0">
                <a:solidFill>
                  <a:srgbClr val="67E8F9"/>
                </a:solidFill>
                <a:latin typeface="Helvetica Neue" pitchFamily="34" charset="0"/>
                <a:ea typeface="Helvetica Neue" pitchFamily="34" charset="-122"/>
                <a:cs typeface="Helvetica Neue" pitchFamily="34" charset="-120"/>
              </a:rPr>
              <a:t>AJ</a:t>
            </a:r>
            <a:endParaRPr lang="en-US" sz="1200" dirty="0"/>
          </a:p>
        </p:txBody>
      </p:sp>
      <p:sp>
        <p:nvSpPr>
          <p:cNvPr id="16" name="Text 14"/>
          <p:cNvSpPr/>
          <p:nvPr/>
        </p:nvSpPr>
        <p:spPr>
          <a:xfrm>
            <a:off x="5285232" y="1993392"/>
            <a:ext cx="1325880" cy="292608"/>
          </a:xfrm>
          <a:prstGeom prst="rect">
            <a:avLst/>
          </a:prstGeom>
          <a:noFill/>
          <a:ln/>
        </p:spPr>
        <p:txBody>
          <a:bodyPr wrap="square" lIns="0" tIns="0" rIns="0" bIns="0" rtlCol="0" anchor="ctr"/>
          <a:lstStyle/>
          <a:p>
            <a:pPr marL="0" indent="0">
              <a:buNone/>
            </a:pPr>
            <a:r>
              <a:rPr lang="en-US" sz="1000" b="1" dirty="0">
                <a:solidFill>
                  <a:srgbClr val="F4F7FB"/>
                </a:solidFill>
                <a:latin typeface="Helvetica Neue" pitchFamily="34" charset="0"/>
                <a:ea typeface="Helvetica Neue" pitchFamily="34" charset="-122"/>
                <a:cs typeface="Helvetica Neue" pitchFamily="34" charset="-120"/>
              </a:rPr>
              <a:t>Prof. Asker Jeukendrup</a:t>
            </a:r>
            <a:endParaRPr lang="en-US" sz="1000" dirty="0"/>
          </a:p>
        </p:txBody>
      </p:sp>
      <p:sp>
        <p:nvSpPr>
          <p:cNvPr id="17" name="Text 15"/>
          <p:cNvSpPr/>
          <p:nvPr/>
        </p:nvSpPr>
        <p:spPr>
          <a:xfrm>
            <a:off x="5285232" y="2286000"/>
            <a:ext cx="1325880" cy="594360"/>
          </a:xfrm>
          <a:prstGeom prst="rect">
            <a:avLst/>
          </a:prstGeom>
          <a:noFill/>
          <a:ln/>
        </p:spPr>
        <p:txBody>
          <a:bodyPr wrap="square" lIns="0" tIns="0" rIns="0" bIns="0" rtlCol="0" anchor="ctr"/>
          <a:lstStyle/>
          <a:p>
            <a:pPr marL="0" indent="0">
              <a:buNone/>
            </a:pPr>
            <a:r>
              <a:rPr lang="en-US" sz="850" dirty="0">
                <a:solidFill>
                  <a:srgbClr val="8B96A6"/>
                </a:solidFill>
                <a:latin typeface="Calibri" pitchFamily="34" charset="0"/>
                <a:ea typeface="Calibri" pitchFamily="34" charset="-122"/>
                <a:cs typeface="Calibri" pitchFamily="34" charset="-120"/>
              </a:rPr>
              <a:t>Carbohydrate metabolism · ex-Gatorade Sports Science</a:t>
            </a:r>
            <a:endParaRPr lang="en-US" sz="850" dirty="0"/>
          </a:p>
        </p:txBody>
      </p:sp>
      <p:sp>
        <p:nvSpPr>
          <p:cNvPr id="18" name="Shape 16"/>
          <p:cNvSpPr/>
          <p:nvPr/>
        </p:nvSpPr>
        <p:spPr>
          <a:xfrm>
            <a:off x="6766560" y="1828800"/>
            <a:ext cx="2103120" cy="1188720"/>
          </a:xfrm>
          <a:prstGeom prst="rect">
            <a:avLst/>
          </a:prstGeom>
          <a:solidFill>
            <a:srgbClr val="161D27"/>
          </a:solidFill>
          <a:ln w="9525">
            <a:solidFill>
              <a:srgbClr val="2A3441"/>
            </a:solidFill>
            <a:prstDash val="solid"/>
          </a:ln>
        </p:spPr>
        <p:txBody>
          <a:bodyPr/>
          <a:lstStyle/>
          <a:p>
            <a:endParaRPr lang="en-US"/>
          </a:p>
        </p:txBody>
      </p:sp>
      <p:sp>
        <p:nvSpPr>
          <p:cNvPr id="19" name="Shape 17"/>
          <p:cNvSpPr/>
          <p:nvPr/>
        </p:nvSpPr>
        <p:spPr>
          <a:xfrm>
            <a:off x="6903720" y="2011680"/>
            <a:ext cx="502920" cy="502920"/>
          </a:xfrm>
          <a:prstGeom prst="ellipse">
            <a:avLst/>
          </a:prstGeom>
          <a:solidFill>
            <a:srgbClr val="1E2733"/>
          </a:solidFill>
          <a:ln w="12700">
            <a:solidFill>
              <a:srgbClr val="67E8F9"/>
            </a:solidFill>
            <a:prstDash val="solid"/>
          </a:ln>
        </p:spPr>
        <p:txBody>
          <a:bodyPr/>
          <a:lstStyle/>
          <a:p>
            <a:endParaRPr lang="en-US"/>
          </a:p>
        </p:txBody>
      </p:sp>
      <p:sp>
        <p:nvSpPr>
          <p:cNvPr id="20" name="Text 18"/>
          <p:cNvSpPr/>
          <p:nvPr/>
        </p:nvSpPr>
        <p:spPr>
          <a:xfrm>
            <a:off x="6903720" y="2011680"/>
            <a:ext cx="502920" cy="502920"/>
          </a:xfrm>
          <a:prstGeom prst="rect">
            <a:avLst/>
          </a:prstGeom>
          <a:noFill/>
          <a:ln/>
        </p:spPr>
        <p:txBody>
          <a:bodyPr wrap="square" lIns="0" tIns="0" rIns="0" bIns="0" rtlCol="0" anchor="ctr"/>
          <a:lstStyle/>
          <a:p>
            <a:pPr marL="0" indent="0" algn="ctr">
              <a:buNone/>
            </a:pPr>
            <a:r>
              <a:rPr lang="en-US" sz="1200" b="1" dirty="0">
                <a:solidFill>
                  <a:srgbClr val="67E8F9"/>
                </a:solidFill>
                <a:latin typeface="Helvetica Neue" pitchFamily="34" charset="0"/>
                <a:ea typeface="Helvetica Neue" pitchFamily="34" charset="-122"/>
                <a:cs typeface="Helvetica Neue" pitchFamily="34" charset="-120"/>
              </a:rPr>
              <a:t>SP</a:t>
            </a:r>
            <a:endParaRPr lang="en-US" sz="1200" dirty="0"/>
          </a:p>
        </p:txBody>
      </p:sp>
      <p:sp>
        <p:nvSpPr>
          <p:cNvPr id="21" name="Text 19"/>
          <p:cNvSpPr/>
          <p:nvPr/>
        </p:nvSpPr>
        <p:spPr>
          <a:xfrm>
            <a:off x="7479792" y="1993392"/>
            <a:ext cx="1325880" cy="292608"/>
          </a:xfrm>
          <a:prstGeom prst="rect">
            <a:avLst/>
          </a:prstGeom>
          <a:noFill/>
          <a:ln/>
        </p:spPr>
        <p:txBody>
          <a:bodyPr wrap="square" lIns="0" tIns="0" rIns="0" bIns="0" rtlCol="0" anchor="ctr"/>
          <a:lstStyle/>
          <a:p>
            <a:pPr marL="0" indent="0">
              <a:buNone/>
            </a:pPr>
            <a:r>
              <a:rPr lang="en-US" sz="1000" b="1" dirty="0">
                <a:solidFill>
                  <a:srgbClr val="F4F7FB"/>
                </a:solidFill>
                <a:latin typeface="Helvetica Neue" pitchFamily="34" charset="0"/>
                <a:ea typeface="Helvetica Neue" pitchFamily="34" charset="-122"/>
                <a:cs typeface="Helvetica Neue" pitchFamily="34" charset="-120"/>
              </a:rPr>
              <a:t>Prof. Stuart Phillips</a:t>
            </a:r>
            <a:endParaRPr lang="en-US" sz="1000" dirty="0"/>
          </a:p>
        </p:txBody>
      </p:sp>
      <p:sp>
        <p:nvSpPr>
          <p:cNvPr id="22" name="Text 20"/>
          <p:cNvSpPr/>
          <p:nvPr/>
        </p:nvSpPr>
        <p:spPr>
          <a:xfrm>
            <a:off x="7479792" y="2286000"/>
            <a:ext cx="1325880" cy="594360"/>
          </a:xfrm>
          <a:prstGeom prst="rect">
            <a:avLst/>
          </a:prstGeom>
          <a:noFill/>
          <a:ln/>
        </p:spPr>
        <p:txBody>
          <a:bodyPr wrap="square" lIns="0" tIns="0" rIns="0" bIns="0" rtlCol="0" anchor="ctr"/>
          <a:lstStyle/>
          <a:p>
            <a:pPr marL="0" indent="0">
              <a:buNone/>
            </a:pPr>
            <a:r>
              <a:rPr lang="en-US" sz="850" dirty="0">
                <a:solidFill>
                  <a:srgbClr val="8B96A6"/>
                </a:solidFill>
                <a:latin typeface="Calibri" pitchFamily="34" charset="0"/>
                <a:ea typeface="Calibri" pitchFamily="34" charset="-122"/>
                <a:cs typeface="Calibri" pitchFamily="34" charset="-120"/>
              </a:rPr>
              <a:t>Protein &amp; muscle physiology · McMaster University</a:t>
            </a:r>
            <a:endParaRPr lang="en-US" sz="850" dirty="0"/>
          </a:p>
        </p:txBody>
      </p:sp>
      <p:sp>
        <p:nvSpPr>
          <p:cNvPr id="23" name="Shape 21"/>
          <p:cNvSpPr/>
          <p:nvPr/>
        </p:nvSpPr>
        <p:spPr>
          <a:xfrm>
            <a:off x="4572000" y="3154680"/>
            <a:ext cx="2103120" cy="1188720"/>
          </a:xfrm>
          <a:prstGeom prst="rect">
            <a:avLst/>
          </a:prstGeom>
          <a:solidFill>
            <a:srgbClr val="161D27"/>
          </a:solidFill>
          <a:ln w="9525">
            <a:solidFill>
              <a:srgbClr val="2A3441"/>
            </a:solidFill>
            <a:prstDash val="solid"/>
          </a:ln>
        </p:spPr>
        <p:txBody>
          <a:bodyPr/>
          <a:lstStyle/>
          <a:p>
            <a:endParaRPr lang="en-US"/>
          </a:p>
        </p:txBody>
      </p:sp>
      <p:sp>
        <p:nvSpPr>
          <p:cNvPr id="24" name="Shape 22"/>
          <p:cNvSpPr/>
          <p:nvPr/>
        </p:nvSpPr>
        <p:spPr>
          <a:xfrm>
            <a:off x="4709160" y="3337560"/>
            <a:ext cx="502920" cy="502920"/>
          </a:xfrm>
          <a:prstGeom prst="ellipse">
            <a:avLst/>
          </a:prstGeom>
          <a:solidFill>
            <a:srgbClr val="1E2733"/>
          </a:solidFill>
          <a:ln w="12700">
            <a:solidFill>
              <a:srgbClr val="67E8F9"/>
            </a:solidFill>
            <a:prstDash val="solid"/>
          </a:ln>
        </p:spPr>
        <p:txBody>
          <a:bodyPr/>
          <a:lstStyle/>
          <a:p>
            <a:endParaRPr lang="en-US"/>
          </a:p>
        </p:txBody>
      </p:sp>
      <p:sp>
        <p:nvSpPr>
          <p:cNvPr id="25" name="Text 23"/>
          <p:cNvSpPr/>
          <p:nvPr/>
        </p:nvSpPr>
        <p:spPr>
          <a:xfrm>
            <a:off x="4709160" y="3337560"/>
            <a:ext cx="502920" cy="502920"/>
          </a:xfrm>
          <a:prstGeom prst="rect">
            <a:avLst/>
          </a:prstGeom>
          <a:noFill/>
          <a:ln/>
        </p:spPr>
        <p:txBody>
          <a:bodyPr wrap="square" lIns="0" tIns="0" rIns="0" bIns="0" rtlCol="0" anchor="ctr"/>
          <a:lstStyle/>
          <a:p>
            <a:pPr marL="0" indent="0" algn="ctr">
              <a:buNone/>
            </a:pPr>
            <a:r>
              <a:rPr lang="en-US" sz="1200" b="1" dirty="0">
                <a:solidFill>
                  <a:srgbClr val="67E8F9"/>
                </a:solidFill>
                <a:latin typeface="Helvetica Neue" pitchFamily="34" charset="0"/>
                <a:ea typeface="Helvetica Neue" pitchFamily="34" charset="-122"/>
                <a:cs typeface="Helvetica Neue" pitchFamily="34" charset="-120"/>
              </a:rPr>
              <a:t>TS</a:t>
            </a:r>
            <a:endParaRPr lang="en-US" sz="1200" dirty="0"/>
          </a:p>
        </p:txBody>
      </p:sp>
      <p:sp>
        <p:nvSpPr>
          <p:cNvPr id="26" name="Text 24"/>
          <p:cNvSpPr/>
          <p:nvPr/>
        </p:nvSpPr>
        <p:spPr>
          <a:xfrm>
            <a:off x="5285232" y="3319272"/>
            <a:ext cx="1325880" cy="292608"/>
          </a:xfrm>
          <a:prstGeom prst="rect">
            <a:avLst/>
          </a:prstGeom>
          <a:noFill/>
          <a:ln/>
        </p:spPr>
        <p:txBody>
          <a:bodyPr wrap="square" lIns="0" tIns="0" rIns="0" bIns="0" rtlCol="0" anchor="ctr"/>
          <a:lstStyle/>
          <a:p>
            <a:pPr marL="0" indent="0">
              <a:buNone/>
            </a:pPr>
            <a:r>
              <a:rPr lang="en-US" sz="1000" b="1" dirty="0">
                <a:solidFill>
                  <a:srgbClr val="F4F7FB"/>
                </a:solidFill>
                <a:latin typeface="Helvetica Neue" pitchFamily="34" charset="0"/>
                <a:ea typeface="Helvetica Neue" pitchFamily="34" charset="-122"/>
                <a:cs typeface="Helvetica Neue" pitchFamily="34" charset="-120"/>
              </a:rPr>
              <a:t>Dr. Trent Stellingwerff</a:t>
            </a:r>
            <a:endParaRPr lang="en-US" sz="1000" dirty="0"/>
          </a:p>
        </p:txBody>
      </p:sp>
      <p:sp>
        <p:nvSpPr>
          <p:cNvPr id="27" name="Text 25"/>
          <p:cNvSpPr/>
          <p:nvPr/>
        </p:nvSpPr>
        <p:spPr>
          <a:xfrm>
            <a:off x="5285232" y="3611880"/>
            <a:ext cx="1325880" cy="594360"/>
          </a:xfrm>
          <a:prstGeom prst="rect">
            <a:avLst/>
          </a:prstGeom>
          <a:noFill/>
          <a:ln/>
        </p:spPr>
        <p:txBody>
          <a:bodyPr wrap="square" lIns="0" tIns="0" rIns="0" bIns="0" rtlCol="0" anchor="ctr"/>
          <a:lstStyle/>
          <a:p>
            <a:pPr marL="0" indent="0">
              <a:buNone/>
            </a:pPr>
            <a:r>
              <a:rPr lang="en-US" sz="850" dirty="0">
                <a:solidFill>
                  <a:srgbClr val="8B96A6"/>
                </a:solidFill>
                <a:latin typeface="Calibri" pitchFamily="34" charset="0"/>
                <a:ea typeface="Calibri" pitchFamily="34" charset="-122"/>
                <a:cs typeface="Calibri" pitchFamily="34" charset="-120"/>
              </a:rPr>
              <a:t>Periodised nutrition · Canadian Sport Inst. Pacific</a:t>
            </a:r>
            <a:endParaRPr lang="en-US" sz="850" dirty="0"/>
          </a:p>
        </p:txBody>
      </p:sp>
      <p:sp>
        <p:nvSpPr>
          <p:cNvPr id="28" name="Shape 26"/>
          <p:cNvSpPr/>
          <p:nvPr/>
        </p:nvSpPr>
        <p:spPr>
          <a:xfrm>
            <a:off x="6766560" y="3154680"/>
            <a:ext cx="2103120" cy="1188720"/>
          </a:xfrm>
          <a:prstGeom prst="rect">
            <a:avLst/>
          </a:prstGeom>
          <a:solidFill>
            <a:srgbClr val="161D27"/>
          </a:solidFill>
          <a:ln w="9525">
            <a:solidFill>
              <a:srgbClr val="2A3441"/>
            </a:solidFill>
            <a:prstDash val="solid"/>
          </a:ln>
        </p:spPr>
        <p:txBody>
          <a:bodyPr/>
          <a:lstStyle/>
          <a:p>
            <a:endParaRPr lang="en-US"/>
          </a:p>
        </p:txBody>
      </p:sp>
      <p:sp>
        <p:nvSpPr>
          <p:cNvPr id="29" name="Shape 27"/>
          <p:cNvSpPr/>
          <p:nvPr/>
        </p:nvSpPr>
        <p:spPr>
          <a:xfrm>
            <a:off x="6903720" y="3337560"/>
            <a:ext cx="502920" cy="502920"/>
          </a:xfrm>
          <a:prstGeom prst="ellipse">
            <a:avLst/>
          </a:prstGeom>
          <a:solidFill>
            <a:srgbClr val="1E2733"/>
          </a:solidFill>
          <a:ln w="12700">
            <a:solidFill>
              <a:srgbClr val="67E8F9"/>
            </a:solidFill>
            <a:prstDash val="solid"/>
          </a:ln>
        </p:spPr>
        <p:txBody>
          <a:bodyPr/>
          <a:lstStyle/>
          <a:p>
            <a:endParaRPr lang="en-US"/>
          </a:p>
        </p:txBody>
      </p:sp>
      <p:sp>
        <p:nvSpPr>
          <p:cNvPr id="30" name="Text 28"/>
          <p:cNvSpPr/>
          <p:nvPr/>
        </p:nvSpPr>
        <p:spPr>
          <a:xfrm>
            <a:off x="6903720" y="3337560"/>
            <a:ext cx="502920" cy="502920"/>
          </a:xfrm>
          <a:prstGeom prst="rect">
            <a:avLst/>
          </a:prstGeom>
          <a:noFill/>
          <a:ln/>
        </p:spPr>
        <p:txBody>
          <a:bodyPr wrap="square" lIns="0" tIns="0" rIns="0" bIns="0" rtlCol="0" anchor="ctr"/>
          <a:lstStyle/>
          <a:p>
            <a:pPr marL="0" indent="0" algn="ctr">
              <a:buNone/>
            </a:pPr>
            <a:r>
              <a:rPr lang="en-US" sz="1200" b="1" dirty="0">
                <a:solidFill>
                  <a:srgbClr val="67E8F9"/>
                </a:solidFill>
                <a:latin typeface="Helvetica Neue" pitchFamily="34" charset="0"/>
                <a:ea typeface="Helvetica Neue" pitchFamily="34" charset="-122"/>
                <a:cs typeface="Helvetica Neue" pitchFamily="34" charset="-120"/>
              </a:rPr>
              <a:t>KE</a:t>
            </a:r>
            <a:endParaRPr lang="en-US" sz="1200" dirty="0"/>
          </a:p>
        </p:txBody>
      </p:sp>
      <p:sp>
        <p:nvSpPr>
          <p:cNvPr id="31" name="Text 29"/>
          <p:cNvSpPr/>
          <p:nvPr/>
        </p:nvSpPr>
        <p:spPr>
          <a:xfrm>
            <a:off x="7479792" y="3319272"/>
            <a:ext cx="1325880" cy="292608"/>
          </a:xfrm>
          <a:prstGeom prst="rect">
            <a:avLst/>
          </a:prstGeom>
          <a:noFill/>
          <a:ln/>
        </p:spPr>
        <p:txBody>
          <a:bodyPr wrap="square" lIns="0" tIns="0" rIns="0" bIns="0" rtlCol="0" anchor="ctr"/>
          <a:lstStyle/>
          <a:p>
            <a:pPr marL="0" indent="0">
              <a:buNone/>
            </a:pPr>
            <a:r>
              <a:rPr lang="en-US" sz="1000" b="1" dirty="0">
                <a:solidFill>
                  <a:srgbClr val="F4F7FB"/>
                </a:solidFill>
                <a:latin typeface="Helvetica Neue" pitchFamily="34" charset="0"/>
                <a:ea typeface="Helvetica Neue" pitchFamily="34" charset="-122"/>
                <a:cs typeface="Helvetica Neue" pitchFamily="34" charset="-120"/>
              </a:rPr>
              <a:t>Prof. Kirsty Elliott-Sale</a:t>
            </a:r>
            <a:endParaRPr lang="en-US" sz="1000" dirty="0"/>
          </a:p>
        </p:txBody>
      </p:sp>
      <p:sp>
        <p:nvSpPr>
          <p:cNvPr id="33" name="Text 31"/>
          <p:cNvSpPr/>
          <p:nvPr/>
        </p:nvSpPr>
        <p:spPr>
          <a:xfrm>
            <a:off x="4572000" y="4526280"/>
            <a:ext cx="4297680" cy="182880"/>
          </a:xfrm>
          <a:prstGeom prst="rect">
            <a:avLst/>
          </a:prstGeom>
          <a:noFill/>
          <a:ln/>
        </p:spPr>
        <p:txBody>
          <a:bodyPr wrap="square" lIns="0" tIns="0" rIns="0" bIns="0" rtlCol="0" anchor="ctr"/>
          <a:lstStyle/>
          <a:p>
            <a:pPr marL="0" indent="0">
              <a:buNone/>
            </a:pPr>
            <a:r>
              <a:rPr lang="en-US" sz="900" i="1" dirty="0">
                <a:solidFill>
                  <a:srgbClr val="5C6675"/>
                </a:solidFill>
                <a:latin typeface="Calibri" pitchFamily="34" charset="0"/>
                <a:ea typeface="Calibri" pitchFamily="34" charset="-122"/>
                <a:cs typeface="Calibri" pitchFamily="34" charset="-120"/>
              </a:rPr>
              <a:t>Target advisors — outreach in progress. Not yet confirmed for the platform.</a:t>
            </a:r>
            <a:endParaRPr lang="en-US" sz="900" dirty="0"/>
          </a:p>
        </p:txBody>
      </p:sp>
      <p:sp>
        <p:nvSpPr>
          <p:cNvPr id="34" name="Text 32"/>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35" name="Text 33"/>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12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411480" y="411480"/>
            <a:ext cx="1938528" cy="274320"/>
          </a:xfrm>
          <a:prstGeom prst="rect">
            <a:avLst/>
          </a:prstGeom>
          <a:solidFill>
            <a:srgbClr val="2A3441"/>
          </a:solidFill>
          <a:ln w="12700">
            <a:solidFill>
              <a:srgbClr val="2A3441"/>
            </a:solidFill>
            <a:prstDash val="solid"/>
          </a:ln>
        </p:spPr>
        <p:txBody>
          <a:bodyPr/>
          <a:lstStyle/>
          <a:p>
            <a:endParaRPr lang="en-US"/>
          </a:p>
        </p:txBody>
      </p:sp>
      <p:sp>
        <p:nvSpPr>
          <p:cNvPr id="3" name="Text 1"/>
          <p:cNvSpPr/>
          <p:nvPr/>
        </p:nvSpPr>
        <p:spPr>
          <a:xfrm>
            <a:off x="411480" y="411480"/>
            <a:ext cx="1938528"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BUSINESS MODEL</a:t>
            </a:r>
            <a:endParaRPr lang="en-US" sz="900" dirty="0"/>
          </a:p>
        </p:txBody>
      </p:sp>
      <p:sp>
        <p:nvSpPr>
          <p:cNvPr id="4" name="Text 2"/>
          <p:cNvSpPr/>
          <p:nvPr/>
        </p:nvSpPr>
        <p:spPr>
          <a:xfrm>
            <a:off x="411480" y="822960"/>
            <a:ext cx="8229600" cy="548640"/>
          </a:xfrm>
          <a:prstGeom prst="rect">
            <a:avLst/>
          </a:prstGeom>
          <a:noFill/>
          <a:ln/>
        </p:spPr>
        <p:txBody>
          <a:bodyPr wrap="square" lIns="0" tIns="0" rIns="0" bIns="0" rtlCol="0" anchor="ctr"/>
          <a:lstStyle/>
          <a:p>
            <a:pPr marL="0" indent="0">
              <a:buNone/>
            </a:pPr>
            <a:r>
              <a:rPr lang="en-US" sz="2400" b="1" dirty="0">
                <a:solidFill>
                  <a:srgbClr val="F4F7FB"/>
                </a:solidFill>
                <a:latin typeface="Helvetica Neue" pitchFamily="34" charset="0"/>
                <a:ea typeface="Helvetica Neue" pitchFamily="34" charset="-122"/>
                <a:cs typeface="Helvetica Neue" pitchFamily="34" charset="-120"/>
              </a:rPr>
              <a:t>Three revenue streams. The third is the moat.</a:t>
            </a:r>
            <a:endParaRPr lang="en-US" sz="2400" dirty="0"/>
          </a:p>
        </p:txBody>
      </p:sp>
      <p:sp>
        <p:nvSpPr>
          <p:cNvPr id="5" name="Shape 3"/>
          <p:cNvSpPr/>
          <p:nvPr/>
        </p:nvSpPr>
        <p:spPr>
          <a:xfrm>
            <a:off x="411480" y="1691640"/>
            <a:ext cx="2743200" cy="3017520"/>
          </a:xfrm>
          <a:prstGeom prst="rect">
            <a:avLst/>
          </a:prstGeom>
          <a:solidFill>
            <a:srgbClr val="161D27"/>
          </a:solidFill>
          <a:ln w="9525">
            <a:solidFill>
              <a:srgbClr val="2A3441"/>
            </a:solidFill>
            <a:prstDash val="solid"/>
          </a:ln>
        </p:spPr>
        <p:txBody>
          <a:bodyPr/>
          <a:lstStyle/>
          <a:p>
            <a:endParaRPr lang="en-US"/>
          </a:p>
        </p:txBody>
      </p:sp>
      <p:sp>
        <p:nvSpPr>
          <p:cNvPr id="6" name="Shape 4"/>
          <p:cNvSpPr/>
          <p:nvPr/>
        </p:nvSpPr>
        <p:spPr>
          <a:xfrm>
            <a:off x="411480" y="1691640"/>
            <a:ext cx="2743200" cy="54864"/>
          </a:xfrm>
          <a:prstGeom prst="rect">
            <a:avLst/>
          </a:prstGeom>
          <a:solidFill>
            <a:srgbClr val="B6F569"/>
          </a:solidFill>
          <a:ln w="12700">
            <a:solidFill>
              <a:srgbClr val="B6F569"/>
            </a:solidFill>
            <a:prstDash val="solid"/>
          </a:ln>
        </p:spPr>
        <p:txBody>
          <a:bodyPr/>
          <a:lstStyle/>
          <a:p>
            <a:endParaRPr lang="en-US"/>
          </a:p>
        </p:txBody>
      </p:sp>
      <p:sp>
        <p:nvSpPr>
          <p:cNvPr id="7" name="Text 5"/>
          <p:cNvSpPr/>
          <p:nvPr/>
        </p:nvSpPr>
        <p:spPr>
          <a:xfrm>
            <a:off x="594360" y="1828800"/>
            <a:ext cx="2377440" cy="228600"/>
          </a:xfrm>
          <a:prstGeom prst="rect">
            <a:avLst/>
          </a:prstGeom>
          <a:noFill/>
          <a:ln/>
        </p:spPr>
        <p:txBody>
          <a:bodyPr wrap="square" lIns="0" tIns="0" rIns="0" bIns="0" rtlCol="0" anchor="ctr"/>
          <a:lstStyle/>
          <a:p>
            <a:pPr marL="0" indent="0">
              <a:buNone/>
            </a:pPr>
            <a:r>
              <a:rPr lang="en-US" sz="900" b="1" kern="0" spc="600" dirty="0">
                <a:solidFill>
                  <a:srgbClr val="B6F569"/>
                </a:solidFill>
                <a:latin typeface="Helvetica Neue" pitchFamily="34" charset="0"/>
                <a:ea typeface="Helvetica Neue" pitchFamily="34" charset="-122"/>
                <a:cs typeface="Helvetica Neue" pitchFamily="34" charset="-120"/>
              </a:rPr>
              <a:t>STREAM 1</a:t>
            </a:r>
            <a:endParaRPr lang="en-US" sz="900" dirty="0"/>
          </a:p>
        </p:txBody>
      </p:sp>
      <p:sp>
        <p:nvSpPr>
          <p:cNvPr id="8" name="Text 6"/>
          <p:cNvSpPr/>
          <p:nvPr/>
        </p:nvSpPr>
        <p:spPr>
          <a:xfrm>
            <a:off x="594360" y="2057400"/>
            <a:ext cx="2377440" cy="41148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Athlete subscription</a:t>
            </a:r>
            <a:endParaRPr lang="en-US" sz="1300" dirty="0"/>
          </a:p>
        </p:txBody>
      </p:sp>
      <p:sp>
        <p:nvSpPr>
          <p:cNvPr id="9" name="Text 7"/>
          <p:cNvSpPr/>
          <p:nvPr/>
        </p:nvSpPr>
        <p:spPr>
          <a:xfrm>
            <a:off x="594360" y="2560320"/>
            <a:ext cx="2468880" cy="16916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Counseling tier · $99/mo — async + monthly 1:1</a:t>
            </a:r>
            <a:endParaRPr lang="en-US" sz="1000" dirty="0"/>
          </a:p>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Performance tier · $249/mo — adds N-of-1 trials, capsules included</a:t>
            </a:r>
            <a:endParaRPr lang="en-US" sz="1000" dirty="0"/>
          </a:p>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Elite tier · custom — for pro teams &amp; federations</a:t>
            </a:r>
            <a:endParaRPr lang="en-US" sz="1000" dirty="0"/>
          </a:p>
        </p:txBody>
      </p:sp>
      <p:sp>
        <p:nvSpPr>
          <p:cNvPr id="10" name="Shape 8"/>
          <p:cNvSpPr/>
          <p:nvPr/>
        </p:nvSpPr>
        <p:spPr>
          <a:xfrm>
            <a:off x="594360" y="4297680"/>
            <a:ext cx="2377440" cy="0"/>
          </a:xfrm>
          <a:prstGeom prst="line">
            <a:avLst/>
          </a:prstGeom>
          <a:noFill/>
          <a:ln w="6350">
            <a:solidFill>
              <a:srgbClr val="2A3441"/>
            </a:solidFill>
            <a:prstDash val="solid"/>
          </a:ln>
        </p:spPr>
        <p:txBody>
          <a:bodyPr/>
          <a:lstStyle/>
          <a:p>
            <a:endParaRPr lang="en-US"/>
          </a:p>
        </p:txBody>
      </p:sp>
      <p:sp>
        <p:nvSpPr>
          <p:cNvPr id="11" name="Text 9"/>
          <p:cNvSpPr/>
          <p:nvPr/>
        </p:nvSpPr>
        <p:spPr>
          <a:xfrm>
            <a:off x="594360" y="4370832"/>
            <a:ext cx="2377440" cy="365760"/>
          </a:xfrm>
          <a:prstGeom prst="rect">
            <a:avLst/>
          </a:prstGeom>
          <a:noFill/>
          <a:ln/>
        </p:spPr>
        <p:txBody>
          <a:bodyPr wrap="square" lIns="0" tIns="0" rIns="0" bIns="0" rtlCol="0" anchor="ctr"/>
          <a:lstStyle/>
          <a:p>
            <a:pPr marL="0" indent="0">
              <a:buNone/>
            </a:pPr>
            <a:r>
              <a:rPr lang="en-US" sz="950" i="1" dirty="0">
                <a:solidFill>
                  <a:srgbClr val="8B96A6"/>
                </a:solidFill>
                <a:latin typeface="Calibri" pitchFamily="34" charset="0"/>
                <a:ea typeface="Calibri" pitchFamily="34" charset="-122"/>
                <a:cs typeface="Calibri" pitchFamily="34" charset="-120"/>
              </a:rPr>
              <a:t>Target: 6,000 paid athletes by month 24</a:t>
            </a:r>
            <a:endParaRPr lang="en-US" sz="950" dirty="0"/>
          </a:p>
        </p:txBody>
      </p:sp>
      <p:sp>
        <p:nvSpPr>
          <p:cNvPr id="12" name="Shape 10"/>
          <p:cNvSpPr/>
          <p:nvPr/>
        </p:nvSpPr>
        <p:spPr>
          <a:xfrm>
            <a:off x="3337560" y="1691640"/>
            <a:ext cx="2743200" cy="3017520"/>
          </a:xfrm>
          <a:prstGeom prst="rect">
            <a:avLst/>
          </a:prstGeom>
          <a:solidFill>
            <a:srgbClr val="161D27"/>
          </a:solidFill>
          <a:ln w="9525">
            <a:solidFill>
              <a:srgbClr val="2A3441"/>
            </a:solidFill>
            <a:prstDash val="solid"/>
          </a:ln>
        </p:spPr>
        <p:txBody>
          <a:bodyPr/>
          <a:lstStyle/>
          <a:p>
            <a:endParaRPr lang="en-US"/>
          </a:p>
        </p:txBody>
      </p:sp>
      <p:sp>
        <p:nvSpPr>
          <p:cNvPr id="13" name="Shape 11"/>
          <p:cNvSpPr/>
          <p:nvPr/>
        </p:nvSpPr>
        <p:spPr>
          <a:xfrm>
            <a:off x="3337560" y="1691640"/>
            <a:ext cx="2743200" cy="54864"/>
          </a:xfrm>
          <a:prstGeom prst="rect">
            <a:avLst/>
          </a:prstGeom>
          <a:solidFill>
            <a:srgbClr val="67E8F9"/>
          </a:solidFill>
          <a:ln w="12700">
            <a:solidFill>
              <a:srgbClr val="67E8F9"/>
            </a:solidFill>
            <a:prstDash val="solid"/>
          </a:ln>
        </p:spPr>
        <p:txBody>
          <a:bodyPr/>
          <a:lstStyle/>
          <a:p>
            <a:endParaRPr lang="en-US"/>
          </a:p>
        </p:txBody>
      </p:sp>
      <p:sp>
        <p:nvSpPr>
          <p:cNvPr id="14" name="Text 12"/>
          <p:cNvSpPr/>
          <p:nvPr/>
        </p:nvSpPr>
        <p:spPr>
          <a:xfrm>
            <a:off x="3520440" y="1828800"/>
            <a:ext cx="2377440" cy="228600"/>
          </a:xfrm>
          <a:prstGeom prst="rect">
            <a:avLst/>
          </a:prstGeom>
          <a:noFill/>
          <a:ln/>
        </p:spPr>
        <p:txBody>
          <a:bodyPr wrap="square" lIns="0" tIns="0" rIns="0" bIns="0" rtlCol="0" anchor="ctr"/>
          <a:lstStyle/>
          <a:p>
            <a:pPr marL="0" indent="0">
              <a:buNone/>
            </a:pPr>
            <a:r>
              <a:rPr lang="en-US" sz="900" b="1" kern="0" spc="600" dirty="0">
                <a:solidFill>
                  <a:srgbClr val="67E8F9"/>
                </a:solidFill>
                <a:latin typeface="Helvetica Neue" pitchFamily="34" charset="0"/>
                <a:ea typeface="Helvetica Neue" pitchFamily="34" charset="-122"/>
                <a:cs typeface="Helvetica Neue" pitchFamily="34" charset="-120"/>
              </a:rPr>
              <a:t>STREAM 2</a:t>
            </a:r>
            <a:endParaRPr lang="en-US" sz="900" dirty="0"/>
          </a:p>
        </p:txBody>
      </p:sp>
      <p:sp>
        <p:nvSpPr>
          <p:cNvPr id="15" name="Text 13"/>
          <p:cNvSpPr/>
          <p:nvPr/>
        </p:nvSpPr>
        <p:spPr>
          <a:xfrm>
            <a:off x="3520440" y="2057400"/>
            <a:ext cx="2377440" cy="41148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Industry-funded trials</a:t>
            </a:r>
            <a:endParaRPr lang="en-US" sz="1300" dirty="0"/>
          </a:p>
        </p:txBody>
      </p:sp>
      <p:sp>
        <p:nvSpPr>
          <p:cNvPr id="16" name="Text 14"/>
          <p:cNvSpPr/>
          <p:nvPr/>
        </p:nvSpPr>
        <p:spPr>
          <a:xfrm>
            <a:off x="3520440" y="2560320"/>
            <a:ext cx="2468880" cy="16916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Premium supplement brands fund N-of-1 cohorts on their products</a:t>
            </a:r>
            <a:endParaRPr lang="en-US" sz="1000" dirty="0"/>
          </a:p>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Athletes opt in, get the trial free, retain individual results</a:t>
            </a:r>
            <a:endParaRPr lang="en-US" sz="1000" dirty="0"/>
          </a:p>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Brand gets credible distributed evidence — not pay-to-play</a:t>
            </a:r>
            <a:endParaRPr lang="en-US" sz="1000" dirty="0"/>
          </a:p>
        </p:txBody>
      </p:sp>
      <p:sp>
        <p:nvSpPr>
          <p:cNvPr id="17" name="Shape 15"/>
          <p:cNvSpPr/>
          <p:nvPr/>
        </p:nvSpPr>
        <p:spPr>
          <a:xfrm>
            <a:off x="3520440" y="4297680"/>
            <a:ext cx="2377440" cy="0"/>
          </a:xfrm>
          <a:prstGeom prst="line">
            <a:avLst/>
          </a:prstGeom>
          <a:noFill/>
          <a:ln w="6350">
            <a:solidFill>
              <a:srgbClr val="2A3441"/>
            </a:solidFill>
            <a:prstDash val="solid"/>
          </a:ln>
        </p:spPr>
        <p:txBody>
          <a:bodyPr/>
          <a:lstStyle/>
          <a:p>
            <a:endParaRPr lang="en-US"/>
          </a:p>
        </p:txBody>
      </p:sp>
      <p:sp>
        <p:nvSpPr>
          <p:cNvPr id="18" name="Text 16"/>
          <p:cNvSpPr/>
          <p:nvPr/>
        </p:nvSpPr>
        <p:spPr>
          <a:xfrm>
            <a:off x="3520440" y="4370832"/>
            <a:ext cx="2377440" cy="365760"/>
          </a:xfrm>
          <a:prstGeom prst="rect">
            <a:avLst/>
          </a:prstGeom>
          <a:noFill/>
          <a:ln/>
        </p:spPr>
        <p:txBody>
          <a:bodyPr wrap="square" lIns="0" tIns="0" rIns="0" bIns="0" rtlCol="0" anchor="ctr"/>
          <a:lstStyle/>
          <a:p>
            <a:pPr marL="0" indent="0">
              <a:buNone/>
            </a:pPr>
            <a:r>
              <a:rPr lang="en-US" sz="950" i="1" dirty="0">
                <a:solidFill>
                  <a:srgbClr val="8B96A6"/>
                </a:solidFill>
                <a:latin typeface="Calibri" pitchFamily="34" charset="0"/>
                <a:ea typeface="Calibri" pitchFamily="34" charset="-122"/>
                <a:cs typeface="Calibri" pitchFamily="34" charset="-120"/>
              </a:rPr>
              <a:t>Maurten, Precision Fuel, Beam, Momentous as launch targets</a:t>
            </a:r>
            <a:endParaRPr lang="en-US" sz="950" dirty="0"/>
          </a:p>
        </p:txBody>
      </p:sp>
      <p:sp>
        <p:nvSpPr>
          <p:cNvPr id="19" name="Shape 17"/>
          <p:cNvSpPr/>
          <p:nvPr/>
        </p:nvSpPr>
        <p:spPr>
          <a:xfrm>
            <a:off x="6263640" y="1691640"/>
            <a:ext cx="2743200" cy="3017520"/>
          </a:xfrm>
          <a:prstGeom prst="rect">
            <a:avLst/>
          </a:prstGeom>
          <a:solidFill>
            <a:srgbClr val="161D27"/>
          </a:solidFill>
          <a:ln w="9525">
            <a:solidFill>
              <a:srgbClr val="2A3441"/>
            </a:solidFill>
            <a:prstDash val="solid"/>
          </a:ln>
        </p:spPr>
        <p:txBody>
          <a:bodyPr/>
          <a:lstStyle/>
          <a:p>
            <a:endParaRPr lang="en-US"/>
          </a:p>
        </p:txBody>
      </p:sp>
      <p:sp>
        <p:nvSpPr>
          <p:cNvPr id="20" name="Shape 18"/>
          <p:cNvSpPr/>
          <p:nvPr/>
        </p:nvSpPr>
        <p:spPr>
          <a:xfrm>
            <a:off x="6263640" y="1691640"/>
            <a:ext cx="2743200" cy="54864"/>
          </a:xfrm>
          <a:prstGeom prst="rect">
            <a:avLst/>
          </a:prstGeom>
          <a:solidFill>
            <a:srgbClr val="FCD34D"/>
          </a:solidFill>
          <a:ln w="12700">
            <a:solidFill>
              <a:srgbClr val="FCD34D"/>
            </a:solidFill>
            <a:prstDash val="solid"/>
          </a:ln>
        </p:spPr>
        <p:txBody>
          <a:bodyPr/>
          <a:lstStyle/>
          <a:p>
            <a:endParaRPr lang="en-US"/>
          </a:p>
        </p:txBody>
      </p:sp>
      <p:sp>
        <p:nvSpPr>
          <p:cNvPr id="21" name="Text 19"/>
          <p:cNvSpPr/>
          <p:nvPr/>
        </p:nvSpPr>
        <p:spPr>
          <a:xfrm>
            <a:off x="6446520" y="1828800"/>
            <a:ext cx="2377440" cy="228600"/>
          </a:xfrm>
          <a:prstGeom prst="rect">
            <a:avLst/>
          </a:prstGeom>
          <a:noFill/>
          <a:ln/>
        </p:spPr>
        <p:txBody>
          <a:bodyPr wrap="square" lIns="0" tIns="0" rIns="0" bIns="0" rtlCol="0" anchor="ctr"/>
          <a:lstStyle/>
          <a:p>
            <a:pPr marL="0" indent="0">
              <a:buNone/>
            </a:pPr>
            <a:r>
              <a:rPr lang="en-US" sz="900" b="1" kern="0" spc="600" dirty="0">
                <a:solidFill>
                  <a:srgbClr val="FCD34D"/>
                </a:solidFill>
                <a:latin typeface="Helvetica Neue" pitchFamily="34" charset="0"/>
                <a:ea typeface="Helvetica Neue" pitchFamily="34" charset="-122"/>
                <a:cs typeface="Helvetica Neue" pitchFamily="34" charset="-120"/>
              </a:rPr>
              <a:t>STREAM 3</a:t>
            </a:r>
            <a:endParaRPr lang="en-US" sz="900" dirty="0"/>
          </a:p>
        </p:txBody>
      </p:sp>
      <p:sp>
        <p:nvSpPr>
          <p:cNvPr id="22" name="Text 20"/>
          <p:cNvSpPr/>
          <p:nvPr/>
        </p:nvSpPr>
        <p:spPr>
          <a:xfrm>
            <a:off x="6446520" y="2057400"/>
            <a:ext cx="2377440" cy="411480"/>
          </a:xfrm>
          <a:prstGeom prst="rect">
            <a:avLst/>
          </a:prstGeom>
          <a:noFill/>
          <a:ln/>
        </p:spPr>
        <p:txBody>
          <a:bodyPr wrap="square" lIns="0" tIns="0" rIns="0" bIns="0" rtlCol="0" anchor="ctr"/>
          <a:lstStyle/>
          <a:p>
            <a:pPr marL="0" indent="0">
              <a:buNone/>
            </a:pPr>
            <a:r>
              <a:rPr lang="en-US" sz="1300" b="1" dirty="0">
                <a:solidFill>
                  <a:srgbClr val="F4F7FB"/>
                </a:solidFill>
                <a:latin typeface="Helvetica Neue" pitchFamily="34" charset="0"/>
                <a:ea typeface="Helvetica Neue" pitchFamily="34" charset="-122"/>
                <a:cs typeface="Helvetica Neue" pitchFamily="34" charset="-120"/>
              </a:rPr>
              <a:t>Real-world evidence dataset</a:t>
            </a:r>
            <a:endParaRPr lang="en-US" sz="1300" dirty="0"/>
          </a:p>
        </p:txBody>
      </p:sp>
      <p:sp>
        <p:nvSpPr>
          <p:cNvPr id="23" name="Text 21"/>
          <p:cNvSpPr/>
          <p:nvPr/>
        </p:nvSpPr>
        <p:spPr>
          <a:xfrm>
            <a:off x="6446520" y="2560320"/>
            <a:ext cx="2468880" cy="169164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Anonymized, governance-board-controlled access</a:t>
            </a:r>
            <a:endParaRPr lang="en-US" sz="1000" dirty="0"/>
          </a:p>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Sold into pharma sports-medicine, federations, elite teams</a:t>
            </a:r>
            <a:endParaRPr lang="en-US" sz="1000" dirty="0"/>
          </a:p>
          <a:p>
            <a:pPr marL="342900" indent="-342900">
              <a:spcAft>
                <a:spcPts val="400"/>
              </a:spcAft>
              <a:buSzPct val="100000"/>
              <a:buChar char="•"/>
            </a:pPr>
            <a:r>
              <a:rPr lang="en-US" sz="1000" dirty="0">
                <a:solidFill>
                  <a:srgbClr val="C8D1DD"/>
                </a:solidFill>
                <a:latin typeface="Calibri" pitchFamily="34" charset="0"/>
                <a:ea typeface="Calibri" pitchFamily="34" charset="-122"/>
                <a:cs typeface="Calibri" pitchFamily="34" charset="-120"/>
              </a:rPr>
              <a:t>Compounds in value with every trial run on the platform</a:t>
            </a:r>
            <a:endParaRPr lang="en-US" sz="1000" dirty="0"/>
          </a:p>
        </p:txBody>
      </p:sp>
      <p:sp>
        <p:nvSpPr>
          <p:cNvPr id="24" name="Shape 22"/>
          <p:cNvSpPr/>
          <p:nvPr/>
        </p:nvSpPr>
        <p:spPr>
          <a:xfrm>
            <a:off x="6446520" y="4297680"/>
            <a:ext cx="2377440" cy="0"/>
          </a:xfrm>
          <a:prstGeom prst="line">
            <a:avLst/>
          </a:prstGeom>
          <a:noFill/>
          <a:ln w="6350">
            <a:solidFill>
              <a:srgbClr val="2A3441"/>
            </a:solidFill>
            <a:prstDash val="solid"/>
          </a:ln>
        </p:spPr>
        <p:txBody>
          <a:bodyPr/>
          <a:lstStyle/>
          <a:p>
            <a:endParaRPr lang="en-US"/>
          </a:p>
        </p:txBody>
      </p:sp>
      <p:sp>
        <p:nvSpPr>
          <p:cNvPr id="25" name="Text 23"/>
          <p:cNvSpPr/>
          <p:nvPr/>
        </p:nvSpPr>
        <p:spPr>
          <a:xfrm>
            <a:off x="6446520" y="4370832"/>
            <a:ext cx="2377440" cy="365760"/>
          </a:xfrm>
          <a:prstGeom prst="rect">
            <a:avLst/>
          </a:prstGeom>
          <a:noFill/>
          <a:ln/>
        </p:spPr>
        <p:txBody>
          <a:bodyPr wrap="square" lIns="0" tIns="0" rIns="0" bIns="0" rtlCol="0" anchor="ctr"/>
          <a:lstStyle/>
          <a:p>
            <a:pPr marL="0" indent="0">
              <a:buNone/>
            </a:pPr>
            <a:r>
              <a:rPr lang="en-US" sz="950" i="1" dirty="0">
                <a:solidFill>
                  <a:srgbClr val="8B96A6"/>
                </a:solidFill>
                <a:latin typeface="Calibri" pitchFamily="34" charset="0"/>
                <a:ea typeface="Calibri" pitchFamily="34" charset="-122"/>
                <a:cs typeface="Calibri" pitchFamily="34" charset="-120"/>
              </a:rPr>
              <a:t>Defensible flywheel — data quality grows with cohort</a:t>
            </a:r>
            <a:endParaRPr lang="en-US" sz="950" dirty="0"/>
          </a:p>
        </p:txBody>
      </p:sp>
      <p:sp>
        <p:nvSpPr>
          <p:cNvPr id="26" name="Text 24"/>
          <p:cNvSpPr/>
          <p:nvPr/>
        </p:nvSpPr>
        <p:spPr>
          <a:xfrm>
            <a:off x="411480" y="4846320"/>
            <a:ext cx="4114800" cy="182880"/>
          </a:xfrm>
          <a:prstGeom prst="rect">
            <a:avLst/>
          </a:prstGeom>
          <a:noFill/>
          <a:ln/>
        </p:spPr>
        <p:txBody>
          <a:bodyPr wrap="square" lIns="0" tIns="0" rIns="0" bIns="0" rtlCol="0" anchor="ctr"/>
          <a:lstStyle/>
          <a:p>
            <a:pPr marL="0" indent="0">
              <a:buNone/>
            </a:pPr>
            <a:r>
              <a:rPr lang="en-US" sz="800" kern="0" spc="400" dirty="0">
                <a:solidFill>
                  <a:srgbClr val="5C6675"/>
                </a:solidFill>
                <a:latin typeface="Helvetica Neue" pitchFamily="34" charset="0"/>
                <a:ea typeface="Helvetica Neue" pitchFamily="34" charset="-122"/>
                <a:cs typeface="Helvetica Neue" pitchFamily="34" charset="-120"/>
              </a:rPr>
              <a:t>GEORGE  ·  by PROVEN</a:t>
            </a:r>
            <a:endParaRPr lang="en-US" sz="800" dirty="0"/>
          </a:p>
        </p:txBody>
      </p:sp>
      <p:sp>
        <p:nvSpPr>
          <p:cNvPr id="27" name="Text 25"/>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13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0A0D12"/>
        </a:solidFill>
        <a:effectLst/>
      </p:bgPr>
    </p:bg>
    <p:spTree>
      <p:nvGrpSpPr>
        <p:cNvPr id="1" name=""/>
        <p:cNvGrpSpPr/>
        <p:nvPr/>
      </p:nvGrpSpPr>
      <p:grpSpPr>
        <a:xfrm>
          <a:off x="0" y="0"/>
          <a:ext cx="0" cy="0"/>
          <a:chOff x="0" y="0"/>
          <a:chExt cx="0" cy="0"/>
        </a:xfrm>
      </p:grpSpPr>
      <p:sp>
        <p:nvSpPr>
          <p:cNvPr id="2" name="Shape 0"/>
          <p:cNvSpPr/>
          <p:nvPr/>
        </p:nvSpPr>
        <p:spPr>
          <a:xfrm>
            <a:off x="-1828800" y="-914400"/>
            <a:ext cx="5486400" cy="4572000"/>
          </a:xfrm>
          <a:prstGeom prst="ellipse">
            <a:avLst/>
          </a:prstGeom>
          <a:solidFill>
            <a:srgbClr val="B6F569">
              <a:alpha val="8000"/>
            </a:srgbClr>
          </a:solidFill>
          <a:ln w="12700">
            <a:solidFill>
              <a:srgbClr val="B6F569"/>
            </a:solidFill>
            <a:prstDash val="solid"/>
          </a:ln>
        </p:spPr>
        <p:txBody>
          <a:bodyPr/>
          <a:lstStyle/>
          <a:p>
            <a:endParaRPr lang="en-US"/>
          </a:p>
        </p:txBody>
      </p:sp>
      <p:sp>
        <p:nvSpPr>
          <p:cNvPr id="3" name="Shape 1"/>
          <p:cNvSpPr/>
          <p:nvPr/>
        </p:nvSpPr>
        <p:spPr>
          <a:xfrm>
            <a:off x="5486400" y="2743200"/>
            <a:ext cx="5486400" cy="3657600"/>
          </a:xfrm>
          <a:prstGeom prst="ellipse">
            <a:avLst/>
          </a:prstGeom>
          <a:solidFill>
            <a:srgbClr val="67E8F9">
              <a:alpha val="6000"/>
            </a:srgbClr>
          </a:solidFill>
          <a:ln w="12700">
            <a:solidFill>
              <a:srgbClr val="67E8F9"/>
            </a:solidFill>
            <a:prstDash val="solid"/>
          </a:ln>
        </p:spPr>
        <p:txBody>
          <a:bodyPr/>
          <a:lstStyle/>
          <a:p>
            <a:endParaRPr lang="en-US"/>
          </a:p>
        </p:txBody>
      </p:sp>
      <p:sp>
        <p:nvSpPr>
          <p:cNvPr id="4" name="Shape 2"/>
          <p:cNvSpPr/>
          <p:nvPr/>
        </p:nvSpPr>
        <p:spPr>
          <a:xfrm>
            <a:off x="411480" y="411480"/>
            <a:ext cx="1106424" cy="274320"/>
          </a:xfrm>
          <a:prstGeom prst="rect">
            <a:avLst/>
          </a:prstGeom>
          <a:solidFill>
            <a:srgbClr val="2A3441"/>
          </a:solidFill>
          <a:ln w="12700">
            <a:solidFill>
              <a:srgbClr val="2A3441"/>
            </a:solidFill>
            <a:prstDash val="solid"/>
          </a:ln>
        </p:spPr>
        <p:txBody>
          <a:bodyPr/>
          <a:lstStyle/>
          <a:p>
            <a:endParaRPr lang="en-US"/>
          </a:p>
        </p:txBody>
      </p:sp>
      <p:sp>
        <p:nvSpPr>
          <p:cNvPr id="5" name="Text 3"/>
          <p:cNvSpPr/>
          <p:nvPr/>
        </p:nvSpPr>
        <p:spPr>
          <a:xfrm>
            <a:off x="411480" y="411480"/>
            <a:ext cx="1106424" cy="274320"/>
          </a:xfrm>
          <a:prstGeom prst="rect">
            <a:avLst/>
          </a:prstGeom>
          <a:noFill/>
          <a:ln/>
        </p:spPr>
        <p:txBody>
          <a:bodyPr wrap="square" lIns="0" tIns="0" rIns="0" bIns="0" rtlCol="0" anchor="ctr"/>
          <a:lstStyle/>
          <a:p>
            <a:pPr marL="0" indent="0" algn="ctr">
              <a:buNone/>
            </a:pPr>
            <a:r>
              <a:rPr lang="en-US" sz="900" b="1" kern="0" spc="600" dirty="0">
                <a:solidFill>
                  <a:srgbClr val="B6F569"/>
                </a:solidFill>
                <a:latin typeface="Helvetica Neue" pitchFamily="34" charset="0"/>
                <a:ea typeface="Helvetica Neue" pitchFamily="34" charset="-122"/>
                <a:cs typeface="Helvetica Neue" pitchFamily="34" charset="-120"/>
              </a:rPr>
              <a:t>THE ASK</a:t>
            </a:r>
            <a:endParaRPr lang="en-US" sz="900" dirty="0"/>
          </a:p>
        </p:txBody>
      </p:sp>
      <p:sp>
        <p:nvSpPr>
          <p:cNvPr id="6" name="Text 4"/>
          <p:cNvSpPr/>
          <p:nvPr/>
        </p:nvSpPr>
        <p:spPr>
          <a:xfrm>
            <a:off x="411480" y="822960"/>
            <a:ext cx="8229600" cy="868680"/>
          </a:xfrm>
          <a:prstGeom prst="rect">
            <a:avLst/>
          </a:prstGeom>
          <a:noFill/>
          <a:ln/>
        </p:spPr>
        <p:txBody>
          <a:bodyPr wrap="square" lIns="0" tIns="0" rIns="0" bIns="0" rtlCol="0" anchor="ctr"/>
          <a:lstStyle/>
          <a:p>
            <a:pPr marL="0" indent="0">
              <a:buNone/>
            </a:pPr>
            <a:r>
              <a:rPr lang="en-US" sz="3600" b="1" dirty="0">
                <a:solidFill>
                  <a:srgbClr val="F4F7FB"/>
                </a:solidFill>
                <a:latin typeface="Helvetica Neue" pitchFamily="34" charset="0"/>
                <a:ea typeface="Helvetica Neue" pitchFamily="34" charset="-122"/>
                <a:cs typeface="Helvetica Neue" pitchFamily="34" charset="-120"/>
              </a:rPr>
              <a:t>Sign up today. Meet George.</a:t>
            </a:r>
            <a:endParaRPr lang="en-US" sz="3600" dirty="0"/>
          </a:p>
        </p:txBody>
      </p:sp>
      <p:sp>
        <p:nvSpPr>
          <p:cNvPr id="7" name="Text 5"/>
          <p:cNvSpPr/>
          <p:nvPr/>
        </p:nvSpPr>
        <p:spPr>
          <a:xfrm>
            <a:off x="411480" y="1783080"/>
            <a:ext cx="8229600" cy="411480"/>
          </a:xfrm>
          <a:prstGeom prst="rect">
            <a:avLst/>
          </a:prstGeom>
          <a:noFill/>
          <a:ln/>
        </p:spPr>
        <p:txBody>
          <a:bodyPr wrap="square" lIns="0" tIns="0" rIns="0" bIns="0" rtlCol="0" anchor="ctr"/>
          <a:lstStyle/>
          <a:p>
            <a:pPr marL="0" indent="0">
              <a:buNone/>
            </a:pPr>
            <a:r>
              <a:rPr lang="en-US" sz="1400" dirty="0">
                <a:solidFill>
                  <a:srgbClr val="C8D1DD"/>
                </a:solidFill>
                <a:latin typeface="Calibri" pitchFamily="34" charset="0"/>
                <a:ea typeface="Calibri" pitchFamily="34" charset="-122"/>
                <a:cs typeface="Calibri" pitchFamily="34" charset="-120"/>
              </a:rPr>
              <a:t>Gain access to world-class expertise. No edge case too hard. No athlete profile too unusual.</a:t>
            </a:r>
            <a:endParaRPr lang="en-US" sz="1400" dirty="0"/>
          </a:p>
        </p:txBody>
      </p:sp>
      <p:sp>
        <p:nvSpPr>
          <p:cNvPr id="8" name="Shape 6"/>
          <p:cNvSpPr/>
          <p:nvPr/>
        </p:nvSpPr>
        <p:spPr>
          <a:xfrm>
            <a:off x="411480" y="2377440"/>
            <a:ext cx="4114800" cy="2103120"/>
          </a:xfrm>
          <a:prstGeom prst="rect">
            <a:avLst/>
          </a:prstGeom>
          <a:solidFill>
            <a:srgbClr val="161D27"/>
          </a:solidFill>
          <a:ln w="9525">
            <a:solidFill>
              <a:srgbClr val="2A3441"/>
            </a:solidFill>
            <a:prstDash val="solid"/>
          </a:ln>
        </p:spPr>
        <p:txBody>
          <a:bodyPr/>
          <a:lstStyle/>
          <a:p>
            <a:endParaRPr lang="en-US"/>
          </a:p>
        </p:txBody>
      </p:sp>
      <p:sp>
        <p:nvSpPr>
          <p:cNvPr id="9" name="Text 7"/>
          <p:cNvSpPr/>
          <p:nvPr/>
        </p:nvSpPr>
        <p:spPr>
          <a:xfrm>
            <a:off x="594360" y="2514600"/>
            <a:ext cx="3657600" cy="228600"/>
          </a:xfrm>
          <a:prstGeom prst="rect">
            <a:avLst/>
          </a:prstGeom>
          <a:noFill/>
          <a:ln/>
        </p:spPr>
        <p:txBody>
          <a:bodyPr wrap="square" lIns="0" tIns="0" rIns="0" bIns="0" rtlCol="0" anchor="ctr"/>
          <a:lstStyle/>
          <a:p>
            <a:pPr marL="0" indent="0">
              <a:buNone/>
            </a:pPr>
            <a:r>
              <a:rPr lang="en-US" sz="900" b="1" kern="0" spc="600" dirty="0">
                <a:solidFill>
                  <a:srgbClr val="B6F569"/>
                </a:solidFill>
                <a:latin typeface="Helvetica Neue" pitchFamily="34" charset="0"/>
                <a:ea typeface="Helvetica Neue" pitchFamily="34" charset="-122"/>
                <a:cs typeface="Helvetica Neue" pitchFamily="34" charset="-120"/>
              </a:rPr>
              <a:t>RAISE</a:t>
            </a:r>
            <a:endParaRPr lang="en-US" sz="900" dirty="0"/>
          </a:p>
        </p:txBody>
      </p:sp>
      <p:sp>
        <p:nvSpPr>
          <p:cNvPr id="10" name="Text 8"/>
          <p:cNvSpPr/>
          <p:nvPr/>
        </p:nvSpPr>
        <p:spPr>
          <a:xfrm>
            <a:off x="594360" y="2743200"/>
            <a:ext cx="3840480" cy="914400"/>
          </a:xfrm>
          <a:prstGeom prst="rect">
            <a:avLst/>
          </a:prstGeom>
          <a:noFill/>
          <a:ln/>
        </p:spPr>
        <p:txBody>
          <a:bodyPr wrap="square" lIns="0" tIns="0" rIns="0" bIns="0" rtlCol="0" anchor="ctr"/>
          <a:lstStyle/>
          <a:p>
            <a:pPr marL="0" indent="0">
              <a:buNone/>
            </a:pPr>
            <a:r>
              <a:rPr lang="en-US" sz="5400" b="1" dirty="0">
                <a:solidFill>
                  <a:srgbClr val="F4F7FB"/>
                </a:solidFill>
                <a:latin typeface="Helvetica Neue" pitchFamily="34" charset="0"/>
                <a:ea typeface="Helvetica Neue" pitchFamily="34" charset="-122"/>
                <a:cs typeface="Helvetica Neue" pitchFamily="34" charset="-120"/>
              </a:rPr>
              <a:t>$</a:t>
            </a:r>
            <a:r>
              <a:rPr lang="en-US" sz="5400" b="1" dirty="0">
                <a:solidFill>
                  <a:srgbClr val="B6F569"/>
                </a:solidFill>
                <a:latin typeface="Helvetica Neue" pitchFamily="34" charset="0"/>
                <a:ea typeface="Helvetica Neue" pitchFamily="34" charset="-122"/>
                <a:cs typeface="Helvetica Neue" pitchFamily="34" charset="-120"/>
              </a:rPr>
              <a:t> X </a:t>
            </a:r>
            <a:r>
              <a:rPr lang="en-US" sz="5400" b="1" dirty="0">
                <a:solidFill>
                  <a:srgbClr val="F4F7FB"/>
                </a:solidFill>
                <a:latin typeface="Helvetica Neue" pitchFamily="34" charset="0"/>
                <a:ea typeface="Helvetica Neue" pitchFamily="34" charset="-122"/>
                <a:cs typeface="Helvetica Neue" pitchFamily="34" charset="-120"/>
              </a:rPr>
              <a:t>M</a:t>
            </a:r>
            <a:endParaRPr lang="en-US" sz="5400" dirty="0"/>
          </a:p>
        </p:txBody>
      </p:sp>
      <p:sp>
        <p:nvSpPr>
          <p:cNvPr id="11" name="Text 9"/>
          <p:cNvSpPr/>
          <p:nvPr/>
        </p:nvSpPr>
        <p:spPr>
          <a:xfrm>
            <a:off x="594360" y="3703320"/>
            <a:ext cx="3657600" cy="228600"/>
          </a:xfrm>
          <a:prstGeom prst="rect">
            <a:avLst/>
          </a:prstGeom>
          <a:noFill/>
          <a:ln/>
        </p:spPr>
        <p:txBody>
          <a:bodyPr wrap="square" lIns="0" tIns="0" rIns="0" bIns="0" rtlCol="0" anchor="ctr"/>
          <a:lstStyle/>
          <a:p>
            <a:pPr marL="0" indent="0">
              <a:buNone/>
            </a:pPr>
            <a:r>
              <a:rPr lang="en-US" sz="1000" i="1" dirty="0">
                <a:solidFill>
                  <a:srgbClr val="5C6675"/>
                </a:solidFill>
                <a:latin typeface="Calibri" pitchFamily="34" charset="0"/>
                <a:ea typeface="Calibri" pitchFamily="34" charset="-122"/>
                <a:cs typeface="Calibri" pitchFamily="34" charset="-120"/>
              </a:rPr>
              <a:t>replace X with raise size</a:t>
            </a:r>
            <a:endParaRPr lang="en-US" sz="1000" dirty="0"/>
          </a:p>
        </p:txBody>
      </p:sp>
      <p:sp>
        <p:nvSpPr>
          <p:cNvPr id="12" name="Text 10"/>
          <p:cNvSpPr/>
          <p:nvPr/>
        </p:nvSpPr>
        <p:spPr>
          <a:xfrm>
            <a:off x="594360" y="3977640"/>
            <a:ext cx="3840480" cy="411480"/>
          </a:xfrm>
          <a:prstGeom prst="rect">
            <a:avLst/>
          </a:prstGeom>
          <a:noFill/>
          <a:ln/>
        </p:spPr>
        <p:txBody>
          <a:bodyPr wrap="square" lIns="0" tIns="0" rIns="0" bIns="0" rtlCol="0" anchor="ctr"/>
          <a:lstStyle/>
          <a:p>
            <a:pPr marL="0" indent="0">
              <a:buNone/>
            </a:pPr>
            <a:r>
              <a:rPr lang="en-US" sz="1100" dirty="0">
                <a:solidFill>
                  <a:srgbClr val="8B96A6"/>
                </a:solidFill>
                <a:latin typeface="Calibri" pitchFamily="34" charset="0"/>
                <a:ea typeface="Calibri" pitchFamily="34" charset="-122"/>
                <a:cs typeface="Calibri" pitchFamily="34" charset="-120"/>
              </a:rPr>
              <a:t>on a [____] valuation cap, target close [____].</a:t>
            </a:r>
            <a:endParaRPr lang="en-US" sz="1100" dirty="0"/>
          </a:p>
        </p:txBody>
      </p:sp>
      <p:sp>
        <p:nvSpPr>
          <p:cNvPr id="13" name="Shape 11"/>
          <p:cNvSpPr/>
          <p:nvPr/>
        </p:nvSpPr>
        <p:spPr>
          <a:xfrm>
            <a:off x="4663440" y="2377440"/>
            <a:ext cx="4069080" cy="2103120"/>
          </a:xfrm>
          <a:prstGeom prst="rect">
            <a:avLst/>
          </a:prstGeom>
          <a:solidFill>
            <a:srgbClr val="161D27"/>
          </a:solidFill>
          <a:ln w="9525">
            <a:solidFill>
              <a:srgbClr val="2A3441"/>
            </a:solidFill>
            <a:prstDash val="solid"/>
          </a:ln>
        </p:spPr>
        <p:txBody>
          <a:bodyPr/>
          <a:lstStyle/>
          <a:p>
            <a:endParaRPr lang="en-US"/>
          </a:p>
        </p:txBody>
      </p:sp>
      <p:sp>
        <p:nvSpPr>
          <p:cNvPr id="14" name="Text 12"/>
          <p:cNvSpPr/>
          <p:nvPr/>
        </p:nvSpPr>
        <p:spPr>
          <a:xfrm>
            <a:off x="4846320" y="2514600"/>
            <a:ext cx="3657600" cy="228600"/>
          </a:xfrm>
          <a:prstGeom prst="rect">
            <a:avLst/>
          </a:prstGeom>
          <a:noFill/>
          <a:ln/>
        </p:spPr>
        <p:txBody>
          <a:bodyPr wrap="square" lIns="0" tIns="0" rIns="0" bIns="0" rtlCol="0" anchor="ctr"/>
          <a:lstStyle/>
          <a:p>
            <a:pPr marL="0" indent="0">
              <a:buNone/>
            </a:pPr>
            <a:r>
              <a:rPr lang="en-US" sz="900" b="1" kern="0" spc="600" dirty="0">
                <a:solidFill>
                  <a:srgbClr val="67E8F9"/>
                </a:solidFill>
                <a:latin typeface="Helvetica Neue" pitchFamily="34" charset="0"/>
                <a:ea typeface="Helvetica Neue" pitchFamily="34" charset="-122"/>
                <a:cs typeface="Helvetica Neue" pitchFamily="34" charset="-120"/>
              </a:rPr>
              <a:t>USE OF FUNDS</a:t>
            </a:r>
            <a:endParaRPr lang="en-US" sz="900" dirty="0"/>
          </a:p>
        </p:txBody>
      </p:sp>
      <p:sp>
        <p:nvSpPr>
          <p:cNvPr id="15" name="Text 13"/>
          <p:cNvSpPr/>
          <p:nvPr/>
        </p:nvSpPr>
        <p:spPr>
          <a:xfrm>
            <a:off x="4846320" y="2788920"/>
            <a:ext cx="502920" cy="274320"/>
          </a:xfrm>
          <a:prstGeom prst="rect">
            <a:avLst/>
          </a:prstGeom>
          <a:noFill/>
          <a:ln/>
        </p:spPr>
        <p:txBody>
          <a:bodyPr wrap="square" lIns="0" tIns="0" rIns="0" bIns="0" rtlCol="0" anchor="ctr"/>
          <a:lstStyle/>
          <a:p>
            <a:pPr marL="0" indent="0">
              <a:buNone/>
            </a:pPr>
            <a:r>
              <a:rPr lang="en-US" sz="1100" b="1" dirty="0">
                <a:solidFill>
                  <a:srgbClr val="B6F569"/>
                </a:solidFill>
                <a:latin typeface="Helvetica Neue" pitchFamily="34" charset="0"/>
                <a:ea typeface="Helvetica Neue" pitchFamily="34" charset="-122"/>
                <a:cs typeface="Helvetica Neue" pitchFamily="34" charset="-120"/>
              </a:rPr>
              <a:t>__%</a:t>
            </a:r>
            <a:endParaRPr lang="en-US" sz="1100" dirty="0"/>
          </a:p>
        </p:txBody>
      </p:sp>
      <p:sp>
        <p:nvSpPr>
          <p:cNvPr id="16" name="Text 14"/>
          <p:cNvSpPr/>
          <p:nvPr/>
        </p:nvSpPr>
        <p:spPr>
          <a:xfrm>
            <a:off x="5349240" y="2788920"/>
            <a:ext cx="3246120" cy="292608"/>
          </a:xfrm>
          <a:prstGeom prst="rect">
            <a:avLst/>
          </a:prstGeom>
          <a:noFill/>
          <a:ln/>
        </p:spPr>
        <p:txBody>
          <a:bodyPr wrap="square" lIns="0" tIns="0" rIns="0" bIns="0" rtlCol="0" anchor="ctr"/>
          <a:lstStyle/>
          <a:p>
            <a:pPr marL="0" indent="0">
              <a:buNone/>
            </a:pPr>
            <a:r>
              <a:rPr lang="en-US" sz="1000" dirty="0">
                <a:solidFill>
                  <a:srgbClr val="C8D1DD"/>
                </a:solidFill>
                <a:latin typeface="Calibri" pitchFamily="34" charset="0"/>
                <a:ea typeface="Calibri" pitchFamily="34" charset="-122"/>
                <a:cs typeface="Calibri" pitchFamily="34" charset="-120"/>
              </a:rPr>
              <a:t>Platform engineering — connector layer, trial engine, coach console</a:t>
            </a:r>
            <a:endParaRPr lang="en-US" sz="1000" dirty="0"/>
          </a:p>
        </p:txBody>
      </p:sp>
      <p:sp>
        <p:nvSpPr>
          <p:cNvPr id="17" name="Text 15"/>
          <p:cNvSpPr/>
          <p:nvPr/>
        </p:nvSpPr>
        <p:spPr>
          <a:xfrm>
            <a:off x="4846320" y="3118104"/>
            <a:ext cx="502920" cy="274320"/>
          </a:xfrm>
          <a:prstGeom prst="rect">
            <a:avLst/>
          </a:prstGeom>
          <a:noFill/>
          <a:ln/>
        </p:spPr>
        <p:txBody>
          <a:bodyPr wrap="square" lIns="0" tIns="0" rIns="0" bIns="0" rtlCol="0" anchor="ctr"/>
          <a:lstStyle/>
          <a:p>
            <a:pPr marL="0" indent="0">
              <a:buNone/>
            </a:pPr>
            <a:r>
              <a:rPr lang="en-US" sz="1100" b="1" dirty="0">
                <a:solidFill>
                  <a:srgbClr val="B6F569"/>
                </a:solidFill>
                <a:latin typeface="Helvetica Neue" pitchFamily="34" charset="0"/>
                <a:ea typeface="Helvetica Neue" pitchFamily="34" charset="-122"/>
                <a:cs typeface="Helvetica Neue" pitchFamily="34" charset="-120"/>
              </a:rPr>
              <a:t>__%</a:t>
            </a:r>
            <a:endParaRPr lang="en-US" sz="1100" dirty="0"/>
          </a:p>
        </p:txBody>
      </p:sp>
      <p:sp>
        <p:nvSpPr>
          <p:cNvPr id="18" name="Text 16"/>
          <p:cNvSpPr/>
          <p:nvPr/>
        </p:nvSpPr>
        <p:spPr>
          <a:xfrm>
            <a:off x="5349240" y="3118104"/>
            <a:ext cx="3246120" cy="292608"/>
          </a:xfrm>
          <a:prstGeom prst="rect">
            <a:avLst/>
          </a:prstGeom>
          <a:noFill/>
          <a:ln/>
        </p:spPr>
        <p:txBody>
          <a:bodyPr wrap="square" lIns="0" tIns="0" rIns="0" bIns="0" rtlCol="0" anchor="ctr"/>
          <a:lstStyle/>
          <a:p>
            <a:pPr marL="0" indent="0">
              <a:buNone/>
            </a:pPr>
            <a:r>
              <a:rPr lang="en-US" sz="1000" dirty="0">
                <a:solidFill>
                  <a:srgbClr val="C8D1DD"/>
                </a:solidFill>
                <a:latin typeface="Calibri" pitchFamily="34" charset="0"/>
                <a:ea typeface="Calibri" pitchFamily="34" charset="-122"/>
                <a:cs typeface="Calibri" pitchFamily="34" charset="-120"/>
              </a:rPr>
              <a:t>Science panel + protocol library — Burke + 4 chairs, 25 protocols</a:t>
            </a:r>
            <a:endParaRPr lang="en-US" sz="1000" dirty="0"/>
          </a:p>
        </p:txBody>
      </p:sp>
      <p:sp>
        <p:nvSpPr>
          <p:cNvPr id="19" name="Text 17"/>
          <p:cNvSpPr/>
          <p:nvPr/>
        </p:nvSpPr>
        <p:spPr>
          <a:xfrm>
            <a:off x="4846320" y="3447288"/>
            <a:ext cx="502920" cy="274320"/>
          </a:xfrm>
          <a:prstGeom prst="rect">
            <a:avLst/>
          </a:prstGeom>
          <a:noFill/>
          <a:ln/>
        </p:spPr>
        <p:txBody>
          <a:bodyPr wrap="square" lIns="0" tIns="0" rIns="0" bIns="0" rtlCol="0" anchor="ctr"/>
          <a:lstStyle/>
          <a:p>
            <a:pPr marL="0" indent="0">
              <a:buNone/>
            </a:pPr>
            <a:r>
              <a:rPr lang="en-US" sz="1100" b="1" dirty="0">
                <a:solidFill>
                  <a:srgbClr val="B6F569"/>
                </a:solidFill>
                <a:latin typeface="Helvetica Neue" pitchFamily="34" charset="0"/>
                <a:ea typeface="Helvetica Neue" pitchFamily="34" charset="-122"/>
                <a:cs typeface="Helvetica Neue" pitchFamily="34" charset="-120"/>
              </a:rPr>
              <a:t>__%</a:t>
            </a:r>
            <a:endParaRPr lang="en-US" sz="1100" dirty="0"/>
          </a:p>
        </p:txBody>
      </p:sp>
      <p:sp>
        <p:nvSpPr>
          <p:cNvPr id="20" name="Text 18"/>
          <p:cNvSpPr/>
          <p:nvPr/>
        </p:nvSpPr>
        <p:spPr>
          <a:xfrm>
            <a:off x="5349240" y="3447288"/>
            <a:ext cx="3246120" cy="292608"/>
          </a:xfrm>
          <a:prstGeom prst="rect">
            <a:avLst/>
          </a:prstGeom>
          <a:noFill/>
          <a:ln/>
        </p:spPr>
        <p:txBody>
          <a:bodyPr wrap="square" lIns="0" tIns="0" rIns="0" bIns="0" rtlCol="0" anchor="ctr"/>
          <a:lstStyle/>
          <a:p>
            <a:pPr marL="0" indent="0">
              <a:buNone/>
            </a:pPr>
            <a:r>
              <a:rPr lang="en-US" sz="1000" dirty="0">
                <a:solidFill>
                  <a:srgbClr val="C8D1DD"/>
                </a:solidFill>
                <a:latin typeface="Calibri" pitchFamily="34" charset="0"/>
                <a:ea typeface="Calibri" pitchFamily="34" charset="-122"/>
                <a:cs typeface="Calibri" pitchFamily="34" charset="-120"/>
              </a:rPr>
              <a:t>Clinical operations — capsule supply, blinding, trial logistics</a:t>
            </a:r>
            <a:endParaRPr lang="en-US" sz="1000" dirty="0"/>
          </a:p>
        </p:txBody>
      </p:sp>
      <p:sp>
        <p:nvSpPr>
          <p:cNvPr id="21" name="Text 19"/>
          <p:cNvSpPr/>
          <p:nvPr/>
        </p:nvSpPr>
        <p:spPr>
          <a:xfrm>
            <a:off x="4846320" y="3776472"/>
            <a:ext cx="502920" cy="274320"/>
          </a:xfrm>
          <a:prstGeom prst="rect">
            <a:avLst/>
          </a:prstGeom>
          <a:noFill/>
          <a:ln/>
        </p:spPr>
        <p:txBody>
          <a:bodyPr wrap="square" lIns="0" tIns="0" rIns="0" bIns="0" rtlCol="0" anchor="ctr"/>
          <a:lstStyle/>
          <a:p>
            <a:pPr marL="0" indent="0">
              <a:buNone/>
            </a:pPr>
            <a:r>
              <a:rPr lang="en-US" sz="1100" b="1" dirty="0">
                <a:solidFill>
                  <a:srgbClr val="B6F569"/>
                </a:solidFill>
                <a:latin typeface="Helvetica Neue" pitchFamily="34" charset="0"/>
                <a:ea typeface="Helvetica Neue" pitchFamily="34" charset="-122"/>
                <a:cs typeface="Helvetica Neue" pitchFamily="34" charset="-120"/>
              </a:rPr>
              <a:t>__%</a:t>
            </a:r>
            <a:endParaRPr lang="en-US" sz="1100" dirty="0"/>
          </a:p>
        </p:txBody>
      </p:sp>
      <p:sp>
        <p:nvSpPr>
          <p:cNvPr id="22" name="Text 20"/>
          <p:cNvSpPr/>
          <p:nvPr/>
        </p:nvSpPr>
        <p:spPr>
          <a:xfrm>
            <a:off x="5349240" y="3776472"/>
            <a:ext cx="3246120" cy="292608"/>
          </a:xfrm>
          <a:prstGeom prst="rect">
            <a:avLst/>
          </a:prstGeom>
          <a:noFill/>
          <a:ln/>
        </p:spPr>
        <p:txBody>
          <a:bodyPr wrap="square" lIns="0" tIns="0" rIns="0" bIns="0" rtlCol="0" anchor="ctr"/>
          <a:lstStyle/>
          <a:p>
            <a:pPr marL="0" indent="0">
              <a:buNone/>
            </a:pPr>
            <a:r>
              <a:rPr lang="en-US" sz="1000" dirty="0">
                <a:solidFill>
                  <a:srgbClr val="C8D1DD"/>
                </a:solidFill>
                <a:latin typeface="Calibri" pitchFamily="34" charset="0"/>
                <a:ea typeface="Calibri" pitchFamily="34" charset="-122"/>
                <a:cs typeface="Calibri" pitchFamily="34" charset="-120"/>
              </a:rPr>
              <a:t>Founding sports-dietitian team — 5 APD/SCAN-credentialed coaches</a:t>
            </a:r>
            <a:endParaRPr lang="en-US" sz="1000" dirty="0"/>
          </a:p>
        </p:txBody>
      </p:sp>
      <p:sp>
        <p:nvSpPr>
          <p:cNvPr id="23" name="Text 21"/>
          <p:cNvSpPr/>
          <p:nvPr/>
        </p:nvSpPr>
        <p:spPr>
          <a:xfrm>
            <a:off x="4846320" y="4105656"/>
            <a:ext cx="502920" cy="274320"/>
          </a:xfrm>
          <a:prstGeom prst="rect">
            <a:avLst/>
          </a:prstGeom>
          <a:noFill/>
          <a:ln/>
        </p:spPr>
        <p:txBody>
          <a:bodyPr wrap="square" lIns="0" tIns="0" rIns="0" bIns="0" rtlCol="0" anchor="ctr"/>
          <a:lstStyle/>
          <a:p>
            <a:pPr marL="0" indent="0">
              <a:buNone/>
            </a:pPr>
            <a:r>
              <a:rPr lang="en-US" sz="1100" b="1" dirty="0">
                <a:solidFill>
                  <a:srgbClr val="B6F569"/>
                </a:solidFill>
                <a:latin typeface="Helvetica Neue" pitchFamily="34" charset="0"/>
                <a:ea typeface="Helvetica Neue" pitchFamily="34" charset="-122"/>
                <a:cs typeface="Helvetica Neue" pitchFamily="34" charset="-120"/>
              </a:rPr>
              <a:t>__%</a:t>
            </a:r>
            <a:endParaRPr lang="en-US" sz="1100" dirty="0"/>
          </a:p>
        </p:txBody>
      </p:sp>
      <p:sp>
        <p:nvSpPr>
          <p:cNvPr id="24" name="Text 22"/>
          <p:cNvSpPr/>
          <p:nvPr/>
        </p:nvSpPr>
        <p:spPr>
          <a:xfrm>
            <a:off x="5349240" y="4105656"/>
            <a:ext cx="3246120" cy="292608"/>
          </a:xfrm>
          <a:prstGeom prst="rect">
            <a:avLst/>
          </a:prstGeom>
          <a:noFill/>
          <a:ln/>
        </p:spPr>
        <p:txBody>
          <a:bodyPr wrap="square" lIns="0" tIns="0" rIns="0" bIns="0" rtlCol="0" anchor="ctr"/>
          <a:lstStyle/>
          <a:p>
            <a:pPr marL="0" indent="0">
              <a:buNone/>
            </a:pPr>
            <a:r>
              <a:rPr lang="en-US" sz="1000" dirty="0">
                <a:solidFill>
                  <a:srgbClr val="C8D1DD"/>
                </a:solidFill>
                <a:latin typeface="Calibri" pitchFamily="34" charset="0"/>
                <a:ea typeface="Calibri" pitchFamily="34" charset="-122"/>
                <a:cs typeface="Calibri" pitchFamily="34" charset="-120"/>
              </a:rPr>
              <a:t>GTM — premium endurance &amp; strength sports, federation partnerships</a:t>
            </a:r>
            <a:endParaRPr lang="en-US" sz="1000" dirty="0"/>
          </a:p>
        </p:txBody>
      </p:sp>
      <p:sp>
        <p:nvSpPr>
          <p:cNvPr id="25" name="Shape 23"/>
          <p:cNvSpPr/>
          <p:nvPr/>
        </p:nvSpPr>
        <p:spPr>
          <a:xfrm>
            <a:off x="411480" y="4572000"/>
            <a:ext cx="8321040" cy="0"/>
          </a:xfrm>
          <a:prstGeom prst="line">
            <a:avLst/>
          </a:prstGeom>
          <a:noFill/>
          <a:ln w="9525">
            <a:solidFill>
              <a:srgbClr val="2A3441"/>
            </a:solidFill>
            <a:prstDash val="solid"/>
          </a:ln>
        </p:spPr>
        <p:txBody>
          <a:bodyPr/>
          <a:lstStyle/>
          <a:p>
            <a:endParaRPr lang="en-US"/>
          </a:p>
        </p:txBody>
      </p:sp>
      <p:sp>
        <p:nvSpPr>
          <p:cNvPr id="26" name="Text 24"/>
          <p:cNvSpPr/>
          <p:nvPr/>
        </p:nvSpPr>
        <p:spPr>
          <a:xfrm>
            <a:off x="411480" y="4663440"/>
            <a:ext cx="8321040" cy="274320"/>
          </a:xfrm>
          <a:prstGeom prst="rect">
            <a:avLst/>
          </a:prstGeom>
          <a:noFill/>
          <a:ln/>
        </p:spPr>
        <p:txBody>
          <a:bodyPr wrap="square" lIns="0" tIns="0" rIns="0" bIns="0" rtlCol="0" anchor="ctr"/>
          <a:lstStyle/>
          <a:p>
            <a:pPr marL="0" indent="0">
              <a:buNone/>
            </a:pPr>
            <a:r>
              <a:rPr lang="en-US" sz="1100" b="1" dirty="0">
                <a:solidFill>
                  <a:srgbClr val="F4F7FB"/>
                </a:solidFill>
                <a:latin typeface="Helvetica Neue" pitchFamily="34" charset="0"/>
                <a:ea typeface="Helvetica Neue" pitchFamily="34" charset="-122"/>
                <a:cs typeface="Helvetica Neue" pitchFamily="34" charset="-120"/>
              </a:rPr>
              <a:t>Eric Zaltas  </a:t>
            </a:r>
            <a:r>
              <a:rPr lang="en-US" sz="1100" dirty="0">
                <a:solidFill>
                  <a:srgbClr val="8B96A6"/>
                </a:solidFill>
                <a:latin typeface="Calibri" pitchFamily="34" charset="0"/>
                <a:ea typeface="Calibri" pitchFamily="34" charset="-122"/>
                <a:cs typeface="Calibri" pitchFamily="34" charset="-120"/>
              </a:rPr>
              <a:t>·  eric@addralabs.com  ·  [phone]</a:t>
            </a:r>
            <a:endParaRPr lang="en-US" sz="1100" dirty="0"/>
          </a:p>
        </p:txBody>
      </p:sp>
      <p:sp>
        <p:nvSpPr>
          <p:cNvPr id="27" name="Text 25"/>
          <p:cNvSpPr/>
          <p:nvPr/>
        </p:nvSpPr>
        <p:spPr>
          <a:xfrm>
            <a:off x="8503920" y="4846320"/>
            <a:ext cx="365760" cy="182880"/>
          </a:xfrm>
          <a:prstGeom prst="rect">
            <a:avLst/>
          </a:prstGeom>
          <a:noFill/>
          <a:ln/>
        </p:spPr>
        <p:txBody>
          <a:bodyPr wrap="square" lIns="0" tIns="0" rIns="0" bIns="0" rtlCol="0" anchor="ctr"/>
          <a:lstStyle/>
          <a:p>
            <a:pPr marL="0" indent="0" algn="r">
              <a:buNone/>
            </a:pPr>
            <a:r>
              <a:rPr lang="en-US" sz="900" dirty="0">
                <a:solidFill>
                  <a:srgbClr val="5C6675"/>
                </a:solidFill>
                <a:latin typeface="Helvetica Neue" pitchFamily="34" charset="0"/>
                <a:ea typeface="Helvetica Neue" pitchFamily="34" charset="-122"/>
                <a:cs typeface="Helvetica Neue"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507</TotalTime>
  <Words>2843</Words>
  <Application>Microsoft Office PowerPoint</Application>
  <PresentationFormat>On-screen Show (16:9)</PresentationFormat>
  <Paragraphs>392</Paragraphs>
  <Slides>26</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Calibri</vt:lpstr>
      <vt:lpstr>Gill Sans</vt:lpstr>
      <vt:lpstr>Helvetica Neue</vt:lpstr>
      <vt:lpstr>Lato Light</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N-of-1 supplement testing for athletes</dc:title>
  <dc:subject>PptxGenJS Presentation</dc:subject>
  <dc:creator>PROVEN</dc:creator>
  <cp:lastModifiedBy>Louise Burke</cp:lastModifiedBy>
  <cp:revision>3</cp:revision>
  <dcterms:created xsi:type="dcterms:W3CDTF">2026-05-09T22:48:16Z</dcterms:created>
  <dcterms:modified xsi:type="dcterms:W3CDTF">2026-06-02T18:24:21Z</dcterms:modified>
</cp:coreProperties>
</file>